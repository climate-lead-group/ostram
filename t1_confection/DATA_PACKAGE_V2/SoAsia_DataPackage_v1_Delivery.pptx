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36"/>
  </p:notesMasterIdLst>
  <p:sldIdLst>
    <p:sldId id="256" r:id="rId5"/>
    <p:sldId id="285"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7" r:id="rId33"/>
    <p:sldId id="283" r:id="rId34"/>
    <p:sldId id="286" r:id="rId35"/>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59E0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54D49CF-6460-4B8E-A24F-2F2C8A288F8F}" v="2" dt="2026-03-12T23:08:40.99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9" d="100"/>
          <a:sy n="109" d="100"/>
        </p:scale>
        <p:origin x="706"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theme" Target="theme/theme1.xml"/><Relationship Id="rId21" Type="http://schemas.openxmlformats.org/officeDocument/2006/relationships/slide" Target="slides/slide17.xml"/><Relationship Id="rId34" Type="http://schemas.openxmlformats.org/officeDocument/2006/relationships/slide" Target="slides/slide30.xml"/><Relationship Id="rId42" Type="http://schemas.microsoft.com/office/2015/10/relationships/revisionInfo" Target="revisionInfo.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uis Victor Gallardo" userId="51a9e2ec-0cd0-45a8-b5ac-58da3fdfa065" providerId="ADAL" clId="{8C1325AB-30BF-411E-B30C-D593D6649458}"/>
    <pc:docChg chg="addSld modSld">
      <pc:chgData name="Luis Victor Gallardo" userId="51a9e2ec-0cd0-45a8-b5ac-58da3fdfa065" providerId="ADAL" clId="{8C1325AB-30BF-411E-B30C-D593D6649458}" dt="2026-03-12T23:08:40.990" v="15"/>
      <pc:docMkLst>
        <pc:docMk/>
      </pc:docMkLst>
      <pc:sldChg chg="modSp mod">
        <pc:chgData name="Luis Victor Gallardo" userId="51a9e2ec-0cd0-45a8-b5ac-58da3fdfa065" providerId="ADAL" clId="{8C1325AB-30BF-411E-B30C-D593D6649458}" dt="2026-03-12T22:50:22.773" v="14" actId="20577"/>
        <pc:sldMkLst>
          <pc:docMk/>
          <pc:sldMk cId="0" sldId="257"/>
        </pc:sldMkLst>
        <pc:spChg chg="mod">
          <ac:chgData name="Luis Victor Gallardo" userId="51a9e2ec-0cd0-45a8-b5ac-58da3fdfa065" providerId="ADAL" clId="{8C1325AB-30BF-411E-B30C-D593D6649458}" dt="2026-03-12T22:50:22.773" v="14" actId="20577"/>
          <ac:spMkLst>
            <pc:docMk/>
            <pc:sldMk cId="0" sldId="257"/>
            <ac:spMk id="7" creationId="{00000000-0000-0000-0000-000000000000}"/>
          </ac:spMkLst>
        </pc:spChg>
        <pc:spChg chg="mod">
          <ac:chgData name="Luis Victor Gallardo" userId="51a9e2ec-0cd0-45a8-b5ac-58da3fdfa065" providerId="ADAL" clId="{8C1325AB-30BF-411E-B30C-D593D6649458}" dt="2026-03-12T22:50:16.414" v="3" actId="20577"/>
          <ac:spMkLst>
            <pc:docMk/>
            <pc:sldMk cId="0" sldId="257"/>
            <ac:spMk id="15" creationId="{00000000-0000-0000-0000-000000000000}"/>
          </ac:spMkLst>
        </pc:spChg>
      </pc:sldChg>
      <pc:sldChg chg="add setBg">
        <pc:chgData name="Luis Victor Gallardo" userId="51a9e2ec-0cd0-45a8-b5ac-58da3fdfa065" providerId="ADAL" clId="{8C1325AB-30BF-411E-B30C-D593D6649458}" dt="2026-03-12T23:08:40.990" v="15"/>
        <pc:sldMkLst>
          <pc:docMk/>
          <pc:sldMk cId="0" sldId="287"/>
        </pc:sldMkLst>
      </pc:sldChg>
    </pc:docChg>
  </pc:docChgLst>
  <pc:docChgLst>
    <pc:chgData name="Natalia Victor-Gallardo" userId="ff6234d4-ecbc-41e6-8ead-1755f3f1b100" providerId="ADAL" clId="{807BA2B5-552B-4F7A-96BC-B5F3A66E7E95}"/>
    <pc:docChg chg="custSel modSld">
      <pc:chgData name="Natalia Victor-Gallardo" userId="ff6234d4-ecbc-41e6-8ead-1755f3f1b100" providerId="ADAL" clId="{807BA2B5-552B-4F7A-96BC-B5F3A66E7E95}" dt="2026-03-12T23:48:55.693" v="6" actId="20577"/>
      <pc:docMkLst>
        <pc:docMk/>
      </pc:docMkLst>
      <pc:sldChg chg="modSp mod">
        <pc:chgData name="Natalia Victor-Gallardo" userId="ff6234d4-ecbc-41e6-8ead-1755f3f1b100" providerId="ADAL" clId="{807BA2B5-552B-4F7A-96BC-B5F3A66E7E95}" dt="2026-03-12T23:48:55.693" v="6" actId="20577"/>
        <pc:sldMkLst>
          <pc:docMk/>
          <pc:sldMk cId="0" sldId="259"/>
        </pc:sldMkLst>
        <pc:spChg chg="mod">
          <ac:chgData name="Natalia Victor-Gallardo" userId="ff6234d4-ecbc-41e6-8ead-1755f3f1b100" providerId="ADAL" clId="{807BA2B5-552B-4F7A-96BC-B5F3A66E7E95}" dt="2026-03-12T23:48:55.693" v="6" actId="20577"/>
          <ac:spMkLst>
            <pc:docMk/>
            <pc:sldMk cId="0" sldId="259"/>
            <ac:spMk id="10" creationId="{00000000-0000-0000-0000-000000000000}"/>
          </ac:spMkLst>
        </pc:spChg>
        <pc:graphicFrameChg chg="modGraphic">
          <ac:chgData name="Natalia Victor-Gallardo" userId="ff6234d4-ecbc-41e6-8ead-1755f3f1b100" providerId="ADAL" clId="{807BA2B5-552B-4F7A-96BC-B5F3A66E7E95}" dt="2026-03-12T23:42:29.294" v="2" actId="207"/>
          <ac:graphicFrameMkLst>
            <pc:docMk/>
            <pc:sldMk cId="0" sldId="259"/>
            <ac:graphicFrameMk id="9" creationId="{00000000-0000-0000-0000-000000000000}"/>
          </ac:graphicFrameMkLst>
        </pc:graphicFrame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166134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9D0040-592A-378C-3392-CE58A1A7411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666E046-2F50-8D2B-991C-424D76EDBED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F2B036D-410C-29FE-AA38-586B0BD1281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F470EDF-1D60-F57A-D9B6-7C1D603C148B}"/>
              </a:ext>
            </a:extLst>
          </p:cNvPr>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397357556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17.png"/></Relationships>
</file>

<file path=ppt/slides/_rels/slide2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19.png"/></Relationships>
</file>

<file path=ppt/slides/_rels/slide2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image" Target="../media/image21.png"/></Relationships>
</file>

<file path=ppt/slides/_rels/slide2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image" Target="../media/image23.png"/></Relationships>
</file>

<file path=ppt/slides/_rels/slide2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3.xml"/><Relationship Id="rId1" Type="http://schemas.openxmlformats.org/officeDocument/2006/relationships/slideLayout" Target="../slideLayouts/slideLayout1.xml"/><Relationship Id="rId4" Type="http://schemas.openxmlformats.org/officeDocument/2006/relationships/image" Target="../media/image25.png"/></Relationships>
</file>

<file path=ppt/slides/_rels/slide2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7.xml"/><Relationship Id="rId1" Type="http://schemas.openxmlformats.org/officeDocument/2006/relationships/slideLayout" Target="../slideLayouts/slideLayout1.xml"/><Relationship Id="rId4" Type="http://schemas.openxmlformats.org/officeDocument/2006/relationships/hyperlink" Target="https://ostram.readthedocs.io/en/latest/index.html" TargetMode="Externa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414D"/>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23978E"/>
          </a:solidFill>
          <a:ln/>
        </p:spPr>
        <p:txBody>
          <a:bodyPr/>
          <a:lstStyle/>
          <a:p>
            <a:endParaRPr lang="LID4096"/>
          </a:p>
        </p:txBody>
      </p:sp>
      <p:sp>
        <p:nvSpPr>
          <p:cNvPr id="3" name="Shape 1"/>
          <p:cNvSpPr/>
          <p:nvPr/>
        </p:nvSpPr>
        <p:spPr>
          <a:xfrm>
            <a:off x="640080" y="914400"/>
            <a:ext cx="2286000" cy="36576"/>
          </a:xfrm>
          <a:prstGeom prst="rect">
            <a:avLst/>
          </a:prstGeom>
          <a:solidFill>
            <a:srgbClr val="23978E"/>
          </a:solidFill>
          <a:ln/>
        </p:spPr>
        <p:txBody>
          <a:bodyPr/>
          <a:lstStyle/>
          <a:p>
            <a:endParaRPr lang="LID4096"/>
          </a:p>
        </p:txBody>
      </p:sp>
      <p:sp>
        <p:nvSpPr>
          <p:cNvPr id="4" name="Text 2"/>
          <p:cNvSpPr/>
          <p:nvPr/>
        </p:nvSpPr>
        <p:spPr>
          <a:xfrm>
            <a:off x="640079" y="1051560"/>
            <a:ext cx="8130077" cy="640080"/>
          </a:xfrm>
          <a:prstGeom prst="rect">
            <a:avLst/>
          </a:prstGeom>
          <a:noFill/>
          <a:ln/>
        </p:spPr>
        <p:txBody>
          <a:bodyPr wrap="square" lIns="0" tIns="0" rIns="0" bIns="0" rtlCol="0" anchor="ctr"/>
          <a:lstStyle/>
          <a:p>
            <a:r>
              <a:rPr lang="en-US" sz="3600" b="1" dirty="0" err="1">
                <a:solidFill>
                  <a:srgbClr val="FFFFFF"/>
                </a:solidFill>
                <a:latin typeface="Georgia" pitchFamily="34" charset="0"/>
                <a:ea typeface="Georgia" pitchFamily="34" charset="-122"/>
                <a:cs typeface="Georgia" pitchFamily="34" charset="-120"/>
              </a:rPr>
              <a:t>OSeMOSYS</a:t>
            </a:r>
            <a:r>
              <a:rPr lang="en-US" sz="3600" b="1" dirty="0">
                <a:solidFill>
                  <a:srgbClr val="FFFFFF"/>
                </a:solidFill>
                <a:latin typeface="Georgia" pitchFamily="34" charset="0"/>
                <a:ea typeface="Georgia" pitchFamily="34" charset="-122"/>
                <a:cs typeface="Georgia" pitchFamily="34" charset="-120"/>
              </a:rPr>
              <a:t> for Transmission</a:t>
            </a:r>
            <a:endParaRPr lang="en-US" sz="3600" dirty="0"/>
          </a:p>
        </p:txBody>
      </p:sp>
      <p:sp>
        <p:nvSpPr>
          <p:cNvPr id="5" name="Text 3"/>
          <p:cNvSpPr/>
          <p:nvPr/>
        </p:nvSpPr>
        <p:spPr>
          <a:xfrm>
            <a:off x="640080" y="1691640"/>
            <a:ext cx="7315200" cy="502920"/>
          </a:xfrm>
          <a:prstGeom prst="rect">
            <a:avLst/>
          </a:prstGeom>
          <a:noFill/>
          <a:ln/>
        </p:spPr>
        <p:txBody>
          <a:bodyPr wrap="square" lIns="0" tIns="0" rIns="0" bIns="0" rtlCol="0" anchor="ctr"/>
          <a:lstStyle/>
          <a:p>
            <a:pPr marL="0" indent="0">
              <a:buNone/>
            </a:pPr>
            <a:r>
              <a:rPr lang="en-US" sz="2800" dirty="0">
                <a:solidFill>
                  <a:srgbClr val="23978E"/>
                </a:solidFill>
                <a:latin typeface="Georgia" pitchFamily="34" charset="0"/>
                <a:ea typeface="Georgia" pitchFamily="34" charset="-122"/>
                <a:cs typeface="Georgia" pitchFamily="34" charset="-120"/>
              </a:rPr>
              <a:t>OSTRAM - Data Package v1.0</a:t>
            </a:r>
            <a:endParaRPr lang="en-US" sz="2800" dirty="0"/>
          </a:p>
        </p:txBody>
      </p:sp>
      <p:sp>
        <p:nvSpPr>
          <p:cNvPr id="6" name="Text 4"/>
          <p:cNvSpPr/>
          <p:nvPr/>
        </p:nvSpPr>
        <p:spPr>
          <a:xfrm>
            <a:off x="640080" y="2331720"/>
            <a:ext cx="7315200" cy="731520"/>
          </a:xfrm>
          <a:prstGeom prst="rect">
            <a:avLst/>
          </a:prstGeom>
          <a:noFill/>
          <a:ln/>
        </p:spPr>
        <p:txBody>
          <a:bodyPr wrap="square" lIns="0" tIns="0" rIns="0" bIns="0" rtlCol="0" anchor="ctr"/>
          <a:lstStyle/>
          <a:p>
            <a:pPr marL="0" indent="0">
              <a:buNone/>
            </a:pPr>
            <a:r>
              <a:rPr lang="en-US" sz="1600" dirty="0">
                <a:solidFill>
                  <a:schemeClr val="bg1"/>
                </a:solidFill>
                <a:latin typeface="Calibri" pitchFamily="34" charset="0"/>
                <a:ea typeface="Calibri" pitchFamily="34" charset="-122"/>
                <a:cs typeface="Calibri" pitchFamily="34" charset="-120"/>
              </a:rPr>
              <a:t>South Asia Power System Connectivity Model</a:t>
            </a:r>
            <a:br>
              <a:rPr lang="en-US" sz="1600" dirty="0">
                <a:solidFill>
                  <a:schemeClr val="bg1"/>
                </a:solidFill>
                <a:latin typeface="Calibri" pitchFamily="34" charset="0"/>
                <a:ea typeface="Calibri" pitchFamily="34" charset="-122"/>
                <a:cs typeface="Calibri" pitchFamily="34" charset="-120"/>
              </a:rPr>
            </a:br>
            <a:br>
              <a:rPr lang="en-US" sz="1600" dirty="0">
                <a:solidFill>
                  <a:schemeClr val="bg1"/>
                </a:solidFill>
                <a:latin typeface="Calibri" pitchFamily="34" charset="0"/>
                <a:ea typeface="Calibri" pitchFamily="34" charset="-122"/>
                <a:cs typeface="Calibri" pitchFamily="34" charset="-120"/>
              </a:rPr>
            </a:br>
            <a:r>
              <a:rPr lang="en-US" sz="1600" dirty="0">
                <a:solidFill>
                  <a:schemeClr val="bg1"/>
                </a:solidFill>
                <a:latin typeface="Calibri" pitchFamily="34" charset="0"/>
                <a:ea typeface="Calibri" pitchFamily="34" charset="-122"/>
                <a:cs typeface="Calibri" pitchFamily="34" charset="-120"/>
              </a:rPr>
              <a:t>Progress update #3</a:t>
            </a:r>
            <a:endParaRPr lang="en-US" sz="1600" dirty="0">
              <a:solidFill>
                <a:schemeClr val="bg1"/>
              </a:solidFill>
            </a:endParaRPr>
          </a:p>
        </p:txBody>
      </p:sp>
      <p:sp>
        <p:nvSpPr>
          <p:cNvPr id="7" name="Shape 5"/>
          <p:cNvSpPr/>
          <p:nvPr/>
        </p:nvSpPr>
        <p:spPr>
          <a:xfrm>
            <a:off x="640080" y="3063240"/>
            <a:ext cx="1783080" cy="822960"/>
          </a:xfrm>
          <a:prstGeom prst="rect">
            <a:avLst/>
          </a:prstGeom>
          <a:solidFill>
            <a:srgbClr val="00414D"/>
          </a:solidFill>
          <a:ln/>
        </p:spPr>
        <p:txBody>
          <a:bodyPr/>
          <a:lstStyle/>
          <a:p>
            <a:endParaRPr lang="LID4096"/>
          </a:p>
        </p:txBody>
      </p:sp>
      <p:sp>
        <p:nvSpPr>
          <p:cNvPr id="8" name="Text 6"/>
          <p:cNvSpPr/>
          <p:nvPr/>
        </p:nvSpPr>
        <p:spPr>
          <a:xfrm>
            <a:off x="640080" y="3063240"/>
            <a:ext cx="1783080" cy="502920"/>
          </a:xfrm>
          <a:prstGeom prst="rect">
            <a:avLst/>
          </a:prstGeom>
          <a:noFill/>
          <a:ln/>
        </p:spPr>
        <p:txBody>
          <a:bodyPr wrap="square" lIns="0" tIns="0" rIns="0" bIns="0" rtlCol="0" anchor="b"/>
          <a:lstStyle/>
          <a:p>
            <a:pPr marL="0" indent="0" algn="ctr">
              <a:buNone/>
            </a:pPr>
            <a:r>
              <a:rPr lang="en-US" sz="2200" b="1" dirty="0">
                <a:solidFill>
                  <a:srgbClr val="23978E"/>
                </a:solidFill>
                <a:latin typeface="Georgia" pitchFamily="34" charset="0"/>
                <a:ea typeface="Georgia" pitchFamily="34" charset="-122"/>
                <a:cs typeface="Georgia" pitchFamily="34" charset="-120"/>
              </a:rPr>
              <a:t>6</a:t>
            </a:r>
            <a:endParaRPr lang="en-US" sz="2200" dirty="0"/>
          </a:p>
        </p:txBody>
      </p:sp>
      <p:sp>
        <p:nvSpPr>
          <p:cNvPr id="9" name="Text 7"/>
          <p:cNvSpPr/>
          <p:nvPr/>
        </p:nvSpPr>
        <p:spPr>
          <a:xfrm>
            <a:off x="640080" y="3547872"/>
            <a:ext cx="1783080" cy="320040"/>
          </a:xfrm>
          <a:prstGeom prst="rect">
            <a:avLst/>
          </a:prstGeom>
          <a:noFill/>
          <a:ln/>
        </p:spPr>
        <p:txBody>
          <a:bodyPr wrap="square" lIns="0" tIns="0" rIns="0" bIns="0" rtlCol="0" anchor="t"/>
          <a:lstStyle/>
          <a:p>
            <a:pPr marL="0" indent="0" algn="ctr">
              <a:buNone/>
            </a:pPr>
            <a:r>
              <a:rPr lang="en-US" sz="1000" dirty="0">
                <a:solidFill>
                  <a:srgbClr val="64748B"/>
                </a:solidFill>
                <a:latin typeface="Calibri" pitchFamily="34" charset="0"/>
                <a:ea typeface="Calibri" pitchFamily="34" charset="-122"/>
                <a:cs typeface="Calibri" pitchFamily="34" charset="-120"/>
              </a:rPr>
              <a:t>Countries</a:t>
            </a:r>
            <a:endParaRPr lang="en-US" sz="1000" dirty="0"/>
          </a:p>
        </p:txBody>
      </p:sp>
      <p:sp>
        <p:nvSpPr>
          <p:cNvPr id="10" name="Shape 8"/>
          <p:cNvSpPr/>
          <p:nvPr/>
        </p:nvSpPr>
        <p:spPr>
          <a:xfrm>
            <a:off x="2606040" y="3063240"/>
            <a:ext cx="1783080" cy="822960"/>
          </a:xfrm>
          <a:prstGeom prst="rect">
            <a:avLst/>
          </a:prstGeom>
          <a:solidFill>
            <a:srgbClr val="00414D"/>
          </a:solidFill>
          <a:ln/>
        </p:spPr>
        <p:txBody>
          <a:bodyPr/>
          <a:lstStyle/>
          <a:p>
            <a:endParaRPr lang="LID4096"/>
          </a:p>
        </p:txBody>
      </p:sp>
      <p:sp>
        <p:nvSpPr>
          <p:cNvPr id="11" name="Text 9"/>
          <p:cNvSpPr/>
          <p:nvPr/>
        </p:nvSpPr>
        <p:spPr>
          <a:xfrm>
            <a:off x="2606040" y="3063240"/>
            <a:ext cx="1783080" cy="502920"/>
          </a:xfrm>
          <a:prstGeom prst="rect">
            <a:avLst/>
          </a:prstGeom>
          <a:noFill/>
          <a:ln/>
        </p:spPr>
        <p:txBody>
          <a:bodyPr wrap="square" lIns="0" tIns="0" rIns="0" bIns="0" rtlCol="0" anchor="b"/>
          <a:lstStyle/>
          <a:p>
            <a:pPr marL="0" indent="0" algn="ctr">
              <a:buNone/>
            </a:pPr>
            <a:r>
              <a:rPr lang="en-US" sz="2200" b="1" dirty="0">
                <a:solidFill>
                  <a:srgbClr val="23978E"/>
                </a:solidFill>
                <a:latin typeface="Georgia" pitchFamily="34" charset="0"/>
                <a:ea typeface="Georgia" pitchFamily="34" charset="-122"/>
                <a:cs typeface="Georgia" pitchFamily="34" charset="-120"/>
              </a:rPr>
              <a:t>10</a:t>
            </a:r>
            <a:endParaRPr lang="en-US" sz="2200" dirty="0"/>
          </a:p>
        </p:txBody>
      </p:sp>
      <p:sp>
        <p:nvSpPr>
          <p:cNvPr id="12" name="Text 10"/>
          <p:cNvSpPr/>
          <p:nvPr/>
        </p:nvSpPr>
        <p:spPr>
          <a:xfrm>
            <a:off x="2606040" y="3547872"/>
            <a:ext cx="1783080" cy="320040"/>
          </a:xfrm>
          <a:prstGeom prst="rect">
            <a:avLst/>
          </a:prstGeom>
          <a:noFill/>
          <a:ln/>
        </p:spPr>
        <p:txBody>
          <a:bodyPr wrap="square" lIns="0" tIns="0" rIns="0" bIns="0" rtlCol="0" anchor="t"/>
          <a:lstStyle/>
          <a:p>
            <a:pPr marL="0" indent="0" algn="ctr">
              <a:buNone/>
            </a:pPr>
            <a:r>
              <a:rPr lang="en-US" sz="1000" dirty="0">
                <a:solidFill>
                  <a:srgbClr val="64748B"/>
                </a:solidFill>
                <a:latin typeface="Calibri" pitchFamily="34" charset="0"/>
                <a:ea typeface="Calibri" pitchFamily="34" charset="-122"/>
                <a:cs typeface="Calibri" pitchFamily="34" charset="-120"/>
              </a:rPr>
              <a:t>Model Nodes</a:t>
            </a:r>
            <a:endParaRPr lang="en-US" sz="1000" dirty="0"/>
          </a:p>
        </p:txBody>
      </p:sp>
      <p:sp>
        <p:nvSpPr>
          <p:cNvPr id="13" name="Shape 11"/>
          <p:cNvSpPr/>
          <p:nvPr/>
        </p:nvSpPr>
        <p:spPr>
          <a:xfrm>
            <a:off x="4572000" y="3063240"/>
            <a:ext cx="1783080" cy="822960"/>
          </a:xfrm>
          <a:prstGeom prst="rect">
            <a:avLst/>
          </a:prstGeom>
          <a:solidFill>
            <a:srgbClr val="00414D"/>
          </a:solidFill>
          <a:ln/>
        </p:spPr>
        <p:txBody>
          <a:bodyPr/>
          <a:lstStyle/>
          <a:p>
            <a:endParaRPr lang="LID4096"/>
          </a:p>
        </p:txBody>
      </p:sp>
      <p:sp>
        <p:nvSpPr>
          <p:cNvPr id="14" name="Text 12"/>
          <p:cNvSpPr/>
          <p:nvPr/>
        </p:nvSpPr>
        <p:spPr>
          <a:xfrm>
            <a:off x="4572000" y="3063240"/>
            <a:ext cx="1783080" cy="502920"/>
          </a:xfrm>
          <a:prstGeom prst="rect">
            <a:avLst/>
          </a:prstGeom>
          <a:noFill/>
          <a:ln/>
        </p:spPr>
        <p:txBody>
          <a:bodyPr wrap="square" lIns="0" tIns="0" rIns="0" bIns="0" rtlCol="0" anchor="b"/>
          <a:lstStyle/>
          <a:p>
            <a:pPr marL="0" indent="0" algn="ctr">
              <a:buNone/>
            </a:pPr>
            <a:r>
              <a:rPr lang="en-US" sz="2200" b="1" dirty="0">
                <a:solidFill>
                  <a:srgbClr val="23978E"/>
                </a:solidFill>
                <a:latin typeface="Georgia" pitchFamily="34" charset="0"/>
                <a:ea typeface="Georgia" pitchFamily="34" charset="-122"/>
                <a:cs typeface="Georgia" pitchFamily="34" charset="-120"/>
              </a:rPr>
              <a:t>8,600+</a:t>
            </a:r>
            <a:endParaRPr lang="en-US" sz="2200" dirty="0"/>
          </a:p>
        </p:txBody>
      </p:sp>
      <p:sp>
        <p:nvSpPr>
          <p:cNvPr id="15" name="Text 13"/>
          <p:cNvSpPr/>
          <p:nvPr/>
        </p:nvSpPr>
        <p:spPr>
          <a:xfrm>
            <a:off x="4572000" y="3547872"/>
            <a:ext cx="1783080" cy="320040"/>
          </a:xfrm>
          <a:prstGeom prst="rect">
            <a:avLst/>
          </a:prstGeom>
          <a:noFill/>
          <a:ln/>
        </p:spPr>
        <p:txBody>
          <a:bodyPr wrap="square" lIns="0" tIns="0" rIns="0" bIns="0" rtlCol="0" anchor="t"/>
          <a:lstStyle/>
          <a:p>
            <a:pPr marL="0" indent="0" algn="ctr">
              <a:buNone/>
            </a:pPr>
            <a:r>
              <a:rPr lang="en-US" sz="1000" dirty="0">
                <a:solidFill>
                  <a:srgbClr val="64748B"/>
                </a:solidFill>
                <a:latin typeface="Calibri" pitchFamily="34" charset="0"/>
                <a:ea typeface="Calibri" pitchFamily="34" charset="-122"/>
                <a:cs typeface="Calibri" pitchFamily="34" charset="-120"/>
              </a:rPr>
              <a:t>Data Records</a:t>
            </a:r>
            <a:endParaRPr lang="en-US" sz="1000" dirty="0"/>
          </a:p>
        </p:txBody>
      </p:sp>
      <p:sp>
        <p:nvSpPr>
          <p:cNvPr id="16" name="Shape 14"/>
          <p:cNvSpPr/>
          <p:nvPr/>
        </p:nvSpPr>
        <p:spPr>
          <a:xfrm>
            <a:off x="6537960" y="3063240"/>
            <a:ext cx="1783080" cy="822960"/>
          </a:xfrm>
          <a:prstGeom prst="rect">
            <a:avLst/>
          </a:prstGeom>
          <a:solidFill>
            <a:srgbClr val="00414D"/>
          </a:solidFill>
          <a:ln/>
        </p:spPr>
        <p:txBody>
          <a:bodyPr/>
          <a:lstStyle/>
          <a:p>
            <a:endParaRPr lang="LID4096"/>
          </a:p>
        </p:txBody>
      </p:sp>
      <p:sp>
        <p:nvSpPr>
          <p:cNvPr id="17" name="Text 15"/>
          <p:cNvSpPr/>
          <p:nvPr/>
        </p:nvSpPr>
        <p:spPr>
          <a:xfrm>
            <a:off x="6537960" y="3063240"/>
            <a:ext cx="1783080" cy="502920"/>
          </a:xfrm>
          <a:prstGeom prst="rect">
            <a:avLst/>
          </a:prstGeom>
          <a:noFill/>
          <a:ln/>
        </p:spPr>
        <p:txBody>
          <a:bodyPr wrap="square" lIns="0" tIns="0" rIns="0" bIns="0" rtlCol="0" anchor="b"/>
          <a:lstStyle/>
          <a:p>
            <a:pPr marL="0" indent="0" algn="ctr">
              <a:buNone/>
            </a:pPr>
            <a:r>
              <a:rPr lang="en-US" sz="2200" b="1" dirty="0">
                <a:solidFill>
                  <a:srgbClr val="23978E"/>
                </a:solidFill>
                <a:latin typeface="Georgia" pitchFamily="34" charset="0"/>
                <a:ea typeface="Georgia" pitchFamily="34" charset="-122"/>
                <a:cs typeface="Georgia" pitchFamily="34" charset="-120"/>
              </a:rPr>
              <a:t>40+</a:t>
            </a:r>
            <a:endParaRPr lang="en-US" sz="2200" dirty="0"/>
          </a:p>
        </p:txBody>
      </p:sp>
      <p:sp>
        <p:nvSpPr>
          <p:cNvPr id="18" name="Text 16"/>
          <p:cNvSpPr/>
          <p:nvPr/>
        </p:nvSpPr>
        <p:spPr>
          <a:xfrm>
            <a:off x="6537960" y="3547872"/>
            <a:ext cx="1783080" cy="320040"/>
          </a:xfrm>
          <a:prstGeom prst="rect">
            <a:avLst/>
          </a:prstGeom>
          <a:noFill/>
          <a:ln/>
        </p:spPr>
        <p:txBody>
          <a:bodyPr wrap="square" lIns="0" tIns="0" rIns="0" bIns="0" rtlCol="0" anchor="t"/>
          <a:lstStyle/>
          <a:p>
            <a:pPr marL="0" indent="0" algn="ctr">
              <a:buNone/>
            </a:pPr>
            <a:r>
              <a:rPr lang="en-US" sz="1000" dirty="0">
                <a:solidFill>
                  <a:srgbClr val="64748B"/>
                </a:solidFill>
                <a:latin typeface="Calibri" pitchFamily="34" charset="0"/>
                <a:ea typeface="Calibri" pitchFamily="34" charset="-122"/>
                <a:cs typeface="Calibri" pitchFamily="34" charset="-120"/>
              </a:rPr>
              <a:t>Verified Sources</a:t>
            </a:r>
            <a:endParaRPr lang="en-US" sz="1000" dirty="0"/>
          </a:p>
        </p:txBody>
      </p:sp>
      <p:sp>
        <p:nvSpPr>
          <p:cNvPr id="19" name="Text 17"/>
          <p:cNvSpPr/>
          <p:nvPr/>
        </p:nvSpPr>
        <p:spPr>
          <a:xfrm>
            <a:off x="640080" y="4251960"/>
            <a:ext cx="5486400" cy="320040"/>
          </a:xfrm>
          <a:prstGeom prst="rect">
            <a:avLst/>
          </a:prstGeom>
          <a:noFill/>
          <a:ln/>
        </p:spPr>
        <p:txBody>
          <a:bodyPr wrap="square" lIns="0" tIns="0" rIns="0" bIns="0" rtlCol="0" anchor="ctr"/>
          <a:lstStyle/>
          <a:p>
            <a:pPr marL="0" indent="0">
              <a:buNone/>
            </a:pPr>
            <a:r>
              <a:rPr lang="en-US" sz="1200" dirty="0">
                <a:solidFill>
                  <a:schemeClr val="bg1"/>
                </a:solidFill>
                <a:latin typeface="Calibri" pitchFamily="34" charset="0"/>
                <a:ea typeface="Calibri" pitchFamily="34" charset="-122"/>
                <a:cs typeface="Calibri" pitchFamily="34" charset="-120"/>
              </a:rPr>
              <a:t>UN ESCAP Energy Division</a:t>
            </a:r>
            <a:endParaRPr lang="en-US" sz="1200" dirty="0">
              <a:solidFill>
                <a:schemeClr val="bg1"/>
              </a:solidFill>
            </a:endParaRPr>
          </a:p>
        </p:txBody>
      </p:sp>
      <p:sp>
        <p:nvSpPr>
          <p:cNvPr id="20" name="Text 18"/>
          <p:cNvSpPr/>
          <p:nvPr/>
        </p:nvSpPr>
        <p:spPr>
          <a:xfrm>
            <a:off x="640080" y="4526280"/>
            <a:ext cx="2743200" cy="274320"/>
          </a:xfrm>
          <a:prstGeom prst="rect">
            <a:avLst/>
          </a:prstGeom>
          <a:noFill/>
          <a:ln/>
        </p:spPr>
        <p:txBody>
          <a:bodyPr wrap="square" lIns="0" tIns="0" rIns="0" bIns="0" rtlCol="0" anchor="ctr"/>
          <a:lstStyle/>
          <a:p>
            <a:pPr marL="0" indent="0">
              <a:buNone/>
            </a:pPr>
            <a:r>
              <a:rPr lang="en-US" sz="1100" dirty="0">
                <a:solidFill>
                  <a:schemeClr val="bg1"/>
                </a:solidFill>
                <a:latin typeface="Calibri" pitchFamily="34" charset="0"/>
                <a:ea typeface="Calibri" pitchFamily="34" charset="-122"/>
                <a:cs typeface="Calibri" pitchFamily="34" charset="-120"/>
              </a:rPr>
              <a:t>March 12</a:t>
            </a:r>
            <a:r>
              <a:rPr lang="en-US" sz="1100" baseline="30000" dirty="0">
                <a:solidFill>
                  <a:schemeClr val="bg1"/>
                </a:solidFill>
                <a:latin typeface="Calibri" pitchFamily="34" charset="0"/>
                <a:ea typeface="Calibri" pitchFamily="34" charset="-122"/>
                <a:cs typeface="Calibri" pitchFamily="34" charset="-120"/>
              </a:rPr>
              <a:t>th</a:t>
            </a:r>
            <a:r>
              <a:rPr lang="en-US" sz="1100" dirty="0">
                <a:solidFill>
                  <a:schemeClr val="bg1"/>
                </a:solidFill>
                <a:latin typeface="Calibri" pitchFamily="34" charset="0"/>
                <a:ea typeface="Calibri" pitchFamily="34" charset="-122"/>
                <a:cs typeface="Calibri" pitchFamily="34" charset="-120"/>
              </a:rPr>
              <a:t>, 2026</a:t>
            </a:r>
            <a:endParaRPr lang="en-US" sz="1100" dirty="0">
              <a:solidFill>
                <a:schemeClr val="bg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6">
    <p:bg>
      <p:bgPr>
        <a:solidFill>
          <a:srgbClr val="F0F5F5"/>
        </a:solidFill>
        <a:effectLst/>
      </p:bgPr>
    </p:bg>
    <p:spTree>
      <p:nvGrpSpPr>
        <p:cNvPr id="1" name=""/>
        <p:cNvGrpSpPr/>
        <p:nvPr/>
      </p:nvGrpSpPr>
      <p:grpSpPr>
        <a:xfrm>
          <a:off x="0" y="0"/>
          <a:ext cx="0" cy="0"/>
          <a:chOff x="0" y="0"/>
          <a:chExt cx="0" cy="0"/>
        </a:xfrm>
      </p:grpSpPr>
      <p:sp>
        <p:nvSpPr>
          <p:cNvPr id="2" name="Text 0"/>
          <p:cNvSpPr/>
          <p:nvPr/>
        </p:nvSpPr>
        <p:spPr>
          <a:xfrm>
            <a:off x="457200" y="228600"/>
            <a:ext cx="8229600" cy="411480"/>
          </a:xfrm>
          <a:prstGeom prst="rect">
            <a:avLst/>
          </a:prstGeom>
          <a:noFill/>
          <a:ln/>
        </p:spPr>
        <p:txBody>
          <a:bodyPr wrap="square" lIns="0" tIns="0" rIns="0" bIns="0" rtlCol="0" anchor="ctr"/>
          <a:lstStyle/>
          <a:p>
            <a:pPr marL="0" indent="0">
              <a:buNone/>
            </a:pPr>
            <a:r>
              <a:rPr lang="en-US" sz="2400" b="1" dirty="0">
                <a:solidFill>
                  <a:srgbClr val="00414D"/>
                </a:solidFill>
                <a:latin typeface="Georgia" pitchFamily="34" charset="0"/>
                <a:ea typeface="Georgia" pitchFamily="34" charset="-122"/>
                <a:cs typeface="Georgia" pitchFamily="34" charset="-120"/>
              </a:rPr>
              <a:t>Agenda</a:t>
            </a:r>
            <a:endParaRPr lang="en-US" sz="2400" dirty="0"/>
          </a:p>
        </p:txBody>
      </p:sp>
      <p:sp>
        <p:nvSpPr>
          <p:cNvPr id="3" name="Text 1"/>
          <p:cNvSpPr/>
          <p:nvPr/>
        </p:nvSpPr>
        <p:spPr>
          <a:xfrm>
            <a:off x="457200" y="640080"/>
            <a:ext cx="8229600" cy="201168"/>
          </a:xfrm>
          <a:prstGeom prst="rect">
            <a:avLst/>
          </a:prstGeom>
          <a:noFill/>
          <a:ln/>
        </p:spPr>
        <p:txBody>
          <a:bodyPr wrap="square" lIns="0" tIns="0" rIns="0" bIns="0" rtlCol="0" anchor="ctr"/>
          <a:lstStyle/>
          <a:p>
            <a:pPr marL="0" indent="0">
              <a:buNone/>
            </a:pPr>
            <a:r>
              <a:rPr lang="en-US" sz="1050" i="1" dirty="0">
                <a:solidFill>
                  <a:srgbClr val="23978E"/>
                </a:solidFill>
                <a:latin typeface="Calibri" pitchFamily="34" charset="0"/>
                <a:ea typeface="Calibri" pitchFamily="34" charset="-122"/>
                <a:cs typeface="Calibri" pitchFamily="34" charset="-120"/>
              </a:rPr>
              <a:t>OSeMOSYS for Transmission — South Asia Power System Connectivity Model</a:t>
            </a:r>
            <a:endParaRPr lang="en-US" sz="1050" dirty="0"/>
          </a:p>
        </p:txBody>
      </p:sp>
      <p:sp>
        <p:nvSpPr>
          <p:cNvPr id="4" name="Shape 2"/>
          <p:cNvSpPr/>
          <p:nvPr/>
        </p:nvSpPr>
        <p:spPr>
          <a:xfrm>
            <a:off x="457200" y="960120"/>
            <a:ext cx="365760" cy="365760"/>
          </a:xfrm>
          <a:prstGeom prst="ellipse">
            <a:avLst/>
          </a:prstGeom>
          <a:solidFill>
            <a:srgbClr val="0A595F"/>
          </a:solidFill>
          <a:ln/>
        </p:spPr>
        <p:txBody>
          <a:bodyPr/>
          <a:lstStyle/>
          <a:p>
            <a:endParaRPr lang="LID4096"/>
          </a:p>
        </p:txBody>
      </p:sp>
      <p:sp>
        <p:nvSpPr>
          <p:cNvPr id="5" name="Text 3"/>
          <p:cNvSpPr/>
          <p:nvPr/>
        </p:nvSpPr>
        <p:spPr>
          <a:xfrm>
            <a:off x="457200" y="960120"/>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Georgia" pitchFamily="34" charset="0"/>
                <a:ea typeface="Georgia" pitchFamily="34" charset="-122"/>
                <a:cs typeface="Georgia" pitchFamily="34" charset="-120"/>
              </a:rPr>
              <a:t>1</a:t>
            </a:r>
            <a:endParaRPr lang="en-US" sz="1400" dirty="0"/>
          </a:p>
        </p:txBody>
      </p:sp>
      <p:sp>
        <p:nvSpPr>
          <p:cNvPr id="6" name="Text 4"/>
          <p:cNvSpPr/>
          <p:nvPr/>
        </p:nvSpPr>
        <p:spPr>
          <a:xfrm>
            <a:off x="960120" y="914400"/>
            <a:ext cx="7680960" cy="228600"/>
          </a:xfrm>
          <a:prstGeom prst="rect">
            <a:avLst/>
          </a:prstGeom>
          <a:noFill/>
          <a:ln/>
        </p:spPr>
        <p:txBody>
          <a:bodyPr wrap="square" lIns="0" tIns="0" rIns="0" bIns="0" rtlCol="0" anchor="ctr"/>
          <a:lstStyle/>
          <a:p>
            <a:pPr marL="0" indent="0">
              <a:buNone/>
            </a:pPr>
            <a:r>
              <a:rPr lang="en-US" sz="1100" b="1" dirty="0">
                <a:solidFill>
                  <a:srgbClr val="0A595F"/>
                </a:solidFill>
                <a:latin typeface="Calibri" pitchFamily="34" charset="0"/>
                <a:ea typeface="Calibri" pitchFamily="34" charset="-122"/>
                <a:cs typeface="Calibri" pitchFamily="34" charset="-120"/>
              </a:rPr>
              <a:t>Executive Summary &amp; Data Completeness</a:t>
            </a:r>
            <a:endParaRPr lang="en-US" sz="1100" dirty="0"/>
          </a:p>
        </p:txBody>
      </p:sp>
      <p:sp>
        <p:nvSpPr>
          <p:cNvPr id="7" name="Text 5"/>
          <p:cNvSpPr/>
          <p:nvPr/>
        </p:nvSpPr>
        <p:spPr>
          <a:xfrm>
            <a:off x="960120" y="1161288"/>
            <a:ext cx="7680960" cy="384048"/>
          </a:xfrm>
          <a:prstGeom prst="rect">
            <a:avLst/>
          </a:prstGeom>
          <a:noFill/>
          <a:ln/>
        </p:spPr>
        <p:txBody>
          <a:bodyPr wrap="square" lIns="0" tIns="0" rIns="0" bIns="0" rtlCol="0" anchor="ctr"/>
          <a:lstStyle/>
          <a:p>
            <a:pPr marL="0" indent="0">
              <a:buNone/>
            </a:pPr>
            <a:r>
              <a:rPr lang="en-US" sz="950" dirty="0">
                <a:solidFill>
                  <a:srgbClr val="334155"/>
                </a:solidFill>
                <a:latin typeface="Calibri" pitchFamily="34" charset="0"/>
                <a:ea typeface="Calibri" pitchFamily="34" charset="-122"/>
                <a:cs typeface="Calibri" pitchFamily="34" charset="-120"/>
              </a:rPr>
              <a:t>Delivery scope, key figures, completeness matrix, and outstanding gaps across 6 countries and 10 model nodes</a:t>
            </a:r>
            <a:endParaRPr lang="en-US" sz="950" dirty="0"/>
          </a:p>
        </p:txBody>
      </p:sp>
      <p:sp>
        <p:nvSpPr>
          <p:cNvPr id="8" name="Shape 6"/>
          <p:cNvSpPr/>
          <p:nvPr/>
        </p:nvSpPr>
        <p:spPr>
          <a:xfrm>
            <a:off x="457200" y="1673352"/>
            <a:ext cx="365760" cy="365760"/>
          </a:xfrm>
          <a:prstGeom prst="ellipse">
            <a:avLst/>
          </a:prstGeom>
          <a:solidFill>
            <a:srgbClr val="0A595F"/>
          </a:solidFill>
          <a:ln/>
        </p:spPr>
        <p:txBody>
          <a:bodyPr/>
          <a:lstStyle/>
          <a:p>
            <a:endParaRPr lang="LID4096"/>
          </a:p>
        </p:txBody>
      </p:sp>
      <p:sp>
        <p:nvSpPr>
          <p:cNvPr id="9" name="Text 7"/>
          <p:cNvSpPr/>
          <p:nvPr/>
        </p:nvSpPr>
        <p:spPr>
          <a:xfrm>
            <a:off x="457200" y="1673352"/>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Georgia" pitchFamily="34" charset="0"/>
                <a:ea typeface="Georgia" pitchFamily="34" charset="-122"/>
                <a:cs typeface="Georgia" pitchFamily="34" charset="-120"/>
              </a:rPr>
              <a:t>2</a:t>
            </a:r>
            <a:endParaRPr lang="en-US" sz="1400" dirty="0"/>
          </a:p>
        </p:txBody>
      </p:sp>
      <p:sp>
        <p:nvSpPr>
          <p:cNvPr id="10" name="Text 8"/>
          <p:cNvSpPr/>
          <p:nvPr/>
        </p:nvSpPr>
        <p:spPr>
          <a:xfrm>
            <a:off x="960120" y="1627632"/>
            <a:ext cx="7680960" cy="228600"/>
          </a:xfrm>
          <a:prstGeom prst="rect">
            <a:avLst/>
          </a:prstGeom>
          <a:noFill/>
          <a:ln/>
        </p:spPr>
        <p:txBody>
          <a:bodyPr wrap="square" lIns="0" tIns="0" rIns="0" bIns="0" rtlCol="0" anchor="ctr"/>
          <a:lstStyle/>
          <a:p>
            <a:pPr marL="0" indent="0">
              <a:buNone/>
            </a:pPr>
            <a:r>
              <a:rPr lang="en-US" sz="1100" b="1" dirty="0">
                <a:solidFill>
                  <a:srgbClr val="0A595F"/>
                </a:solidFill>
                <a:latin typeface="Calibri" pitchFamily="34" charset="0"/>
                <a:ea typeface="Calibri" pitchFamily="34" charset="-122"/>
                <a:cs typeface="Calibri" pitchFamily="34" charset="-120"/>
              </a:rPr>
              <a:t>File Architecture &amp; Data Detail</a:t>
            </a:r>
            <a:endParaRPr lang="en-US" sz="1100" dirty="0"/>
          </a:p>
        </p:txBody>
      </p:sp>
      <p:sp>
        <p:nvSpPr>
          <p:cNvPr id="11" name="Text 9"/>
          <p:cNvSpPr/>
          <p:nvPr/>
        </p:nvSpPr>
        <p:spPr>
          <a:xfrm>
            <a:off x="960120" y="1874520"/>
            <a:ext cx="7680960" cy="384048"/>
          </a:xfrm>
          <a:prstGeom prst="rect">
            <a:avLst/>
          </a:prstGeom>
          <a:noFill/>
          <a:ln/>
        </p:spPr>
        <p:txBody>
          <a:bodyPr wrap="square" lIns="0" tIns="0" rIns="0" bIns="0" rtlCol="0" anchor="ctr"/>
          <a:lstStyle/>
          <a:p>
            <a:pPr marL="0" indent="0">
              <a:buNone/>
            </a:pPr>
            <a:r>
              <a:rPr lang="en-US" sz="950" dirty="0">
                <a:solidFill>
                  <a:srgbClr val="334155"/>
                </a:solidFill>
                <a:latin typeface="Calibri" pitchFamily="34" charset="0"/>
                <a:ea typeface="Calibri" pitchFamily="34" charset="-122"/>
                <a:cs typeface="Calibri" pitchFamily="34" charset="-120"/>
              </a:rPr>
              <a:t>OSeMOSYS Template (26 sheets), Consolidated Inventory (13 sheets), VRE profiles, demand and hydro seasonality</a:t>
            </a:r>
            <a:endParaRPr lang="en-US" sz="950" dirty="0"/>
          </a:p>
        </p:txBody>
      </p:sp>
      <p:sp>
        <p:nvSpPr>
          <p:cNvPr id="12" name="Shape 10"/>
          <p:cNvSpPr/>
          <p:nvPr/>
        </p:nvSpPr>
        <p:spPr>
          <a:xfrm>
            <a:off x="457200" y="2386584"/>
            <a:ext cx="365760" cy="365760"/>
          </a:xfrm>
          <a:prstGeom prst="ellipse">
            <a:avLst/>
          </a:prstGeom>
          <a:solidFill>
            <a:srgbClr val="0A595F"/>
          </a:solidFill>
          <a:ln/>
        </p:spPr>
        <p:txBody>
          <a:bodyPr/>
          <a:lstStyle/>
          <a:p>
            <a:endParaRPr lang="LID4096"/>
          </a:p>
        </p:txBody>
      </p:sp>
      <p:sp>
        <p:nvSpPr>
          <p:cNvPr id="13" name="Text 11"/>
          <p:cNvSpPr/>
          <p:nvPr/>
        </p:nvSpPr>
        <p:spPr>
          <a:xfrm>
            <a:off x="457200" y="2386584"/>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Georgia" pitchFamily="34" charset="0"/>
                <a:ea typeface="Georgia" pitchFamily="34" charset="-122"/>
                <a:cs typeface="Georgia" pitchFamily="34" charset="-120"/>
              </a:rPr>
              <a:t>3</a:t>
            </a:r>
            <a:endParaRPr lang="en-US" sz="1400" dirty="0"/>
          </a:p>
        </p:txBody>
      </p:sp>
      <p:sp>
        <p:nvSpPr>
          <p:cNvPr id="14" name="Text 12"/>
          <p:cNvSpPr/>
          <p:nvPr/>
        </p:nvSpPr>
        <p:spPr>
          <a:xfrm>
            <a:off x="960120" y="2340864"/>
            <a:ext cx="7680960" cy="228600"/>
          </a:xfrm>
          <a:prstGeom prst="rect">
            <a:avLst/>
          </a:prstGeom>
          <a:noFill/>
          <a:ln/>
        </p:spPr>
        <p:txBody>
          <a:bodyPr wrap="square" lIns="0" tIns="0" rIns="0" bIns="0" rtlCol="0" anchor="ctr"/>
          <a:lstStyle/>
          <a:p>
            <a:pPr marL="0" indent="0">
              <a:buNone/>
            </a:pPr>
            <a:r>
              <a:rPr lang="en-US" sz="1100" b="1" dirty="0">
                <a:solidFill>
                  <a:srgbClr val="0A595F"/>
                </a:solidFill>
                <a:latin typeface="Calibri" pitchFamily="34" charset="0"/>
                <a:ea typeface="Calibri" pitchFamily="34" charset="-122"/>
                <a:cs typeface="Calibri" pitchFamily="34" charset="-120"/>
              </a:rPr>
              <a:t>Preliminary BAU Results</a:t>
            </a:r>
            <a:endParaRPr lang="en-US" sz="1100" dirty="0"/>
          </a:p>
        </p:txBody>
      </p:sp>
      <p:sp>
        <p:nvSpPr>
          <p:cNvPr id="15" name="Text 13"/>
          <p:cNvSpPr/>
          <p:nvPr/>
        </p:nvSpPr>
        <p:spPr>
          <a:xfrm>
            <a:off x="960120" y="2587752"/>
            <a:ext cx="7680960" cy="384048"/>
          </a:xfrm>
          <a:prstGeom prst="rect">
            <a:avLst/>
          </a:prstGeom>
          <a:noFill/>
          <a:ln/>
        </p:spPr>
        <p:txBody>
          <a:bodyPr wrap="square" lIns="0" tIns="0" rIns="0" bIns="0" rtlCol="0" anchor="ctr"/>
          <a:lstStyle/>
          <a:p>
            <a:pPr marL="0" indent="0">
              <a:buNone/>
            </a:pPr>
            <a:r>
              <a:rPr lang="en-US" sz="950" dirty="0">
                <a:solidFill>
                  <a:srgbClr val="334155"/>
                </a:solidFill>
                <a:latin typeface="Calibri" pitchFamily="34" charset="0"/>
                <a:ea typeface="Calibri" pitchFamily="34" charset="-122"/>
                <a:cs typeface="Calibri" pitchFamily="34" charset="-120"/>
              </a:rPr>
              <a:t>Capacity, generation, investment, emissions, and interconnector flows from the OSeMOSYS Global base run</a:t>
            </a:r>
            <a:endParaRPr lang="en-US" sz="950" dirty="0"/>
          </a:p>
        </p:txBody>
      </p:sp>
      <p:sp>
        <p:nvSpPr>
          <p:cNvPr id="16" name="Shape 14"/>
          <p:cNvSpPr/>
          <p:nvPr/>
        </p:nvSpPr>
        <p:spPr>
          <a:xfrm>
            <a:off x="457200" y="3099816"/>
            <a:ext cx="365760" cy="365760"/>
          </a:xfrm>
          <a:prstGeom prst="ellipse">
            <a:avLst/>
          </a:prstGeom>
          <a:solidFill>
            <a:srgbClr val="0A595F"/>
          </a:solidFill>
          <a:ln/>
        </p:spPr>
        <p:txBody>
          <a:bodyPr/>
          <a:lstStyle/>
          <a:p>
            <a:endParaRPr lang="LID4096"/>
          </a:p>
        </p:txBody>
      </p:sp>
      <p:sp>
        <p:nvSpPr>
          <p:cNvPr id="17" name="Text 15"/>
          <p:cNvSpPr/>
          <p:nvPr/>
        </p:nvSpPr>
        <p:spPr>
          <a:xfrm>
            <a:off x="457200" y="3099816"/>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Georgia" pitchFamily="34" charset="0"/>
                <a:ea typeface="Georgia" pitchFamily="34" charset="-122"/>
                <a:cs typeface="Georgia" pitchFamily="34" charset="-120"/>
              </a:rPr>
              <a:t>4</a:t>
            </a:r>
            <a:endParaRPr lang="en-US" sz="1400" dirty="0"/>
          </a:p>
        </p:txBody>
      </p:sp>
      <p:sp>
        <p:nvSpPr>
          <p:cNvPr id="18" name="Text 16"/>
          <p:cNvSpPr/>
          <p:nvPr/>
        </p:nvSpPr>
        <p:spPr>
          <a:xfrm>
            <a:off x="960120" y="3054096"/>
            <a:ext cx="7680960" cy="228600"/>
          </a:xfrm>
          <a:prstGeom prst="rect">
            <a:avLst/>
          </a:prstGeom>
          <a:noFill/>
          <a:ln/>
        </p:spPr>
        <p:txBody>
          <a:bodyPr wrap="square" lIns="0" tIns="0" rIns="0" bIns="0" rtlCol="0" anchor="ctr"/>
          <a:lstStyle/>
          <a:p>
            <a:pPr marL="0" indent="0">
              <a:buNone/>
            </a:pPr>
            <a:r>
              <a:rPr lang="en-US" sz="1100" b="1" dirty="0">
                <a:solidFill>
                  <a:srgbClr val="0A595F"/>
                </a:solidFill>
                <a:latin typeface="Calibri" pitchFamily="34" charset="0"/>
                <a:ea typeface="Calibri" pitchFamily="34" charset="-122"/>
                <a:cs typeface="Calibri" pitchFamily="34" charset="-120"/>
              </a:rPr>
              <a:t>Modeling Pipeline &amp; Collaboration</a:t>
            </a:r>
            <a:endParaRPr lang="en-US" sz="1100" dirty="0"/>
          </a:p>
        </p:txBody>
      </p:sp>
      <p:sp>
        <p:nvSpPr>
          <p:cNvPr id="19" name="Text 17"/>
          <p:cNvSpPr/>
          <p:nvPr/>
        </p:nvSpPr>
        <p:spPr>
          <a:xfrm>
            <a:off x="960120" y="3300984"/>
            <a:ext cx="7680960" cy="384048"/>
          </a:xfrm>
          <a:prstGeom prst="rect">
            <a:avLst/>
          </a:prstGeom>
          <a:noFill/>
          <a:ln/>
        </p:spPr>
        <p:txBody>
          <a:bodyPr wrap="square" lIns="0" tIns="0" rIns="0" bIns="0" rtlCol="0" anchor="ctr"/>
          <a:lstStyle/>
          <a:p>
            <a:pPr marL="0" indent="0">
              <a:buNone/>
            </a:pPr>
            <a:r>
              <a:rPr lang="en-US" sz="950" dirty="0">
                <a:solidFill>
                  <a:srgbClr val="334155"/>
                </a:solidFill>
                <a:latin typeface="Calibri" pitchFamily="34" charset="0"/>
                <a:ea typeface="Calibri" pitchFamily="34" charset="-122"/>
                <a:cs typeface="Calibri" pitchFamily="34" charset="-120"/>
              </a:rPr>
              <a:t>Five-step automated pipeline from OSeMOSYS Global to solved results, and how to collaborate on the model</a:t>
            </a:r>
            <a:endParaRPr lang="en-US" sz="950" dirty="0"/>
          </a:p>
        </p:txBody>
      </p:sp>
      <p:sp>
        <p:nvSpPr>
          <p:cNvPr id="20" name="Shape 18"/>
          <p:cNvSpPr/>
          <p:nvPr/>
        </p:nvSpPr>
        <p:spPr>
          <a:xfrm>
            <a:off x="457200" y="3813048"/>
            <a:ext cx="365760" cy="365760"/>
          </a:xfrm>
          <a:prstGeom prst="ellipse">
            <a:avLst/>
          </a:prstGeom>
          <a:solidFill>
            <a:srgbClr val="0A595F"/>
          </a:solidFill>
          <a:ln/>
        </p:spPr>
        <p:txBody>
          <a:bodyPr/>
          <a:lstStyle/>
          <a:p>
            <a:endParaRPr lang="LID4096"/>
          </a:p>
        </p:txBody>
      </p:sp>
      <p:sp>
        <p:nvSpPr>
          <p:cNvPr id="21" name="Text 19"/>
          <p:cNvSpPr/>
          <p:nvPr/>
        </p:nvSpPr>
        <p:spPr>
          <a:xfrm>
            <a:off x="457200" y="3813048"/>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Georgia" pitchFamily="34" charset="0"/>
                <a:ea typeface="Georgia" pitchFamily="34" charset="-122"/>
                <a:cs typeface="Georgia" pitchFamily="34" charset="-120"/>
              </a:rPr>
              <a:t>5</a:t>
            </a:r>
            <a:endParaRPr lang="en-US" sz="1400" dirty="0"/>
          </a:p>
        </p:txBody>
      </p:sp>
      <p:sp>
        <p:nvSpPr>
          <p:cNvPr id="22" name="Text 20"/>
          <p:cNvSpPr/>
          <p:nvPr/>
        </p:nvSpPr>
        <p:spPr>
          <a:xfrm>
            <a:off x="960120" y="3767328"/>
            <a:ext cx="7680960" cy="228600"/>
          </a:xfrm>
          <a:prstGeom prst="rect">
            <a:avLst/>
          </a:prstGeom>
          <a:noFill/>
          <a:ln/>
        </p:spPr>
        <p:txBody>
          <a:bodyPr wrap="square" lIns="0" tIns="0" rIns="0" bIns="0" rtlCol="0" anchor="ctr"/>
          <a:lstStyle/>
          <a:p>
            <a:pPr marL="0" indent="0">
              <a:buNone/>
            </a:pPr>
            <a:r>
              <a:rPr lang="en-US" sz="1100" b="1" dirty="0">
                <a:solidFill>
                  <a:srgbClr val="0A595F"/>
                </a:solidFill>
                <a:latin typeface="Calibri" pitchFamily="34" charset="0"/>
                <a:ea typeface="Calibri" pitchFamily="34" charset="-122"/>
                <a:cs typeface="Calibri" pitchFamily="34" charset="-120"/>
              </a:rPr>
              <a:t>Next Steps &amp; Timeline</a:t>
            </a:r>
            <a:endParaRPr lang="en-US" sz="1100" dirty="0"/>
          </a:p>
        </p:txBody>
      </p:sp>
      <p:sp>
        <p:nvSpPr>
          <p:cNvPr id="23" name="Text 21"/>
          <p:cNvSpPr/>
          <p:nvPr/>
        </p:nvSpPr>
        <p:spPr>
          <a:xfrm>
            <a:off x="960120" y="4014216"/>
            <a:ext cx="7680960" cy="384048"/>
          </a:xfrm>
          <a:prstGeom prst="rect">
            <a:avLst/>
          </a:prstGeom>
          <a:noFill/>
          <a:ln/>
        </p:spPr>
        <p:txBody>
          <a:bodyPr wrap="square" lIns="0" tIns="0" rIns="0" bIns="0" rtlCol="0" anchor="ctr"/>
          <a:lstStyle/>
          <a:p>
            <a:pPr marL="0" indent="0">
              <a:buNone/>
            </a:pPr>
            <a:r>
              <a:rPr lang="en-US" sz="950" dirty="0">
                <a:solidFill>
                  <a:srgbClr val="334155"/>
                </a:solidFill>
                <a:latin typeface="Calibri" pitchFamily="34" charset="0"/>
                <a:ea typeface="Calibri" pitchFamily="34" charset="-122"/>
                <a:cs typeface="Calibri" pitchFamily="34" charset="-120"/>
              </a:rPr>
              <a:t>Upcoming milestones, validation priorities, and delivery schedule through September 2026</a:t>
            </a:r>
            <a:endParaRPr lang="en-US" sz="950" dirty="0"/>
          </a:p>
        </p:txBody>
      </p:sp>
      <p:sp>
        <p:nvSpPr>
          <p:cNvPr id="24" name="Text 22"/>
          <p:cNvSpPr/>
          <p:nvPr/>
        </p:nvSpPr>
        <p:spPr>
          <a:xfrm>
            <a:off x="457200" y="4434840"/>
            <a:ext cx="8229600" cy="228600"/>
          </a:xfrm>
          <a:prstGeom prst="rect">
            <a:avLst/>
          </a:prstGeom>
          <a:noFill/>
          <a:ln/>
        </p:spPr>
        <p:txBody>
          <a:bodyPr wrap="square" lIns="0" tIns="0" rIns="0" bIns="0" rtlCol="0" anchor="ctr"/>
          <a:lstStyle/>
          <a:p>
            <a:pPr marL="0" indent="0">
              <a:buNone/>
            </a:pPr>
            <a:r>
              <a:rPr lang="en-US" sz="900" i="1" dirty="0">
                <a:solidFill>
                  <a:srgbClr val="64748B"/>
                </a:solidFill>
                <a:latin typeface="Calibri" pitchFamily="34" charset="0"/>
                <a:ea typeface="Calibri" pitchFamily="34" charset="-122"/>
                <a:cs typeface="Calibri" pitchFamily="34" charset="-120"/>
              </a:rPr>
              <a:t> </a:t>
            </a:r>
            <a:endParaRPr lang="en-US" sz="900" dirty="0"/>
          </a:p>
        </p:txBody>
      </p:sp>
      <p:sp>
        <p:nvSpPr>
          <p:cNvPr id="25" name="Shape 23"/>
          <p:cNvSpPr/>
          <p:nvPr/>
        </p:nvSpPr>
        <p:spPr>
          <a:xfrm>
            <a:off x="0" y="4709160"/>
            <a:ext cx="9144000" cy="434340"/>
          </a:xfrm>
          <a:prstGeom prst="rect">
            <a:avLst/>
          </a:prstGeom>
          <a:solidFill>
            <a:srgbClr val="00414D"/>
          </a:solidFill>
          <a:ln/>
        </p:spPr>
        <p:txBody>
          <a:bodyPr/>
          <a:lstStyle/>
          <a:p>
            <a:endParaRPr lang="LID4096"/>
          </a:p>
        </p:txBody>
      </p:sp>
      <p:sp>
        <p:nvSpPr>
          <p:cNvPr id="26" name="Text 24"/>
          <p:cNvSpPr/>
          <p:nvPr/>
        </p:nvSpPr>
        <p:spPr>
          <a:xfrm>
            <a:off x="457200" y="4727448"/>
            <a:ext cx="8229600" cy="393192"/>
          </a:xfrm>
          <a:prstGeom prst="rect">
            <a:avLst/>
          </a:prstGeom>
          <a:noFill/>
          <a:ln/>
        </p:spPr>
        <p:txBody>
          <a:bodyPr wrap="square" rtlCol="0" anchor="ctr"/>
          <a:lstStyle/>
          <a:p>
            <a:pPr marL="0" indent="0">
              <a:buNone/>
            </a:pPr>
            <a:r>
              <a:rPr lang="en-US" sz="800" dirty="0">
                <a:solidFill>
                  <a:srgbClr val="64748B"/>
                </a:solidFill>
                <a:latin typeface="Calibri" pitchFamily="34" charset="0"/>
                <a:ea typeface="Calibri" pitchFamily="34" charset="-122"/>
                <a:cs typeface="Calibri" pitchFamily="34" charset="-120"/>
              </a:rPr>
              <a:t>OSTRAM — Data Package v1.0  |  UN ESCAP Energy Division  |  March 2026</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bg>
      <p:bgPr>
        <a:solidFill>
          <a:srgbClr val="F0F5F5"/>
        </a:solidFill>
        <a:effectLst/>
      </p:bgPr>
    </p:bg>
    <p:spTree>
      <p:nvGrpSpPr>
        <p:cNvPr id="1" name=""/>
        <p:cNvGrpSpPr/>
        <p:nvPr/>
      </p:nvGrpSpPr>
      <p:grpSpPr>
        <a:xfrm>
          <a:off x="0" y="0"/>
          <a:ext cx="0" cy="0"/>
          <a:chOff x="0" y="0"/>
          <a:chExt cx="0" cy="0"/>
        </a:xfrm>
      </p:grpSpPr>
      <p:sp>
        <p:nvSpPr>
          <p:cNvPr id="2" name="Text 0"/>
          <p:cNvSpPr/>
          <p:nvPr/>
        </p:nvSpPr>
        <p:spPr>
          <a:xfrm>
            <a:off x="457200" y="320040"/>
            <a:ext cx="8229600" cy="502920"/>
          </a:xfrm>
          <a:prstGeom prst="rect">
            <a:avLst/>
          </a:prstGeom>
          <a:noFill/>
          <a:ln/>
        </p:spPr>
        <p:txBody>
          <a:bodyPr wrap="square" lIns="0" tIns="0" rIns="0" bIns="0" rtlCol="0" anchor="ctr"/>
          <a:lstStyle/>
          <a:p>
            <a:pPr marL="0" indent="0">
              <a:buNone/>
            </a:pPr>
            <a:r>
              <a:rPr lang="en-US" sz="2600" b="1" dirty="0">
                <a:solidFill>
                  <a:srgbClr val="00414D"/>
                </a:solidFill>
                <a:latin typeface="Georgia" pitchFamily="34" charset="0"/>
                <a:ea typeface="Georgia" pitchFamily="34" charset="-122"/>
                <a:cs typeface="Georgia" pitchFamily="34" charset="-120"/>
              </a:rPr>
              <a:t>Data Package v1.0 — Executive Summary</a:t>
            </a:r>
            <a:endParaRPr lang="en-US" sz="2600" dirty="0"/>
          </a:p>
        </p:txBody>
      </p:sp>
      <p:sp>
        <p:nvSpPr>
          <p:cNvPr id="3" name="Text 1"/>
          <p:cNvSpPr/>
          <p:nvPr/>
        </p:nvSpPr>
        <p:spPr>
          <a:xfrm>
            <a:off x="457200" y="914400"/>
            <a:ext cx="8229600" cy="640080"/>
          </a:xfrm>
          <a:prstGeom prst="rect">
            <a:avLst/>
          </a:prstGeom>
          <a:noFill/>
          <a:ln/>
        </p:spPr>
        <p:txBody>
          <a:bodyPr wrap="square" lIns="0" tIns="0" rIns="0" bIns="0" rtlCol="0" anchor="ctr"/>
          <a:lstStyle/>
          <a:p>
            <a:pPr marL="0" indent="0">
              <a:buNone/>
            </a:pPr>
            <a:r>
              <a:rPr lang="en-US" sz="1200" dirty="0">
                <a:solidFill>
                  <a:srgbClr val="334155"/>
                </a:solidFill>
                <a:latin typeface="Calibri" pitchFamily="34" charset="0"/>
                <a:ea typeface="Calibri" pitchFamily="34" charset="-122"/>
                <a:cs typeface="Calibri" pitchFamily="34" charset="-120"/>
              </a:rPr>
              <a:t>This delivery freezes the data foundation for the OSTRAM South Asia model. Two companion files capture everything collected, processed, and structured for the 2023–2050 planning horizon across Bangladesh, Bhutan, India (5 sub-regions), Maldives, Nepal, and Sri Lanka.</a:t>
            </a:r>
            <a:endParaRPr lang="en-US" sz="1200" dirty="0"/>
          </a:p>
        </p:txBody>
      </p:sp>
      <p:sp>
        <p:nvSpPr>
          <p:cNvPr id="4" name="Shape 2"/>
          <p:cNvSpPr/>
          <p:nvPr/>
        </p:nvSpPr>
        <p:spPr>
          <a:xfrm>
            <a:off x="457200" y="1691640"/>
            <a:ext cx="3931920" cy="2743200"/>
          </a:xfrm>
          <a:prstGeom prst="rect">
            <a:avLst/>
          </a:prstGeom>
          <a:solidFill>
            <a:srgbClr val="FFFFFF"/>
          </a:solidFill>
          <a:ln/>
          <a:effectLst>
            <a:outerShdw blurRad="101600" dist="25400" dir="8100000" algn="bl" rotWithShape="0">
              <a:srgbClr val="000000">
                <a:alpha val="8000"/>
              </a:srgbClr>
            </a:outerShdw>
          </a:effectLst>
        </p:spPr>
        <p:txBody>
          <a:bodyPr/>
          <a:lstStyle/>
          <a:p>
            <a:endParaRPr lang="LID4096"/>
          </a:p>
        </p:txBody>
      </p:sp>
      <p:sp>
        <p:nvSpPr>
          <p:cNvPr id="5" name="Shape 3"/>
          <p:cNvSpPr/>
          <p:nvPr/>
        </p:nvSpPr>
        <p:spPr>
          <a:xfrm>
            <a:off x="457200" y="1691640"/>
            <a:ext cx="3931920" cy="54864"/>
          </a:xfrm>
          <a:prstGeom prst="rect">
            <a:avLst/>
          </a:prstGeom>
          <a:solidFill>
            <a:srgbClr val="23978E"/>
          </a:solidFill>
          <a:ln/>
        </p:spPr>
        <p:txBody>
          <a:bodyPr/>
          <a:lstStyle/>
          <a:p>
            <a:endParaRPr lang="LID4096"/>
          </a:p>
        </p:txBody>
      </p:sp>
      <p:pic>
        <p:nvPicPr>
          <p:cNvPr id="6" name="Image 0" descr="preencoded.png"/>
          <p:cNvPicPr>
            <a:picLocks noChangeAspect="1"/>
          </p:cNvPicPr>
          <p:nvPr/>
        </p:nvPicPr>
        <p:blipFill>
          <a:blip r:embed="rId3"/>
          <a:stretch>
            <a:fillRect/>
          </a:stretch>
        </p:blipFill>
        <p:spPr>
          <a:xfrm>
            <a:off x="640080" y="1920240"/>
            <a:ext cx="320040" cy="320040"/>
          </a:xfrm>
          <a:prstGeom prst="rect">
            <a:avLst/>
          </a:prstGeom>
        </p:spPr>
      </p:pic>
      <p:sp>
        <p:nvSpPr>
          <p:cNvPr id="7" name="Text 4"/>
          <p:cNvSpPr/>
          <p:nvPr/>
        </p:nvSpPr>
        <p:spPr>
          <a:xfrm>
            <a:off x="1051560" y="1901952"/>
            <a:ext cx="3108960" cy="228600"/>
          </a:xfrm>
          <a:prstGeom prst="rect">
            <a:avLst/>
          </a:prstGeom>
          <a:noFill/>
          <a:ln/>
        </p:spPr>
        <p:txBody>
          <a:bodyPr wrap="square" lIns="0" tIns="0" rIns="0" bIns="0" rtlCol="0" anchor="ctr"/>
          <a:lstStyle/>
          <a:p>
            <a:pPr marL="0" indent="0">
              <a:buNone/>
            </a:pPr>
            <a:r>
              <a:rPr lang="en-US" sz="1100" b="1" dirty="0">
                <a:solidFill>
                  <a:srgbClr val="0A595F"/>
                </a:solidFill>
                <a:latin typeface="Calibri" pitchFamily="34" charset="0"/>
                <a:ea typeface="Calibri" pitchFamily="34" charset="-122"/>
                <a:cs typeface="Calibri" pitchFamily="34" charset="-120"/>
              </a:rPr>
              <a:t>SOASIA_OSeMOSYS_Template_v2_filled</a:t>
            </a:r>
            <a:endParaRPr lang="en-US" sz="1100" dirty="0"/>
          </a:p>
        </p:txBody>
      </p:sp>
      <p:sp>
        <p:nvSpPr>
          <p:cNvPr id="8" name="Text 5"/>
          <p:cNvSpPr/>
          <p:nvPr/>
        </p:nvSpPr>
        <p:spPr>
          <a:xfrm>
            <a:off x="1051560" y="2121408"/>
            <a:ext cx="3108960" cy="182880"/>
          </a:xfrm>
          <a:prstGeom prst="rect">
            <a:avLst/>
          </a:prstGeom>
          <a:noFill/>
          <a:ln/>
        </p:spPr>
        <p:txBody>
          <a:bodyPr wrap="square" lIns="0" tIns="0" rIns="0" bIns="0" rtlCol="0" anchor="ctr"/>
          <a:lstStyle/>
          <a:p>
            <a:pPr marL="0" indent="0">
              <a:buNone/>
            </a:pPr>
            <a:r>
              <a:rPr lang="en-US" sz="1000" i="1" dirty="0">
                <a:solidFill>
                  <a:srgbClr val="23978E"/>
                </a:solidFill>
                <a:latin typeface="Calibri" pitchFamily="34" charset="0"/>
                <a:ea typeface="Calibri" pitchFamily="34" charset="-122"/>
                <a:cs typeface="Calibri" pitchFamily="34" charset="-120"/>
              </a:rPr>
              <a:t>Model-Ready Parameterization</a:t>
            </a:r>
            <a:endParaRPr lang="en-US" sz="1000" dirty="0"/>
          </a:p>
        </p:txBody>
      </p:sp>
      <p:sp>
        <p:nvSpPr>
          <p:cNvPr id="9" name="Text 6"/>
          <p:cNvSpPr/>
          <p:nvPr/>
        </p:nvSpPr>
        <p:spPr>
          <a:xfrm>
            <a:off x="640080" y="2423160"/>
            <a:ext cx="3566160" cy="1097280"/>
          </a:xfrm>
          <a:prstGeom prst="rect">
            <a:avLst/>
          </a:prstGeom>
          <a:noFill/>
          <a:ln/>
        </p:spPr>
        <p:txBody>
          <a:bodyPr wrap="square" lIns="0" tIns="0" rIns="0" bIns="0" rtlCol="0" anchor="ctr"/>
          <a:lstStyle/>
          <a:p>
            <a:pPr marL="0" indent="0">
              <a:buNone/>
            </a:pPr>
            <a:r>
              <a:rPr lang="en-US" sz="1050" dirty="0">
                <a:solidFill>
                  <a:srgbClr val="334155"/>
                </a:solidFill>
                <a:latin typeface="Calibri" pitchFamily="34" charset="0"/>
                <a:ea typeface="Calibri" pitchFamily="34" charset="-122"/>
                <a:cs typeface="Calibri" pitchFamily="34" charset="-120"/>
              </a:rPr>
              <a:t>26 sheets structured for the otoole/OSeMOSYS pipeline. Contains all parameters the model reads: technologies, costs, capacity factors, demand projections, interconnectors, emissions, and validation sheets.</a:t>
            </a:r>
            <a:endParaRPr lang="en-US" sz="1050" dirty="0"/>
          </a:p>
        </p:txBody>
      </p:sp>
      <p:sp>
        <p:nvSpPr>
          <p:cNvPr id="10" name="Shape 7"/>
          <p:cNvSpPr/>
          <p:nvPr/>
        </p:nvSpPr>
        <p:spPr>
          <a:xfrm>
            <a:off x="640080" y="3749040"/>
            <a:ext cx="3566160" cy="18288"/>
          </a:xfrm>
          <a:prstGeom prst="rect">
            <a:avLst/>
          </a:prstGeom>
          <a:solidFill>
            <a:srgbClr val="E0F0EF"/>
          </a:solidFill>
          <a:ln/>
        </p:spPr>
        <p:txBody>
          <a:bodyPr/>
          <a:lstStyle/>
          <a:p>
            <a:endParaRPr lang="LID4096"/>
          </a:p>
        </p:txBody>
      </p:sp>
      <p:sp>
        <p:nvSpPr>
          <p:cNvPr id="11" name="Text 8"/>
          <p:cNvSpPr/>
          <p:nvPr/>
        </p:nvSpPr>
        <p:spPr>
          <a:xfrm>
            <a:off x="640080" y="3840480"/>
            <a:ext cx="3566160" cy="22860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26 sheets  |  5,200+ parameter rows  |  2023–2050 horizon</a:t>
            </a:r>
            <a:endParaRPr lang="en-US" sz="900" dirty="0"/>
          </a:p>
        </p:txBody>
      </p:sp>
      <p:sp>
        <p:nvSpPr>
          <p:cNvPr id="12" name="Shape 9"/>
          <p:cNvSpPr/>
          <p:nvPr/>
        </p:nvSpPr>
        <p:spPr>
          <a:xfrm>
            <a:off x="4663440" y="1691640"/>
            <a:ext cx="3931920" cy="2743200"/>
          </a:xfrm>
          <a:prstGeom prst="rect">
            <a:avLst/>
          </a:prstGeom>
          <a:solidFill>
            <a:srgbClr val="FFFFFF"/>
          </a:solidFill>
          <a:ln/>
          <a:effectLst>
            <a:outerShdw blurRad="101600" dist="25400" dir="8100000" algn="bl" rotWithShape="0">
              <a:srgbClr val="000000">
                <a:alpha val="8000"/>
              </a:srgbClr>
            </a:outerShdw>
          </a:effectLst>
        </p:spPr>
        <p:txBody>
          <a:bodyPr/>
          <a:lstStyle/>
          <a:p>
            <a:endParaRPr lang="LID4096"/>
          </a:p>
        </p:txBody>
      </p:sp>
      <p:sp>
        <p:nvSpPr>
          <p:cNvPr id="13" name="Shape 10"/>
          <p:cNvSpPr/>
          <p:nvPr/>
        </p:nvSpPr>
        <p:spPr>
          <a:xfrm>
            <a:off x="4663440" y="1691640"/>
            <a:ext cx="3931920" cy="54864"/>
          </a:xfrm>
          <a:prstGeom prst="rect">
            <a:avLst/>
          </a:prstGeom>
          <a:solidFill>
            <a:srgbClr val="23978E"/>
          </a:solidFill>
          <a:ln/>
        </p:spPr>
        <p:txBody>
          <a:bodyPr/>
          <a:lstStyle/>
          <a:p>
            <a:endParaRPr lang="LID4096"/>
          </a:p>
        </p:txBody>
      </p:sp>
      <p:pic>
        <p:nvPicPr>
          <p:cNvPr id="14" name="Image 1" descr="preencoded.png"/>
          <p:cNvPicPr>
            <a:picLocks noChangeAspect="1"/>
          </p:cNvPicPr>
          <p:nvPr/>
        </p:nvPicPr>
        <p:blipFill>
          <a:blip r:embed="rId4"/>
          <a:stretch>
            <a:fillRect/>
          </a:stretch>
        </p:blipFill>
        <p:spPr>
          <a:xfrm>
            <a:off x="4846320" y="1920240"/>
            <a:ext cx="320040" cy="320040"/>
          </a:xfrm>
          <a:prstGeom prst="rect">
            <a:avLst/>
          </a:prstGeom>
        </p:spPr>
      </p:pic>
      <p:sp>
        <p:nvSpPr>
          <p:cNvPr id="15" name="Text 11"/>
          <p:cNvSpPr/>
          <p:nvPr/>
        </p:nvSpPr>
        <p:spPr>
          <a:xfrm>
            <a:off x="5257800" y="1901952"/>
            <a:ext cx="3108960" cy="228600"/>
          </a:xfrm>
          <a:prstGeom prst="rect">
            <a:avLst/>
          </a:prstGeom>
          <a:noFill/>
          <a:ln/>
        </p:spPr>
        <p:txBody>
          <a:bodyPr wrap="square" lIns="0" tIns="0" rIns="0" bIns="0" rtlCol="0" anchor="ctr"/>
          <a:lstStyle/>
          <a:p>
            <a:r>
              <a:rPr lang="en-US" sz="1100" b="1" dirty="0">
                <a:solidFill>
                  <a:srgbClr val="0A595F"/>
                </a:solidFill>
                <a:latin typeface="Calibri" pitchFamily="34" charset="0"/>
                <a:ea typeface="Calibri" pitchFamily="34" charset="-122"/>
                <a:cs typeface="Calibri" pitchFamily="34" charset="-120"/>
              </a:rPr>
              <a:t>SOASIA_Consolidated_Data_Inventory_v1</a:t>
            </a:r>
            <a:endParaRPr lang="en-US" sz="1100" dirty="0"/>
          </a:p>
        </p:txBody>
      </p:sp>
      <p:sp>
        <p:nvSpPr>
          <p:cNvPr id="16" name="Text 12"/>
          <p:cNvSpPr/>
          <p:nvPr/>
        </p:nvSpPr>
        <p:spPr>
          <a:xfrm>
            <a:off x="5257800" y="2121408"/>
            <a:ext cx="3108960" cy="182880"/>
          </a:xfrm>
          <a:prstGeom prst="rect">
            <a:avLst/>
          </a:prstGeom>
          <a:noFill/>
          <a:ln/>
        </p:spPr>
        <p:txBody>
          <a:bodyPr wrap="square" lIns="0" tIns="0" rIns="0" bIns="0" rtlCol="0" anchor="ctr"/>
          <a:lstStyle/>
          <a:p>
            <a:pPr marL="0" indent="0">
              <a:buNone/>
            </a:pPr>
            <a:r>
              <a:rPr lang="en-US" sz="1000" i="1" dirty="0">
                <a:solidFill>
                  <a:srgbClr val="23978E"/>
                </a:solidFill>
                <a:latin typeface="Calibri" pitchFamily="34" charset="0"/>
                <a:ea typeface="Calibri" pitchFamily="34" charset="-122"/>
                <a:cs typeface="Calibri" pitchFamily="34" charset="-120"/>
              </a:rPr>
              <a:t>Data Provenance &amp; Evidence Base</a:t>
            </a:r>
            <a:endParaRPr lang="en-US" sz="1000" dirty="0"/>
          </a:p>
        </p:txBody>
      </p:sp>
      <p:sp>
        <p:nvSpPr>
          <p:cNvPr id="17" name="Text 13"/>
          <p:cNvSpPr/>
          <p:nvPr/>
        </p:nvSpPr>
        <p:spPr>
          <a:xfrm>
            <a:off x="4846320" y="2423160"/>
            <a:ext cx="3566160" cy="1097280"/>
          </a:xfrm>
          <a:prstGeom prst="rect">
            <a:avLst/>
          </a:prstGeom>
          <a:noFill/>
          <a:ln/>
        </p:spPr>
        <p:txBody>
          <a:bodyPr wrap="square" lIns="0" tIns="0" rIns="0" bIns="0" rtlCol="0" anchor="ctr"/>
          <a:lstStyle/>
          <a:p>
            <a:pPr marL="0" indent="0">
              <a:buNone/>
            </a:pPr>
            <a:r>
              <a:rPr lang="en-US" sz="1050" dirty="0">
                <a:solidFill>
                  <a:srgbClr val="334155"/>
                </a:solidFill>
                <a:latin typeface="Calibri" pitchFamily="34" charset="0"/>
                <a:ea typeface="Calibri" pitchFamily="34" charset="-122"/>
                <a:cs typeface="Calibri" pitchFamily="34" charset="-120"/>
              </a:rPr>
              <a:t>13 sheets documenting what was found, where it came from, and what gaps remain. Includes plant-level generation inventories, cost databases with 3 scenarios, VRE profiles, and a full gaps/actions tracker.</a:t>
            </a:r>
            <a:endParaRPr lang="en-US" sz="1050" dirty="0"/>
          </a:p>
        </p:txBody>
      </p:sp>
      <p:sp>
        <p:nvSpPr>
          <p:cNvPr id="18" name="Shape 14"/>
          <p:cNvSpPr/>
          <p:nvPr/>
        </p:nvSpPr>
        <p:spPr>
          <a:xfrm>
            <a:off x="4846320" y="3749040"/>
            <a:ext cx="3566160" cy="18288"/>
          </a:xfrm>
          <a:prstGeom prst="rect">
            <a:avLst/>
          </a:prstGeom>
          <a:solidFill>
            <a:srgbClr val="E0F0EF"/>
          </a:solidFill>
          <a:ln/>
        </p:spPr>
        <p:txBody>
          <a:bodyPr/>
          <a:lstStyle/>
          <a:p>
            <a:endParaRPr lang="LID4096"/>
          </a:p>
        </p:txBody>
      </p:sp>
      <p:sp>
        <p:nvSpPr>
          <p:cNvPr id="19" name="Text 15"/>
          <p:cNvSpPr/>
          <p:nvPr/>
        </p:nvSpPr>
        <p:spPr>
          <a:xfrm>
            <a:off x="4846320" y="3840480"/>
            <a:ext cx="3566160" cy="22860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13 sheets  |  8,600+ records  |  40+ cited sources</a:t>
            </a:r>
            <a:endParaRPr lang="en-US" sz="900" dirty="0"/>
          </a:p>
        </p:txBody>
      </p:sp>
      <p:sp>
        <p:nvSpPr>
          <p:cNvPr id="20" name="Shape 16"/>
          <p:cNvSpPr/>
          <p:nvPr/>
        </p:nvSpPr>
        <p:spPr>
          <a:xfrm>
            <a:off x="0" y="4709160"/>
            <a:ext cx="9144000" cy="434340"/>
          </a:xfrm>
          <a:prstGeom prst="rect">
            <a:avLst/>
          </a:prstGeom>
          <a:solidFill>
            <a:srgbClr val="00414D"/>
          </a:solidFill>
          <a:ln/>
        </p:spPr>
        <p:txBody>
          <a:bodyPr/>
          <a:lstStyle/>
          <a:p>
            <a:endParaRPr lang="LID4096"/>
          </a:p>
        </p:txBody>
      </p:sp>
      <p:sp>
        <p:nvSpPr>
          <p:cNvPr id="21" name="Text 17"/>
          <p:cNvSpPr/>
          <p:nvPr/>
        </p:nvSpPr>
        <p:spPr>
          <a:xfrm>
            <a:off x="457200" y="4727448"/>
            <a:ext cx="8229600" cy="393192"/>
          </a:xfrm>
          <a:prstGeom prst="rect">
            <a:avLst/>
          </a:prstGeom>
          <a:noFill/>
          <a:ln/>
        </p:spPr>
        <p:txBody>
          <a:bodyPr wrap="square" rtlCol="0" anchor="ctr"/>
          <a:lstStyle/>
          <a:p>
            <a:pPr marL="0" indent="0">
              <a:buNone/>
            </a:pPr>
            <a:r>
              <a:rPr lang="en-US" sz="800" dirty="0">
                <a:solidFill>
                  <a:srgbClr val="64748B"/>
                </a:solidFill>
                <a:latin typeface="Calibri" pitchFamily="34" charset="0"/>
                <a:ea typeface="Calibri" pitchFamily="34" charset="-122"/>
                <a:cs typeface="Calibri" pitchFamily="34" charset="-120"/>
              </a:rPr>
              <a:t>OSTRAM — Data Package v1.0  |  UN ESCAP Energy Division  |  March 2026</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F0F5F5"/>
        </a:solidFill>
        <a:effectLst/>
      </p:bgPr>
    </p:bg>
    <p:spTree>
      <p:nvGrpSpPr>
        <p:cNvPr id="1" name=""/>
        <p:cNvGrpSpPr/>
        <p:nvPr/>
      </p:nvGrpSpPr>
      <p:grpSpPr>
        <a:xfrm>
          <a:off x="0" y="0"/>
          <a:ext cx="0" cy="0"/>
          <a:chOff x="0" y="0"/>
          <a:chExt cx="0" cy="0"/>
        </a:xfrm>
      </p:grpSpPr>
      <p:sp>
        <p:nvSpPr>
          <p:cNvPr id="2" name="Text 0"/>
          <p:cNvSpPr/>
          <p:nvPr/>
        </p:nvSpPr>
        <p:spPr>
          <a:xfrm>
            <a:off x="457200" y="320040"/>
            <a:ext cx="8229600" cy="502920"/>
          </a:xfrm>
          <a:prstGeom prst="rect">
            <a:avLst/>
          </a:prstGeom>
          <a:noFill/>
          <a:ln/>
        </p:spPr>
        <p:txBody>
          <a:bodyPr wrap="square" lIns="0" tIns="0" rIns="0" bIns="0" rtlCol="0" anchor="ctr"/>
          <a:lstStyle/>
          <a:p>
            <a:pPr marL="0" indent="0">
              <a:buNone/>
            </a:pPr>
            <a:r>
              <a:rPr lang="en-US" sz="2600" b="1" dirty="0">
                <a:solidFill>
                  <a:srgbClr val="00414D"/>
                </a:solidFill>
                <a:latin typeface="Georgia" pitchFamily="34" charset="0"/>
                <a:ea typeface="Georgia" pitchFamily="34" charset="-122"/>
                <a:cs typeface="Georgia" pitchFamily="34" charset="-120"/>
              </a:rPr>
              <a:t>By the Numbers</a:t>
            </a:r>
            <a:endParaRPr lang="en-US" sz="2600" dirty="0"/>
          </a:p>
        </p:txBody>
      </p:sp>
      <p:sp>
        <p:nvSpPr>
          <p:cNvPr id="3" name="Shape 1"/>
          <p:cNvSpPr/>
          <p:nvPr/>
        </p:nvSpPr>
        <p:spPr>
          <a:xfrm>
            <a:off x="457200" y="1005840"/>
            <a:ext cx="2606040" cy="1645920"/>
          </a:xfrm>
          <a:prstGeom prst="rect">
            <a:avLst/>
          </a:prstGeom>
          <a:solidFill>
            <a:srgbClr val="FFFFFF"/>
          </a:solidFill>
          <a:ln/>
          <a:effectLst>
            <a:outerShdw blurRad="76200" dist="25400" dir="8100000" algn="bl" rotWithShape="0">
              <a:srgbClr val="000000">
                <a:alpha val="6000"/>
              </a:srgbClr>
            </a:outerShdw>
          </a:effectLst>
        </p:spPr>
        <p:txBody>
          <a:bodyPr/>
          <a:lstStyle/>
          <a:p>
            <a:endParaRPr lang="LID4096"/>
          </a:p>
        </p:txBody>
      </p:sp>
      <p:pic>
        <p:nvPicPr>
          <p:cNvPr id="4" name="Image 0" descr="preencoded.png"/>
          <p:cNvPicPr>
            <a:picLocks noChangeAspect="1"/>
          </p:cNvPicPr>
          <p:nvPr/>
        </p:nvPicPr>
        <p:blipFill>
          <a:blip r:embed="rId3"/>
          <a:stretch>
            <a:fillRect/>
          </a:stretch>
        </p:blipFill>
        <p:spPr>
          <a:xfrm>
            <a:off x="685800" y="1188720"/>
            <a:ext cx="320040" cy="320040"/>
          </a:xfrm>
          <a:prstGeom prst="rect">
            <a:avLst/>
          </a:prstGeom>
        </p:spPr>
      </p:pic>
      <p:sp>
        <p:nvSpPr>
          <p:cNvPr id="5" name="Text 2"/>
          <p:cNvSpPr/>
          <p:nvPr/>
        </p:nvSpPr>
        <p:spPr>
          <a:xfrm>
            <a:off x="1097280" y="1143000"/>
            <a:ext cx="1737360" cy="411480"/>
          </a:xfrm>
          <a:prstGeom prst="rect">
            <a:avLst/>
          </a:prstGeom>
          <a:noFill/>
          <a:ln/>
        </p:spPr>
        <p:txBody>
          <a:bodyPr wrap="square" lIns="0" tIns="0" rIns="0" bIns="0" rtlCol="0" anchor="ctr"/>
          <a:lstStyle/>
          <a:p>
            <a:pPr marL="0" indent="0">
              <a:buNone/>
            </a:pPr>
            <a:r>
              <a:rPr lang="en-US" sz="2600" b="1" dirty="0">
                <a:solidFill>
                  <a:srgbClr val="0A595F"/>
                </a:solidFill>
                <a:latin typeface="Georgia" pitchFamily="34" charset="0"/>
                <a:ea typeface="Georgia" pitchFamily="34" charset="-122"/>
                <a:cs typeface="Georgia" pitchFamily="34" charset="-120"/>
              </a:rPr>
              <a:t>2,131</a:t>
            </a:r>
            <a:endParaRPr lang="en-US" sz="2600" dirty="0"/>
          </a:p>
        </p:txBody>
      </p:sp>
      <p:sp>
        <p:nvSpPr>
          <p:cNvPr id="6" name="Text 3"/>
          <p:cNvSpPr/>
          <p:nvPr/>
        </p:nvSpPr>
        <p:spPr>
          <a:xfrm>
            <a:off x="685800" y="1645920"/>
            <a:ext cx="2194560" cy="822960"/>
          </a:xfrm>
          <a:prstGeom prst="rect">
            <a:avLst/>
          </a:prstGeom>
          <a:noFill/>
          <a:ln/>
        </p:spPr>
        <p:txBody>
          <a:bodyPr wrap="square" lIns="0" tIns="0" rIns="0" bIns="0" rtlCol="0" anchor="ctr"/>
          <a:lstStyle/>
          <a:p>
            <a:pPr marL="0" indent="0">
              <a:buNone/>
            </a:pPr>
            <a:r>
              <a:rPr lang="en-US" sz="1100" dirty="0">
                <a:solidFill>
                  <a:srgbClr val="334155"/>
                </a:solidFill>
                <a:latin typeface="Calibri" pitchFamily="34" charset="0"/>
                <a:ea typeface="Calibri" pitchFamily="34" charset="-122"/>
                <a:cs typeface="Calibri" pitchFamily="34" charset="-120"/>
              </a:rPr>
              <a:t>Existing Power Plants</a:t>
            </a:r>
            <a:endParaRPr lang="en-US" sz="1100" dirty="0"/>
          </a:p>
          <a:p>
            <a:pPr marL="0" indent="0">
              <a:buNone/>
            </a:pPr>
            <a:r>
              <a:rPr lang="en-US" sz="1100" dirty="0">
                <a:solidFill>
                  <a:srgbClr val="334155"/>
                </a:solidFill>
                <a:latin typeface="Calibri" pitchFamily="34" charset="0"/>
                <a:ea typeface="Calibri" pitchFamily="34" charset="-122"/>
                <a:cs typeface="Calibri" pitchFamily="34" charset="-120"/>
              </a:rPr>
              <a:t>Catalogued</a:t>
            </a:r>
            <a:endParaRPr lang="en-US" sz="1100" dirty="0"/>
          </a:p>
        </p:txBody>
      </p:sp>
      <p:sp>
        <p:nvSpPr>
          <p:cNvPr id="7" name="Shape 4"/>
          <p:cNvSpPr/>
          <p:nvPr/>
        </p:nvSpPr>
        <p:spPr>
          <a:xfrm>
            <a:off x="3291840" y="1005840"/>
            <a:ext cx="2606040" cy="1645920"/>
          </a:xfrm>
          <a:prstGeom prst="rect">
            <a:avLst/>
          </a:prstGeom>
          <a:solidFill>
            <a:srgbClr val="FFFFFF"/>
          </a:solidFill>
          <a:ln/>
          <a:effectLst>
            <a:outerShdw blurRad="76200" dist="25400" dir="8100000" algn="bl" rotWithShape="0">
              <a:srgbClr val="000000">
                <a:alpha val="6000"/>
              </a:srgbClr>
            </a:outerShdw>
          </a:effectLst>
        </p:spPr>
        <p:txBody>
          <a:bodyPr/>
          <a:lstStyle/>
          <a:p>
            <a:endParaRPr lang="LID4096"/>
          </a:p>
        </p:txBody>
      </p:sp>
      <p:pic>
        <p:nvPicPr>
          <p:cNvPr id="8" name="Image 1" descr="preencoded.png"/>
          <p:cNvPicPr>
            <a:picLocks noChangeAspect="1"/>
          </p:cNvPicPr>
          <p:nvPr/>
        </p:nvPicPr>
        <p:blipFill>
          <a:blip r:embed="rId4"/>
          <a:stretch>
            <a:fillRect/>
          </a:stretch>
        </p:blipFill>
        <p:spPr>
          <a:xfrm>
            <a:off x="3520440" y="1188720"/>
            <a:ext cx="320040" cy="320040"/>
          </a:xfrm>
          <a:prstGeom prst="rect">
            <a:avLst/>
          </a:prstGeom>
        </p:spPr>
      </p:pic>
      <p:sp>
        <p:nvSpPr>
          <p:cNvPr id="9" name="Text 5"/>
          <p:cNvSpPr/>
          <p:nvPr/>
        </p:nvSpPr>
        <p:spPr>
          <a:xfrm>
            <a:off x="3931920" y="1143000"/>
            <a:ext cx="1737360" cy="411480"/>
          </a:xfrm>
          <a:prstGeom prst="rect">
            <a:avLst/>
          </a:prstGeom>
          <a:noFill/>
          <a:ln/>
        </p:spPr>
        <p:txBody>
          <a:bodyPr wrap="square" lIns="0" tIns="0" rIns="0" bIns="0" rtlCol="0" anchor="ctr"/>
          <a:lstStyle/>
          <a:p>
            <a:pPr marL="0" indent="0">
              <a:buNone/>
            </a:pPr>
            <a:r>
              <a:rPr lang="en-US" sz="2600" b="1" dirty="0">
                <a:solidFill>
                  <a:srgbClr val="0A595F"/>
                </a:solidFill>
                <a:latin typeface="Georgia" pitchFamily="34" charset="0"/>
                <a:ea typeface="Georgia" pitchFamily="34" charset="-122"/>
                <a:cs typeface="Georgia" pitchFamily="34" charset="-120"/>
              </a:rPr>
              <a:t>565</a:t>
            </a:r>
            <a:endParaRPr lang="en-US" sz="2600" dirty="0"/>
          </a:p>
        </p:txBody>
      </p:sp>
      <p:sp>
        <p:nvSpPr>
          <p:cNvPr id="10" name="Text 6"/>
          <p:cNvSpPr/>
          <p:nvPr/>
        </p:nvSpPr>
        <p:spPr>
          <a:xfrm>
            <a:off x="3520440" y="1645920"/>
            <a:ext cx="2194560" cy="822960"/>
          </a:xfrm>
          <a:prstGeom prst="rect">
            <a:avLst/>
          </a:prstGeom>
          <a:noFill/>
          <a:ln/>
        </p:spPr>
        <p:txBody>
          <a:bodyPr wrap="square" lIns="0" tIns="0" rIns="0" bIns="0" rtlCol="0" anchor="ctr"/>
          <a:lstStyle/>
          <a:p>
            <a:pPr marL="0" indent="0">
              <a:buNone/>
            </a:pPr>
            <a:r>
              <a:rPr lang="en-US" sz="1100" dirty="0">
                <a:solidFill>
                  <a:srgbClr val="334155"/>
                </a:solidFill>
                <a:latin typeface="Calibri" pitchFamily="34" charset="0"/>
                <a:ea typeface="Calibri" pitchFamily="34" charset="-122"/>
                <a:cs typeface="Calibri" pitchFamily="34" charset="-120"/>
              </a:rPr>
              <a:t>Planned Generation</a:t>
            </a:r>
            <a:endParaRPr lang="en-US" sz="1100" dirty="0"/>
          </a:p>
          <a:p>
            <a:pPr marL="0" indent="0">
              <a:buNone/>
            </a:pPr>
            <a:r>
              <a:rPr lang="en-US" sz="1100" dirty="0">
                <a:solidFill>
                  <a:srgbClr val="334155"/>
                </a:solidFill>
                <a:latin typeface="Calibri" pitchFamily="34" charset="0"/>
                <a:ea typeface="Calibri" pitchFamily="34" charset="-122"/>
                <a:cs typeface="Calibri" pitchFamily="34" charset="-120"/>
              </a:rPr>
              <a:t>Projects Tracked</a:t>
            </a:r>
            <a:endParaRPr lang="en-US" sz="1100" dirty="0"/>
          </a:p>
        </p:txBody>
      </p:sp>
      <p:sp>
        <p:nvSpPr>
          <p:cNvPr id="11" name="Shape 7"/>
          <p:cNvSpPr/>
          <p:nvPr/>
        </p:nvSpPr>
        <p:spPr>
          <a:xfrm>
            <a:off x="6126480" y="1005840"/>
            <a:ext cx="2606040" cy="1645920"/>
          </a:xfrm>
          <a:prstGeom prst="rect">
            <a:avLst/>
          </a:prstGeom>
          <a:solidFill>
            <a:srgbClr val="FFFFFF"/>
          </a:solidFill>
          <a:ln/>
          <a:effectLst>
            <a:outerShdw blurRad="76200" dist="25400" dir="8100000" algn="bl" rotWithShape="0">
              <a:srgbClr val="000000">
                <a:alpha val="6000"/>
              </a:srgbClr>
            </a:outerShdw>
          </a:effectLst>
        </p:spPr>
        <p:txBody>
          <a:bodyPr/>
          <a:lstStyle/>
          <a:p>
            <a:endParaRPr lang="LID4096"/>
          </a:p>
        </p:txBody>
      </p:sp>
      <p:pic>
        <p:nvPicPr>
          <p:cNvPr id="12" name="Image 2" descr="preencoded.png"/>
          <p:cNvPicPr>
            <a:picLocks noChangeAspect="1"/>
          </p:cNvPicPr>
          <p:nvPr/>
        </p:nvPicPr>
        <p:blipFill>
          <a:blip r:embed="rId5"/>
          <a:stretch>
            <a:fillRect/>
          </a:stretch>
        </p:blipFill>
        <p:spPr>
          <a:xfrm>
            <a:off x="6355080" y="1188720"/>
            <a:ext cx="320040" cy="320040"/>
          </a:xfrm>
          <a:prstGeom prst="rect">
            <a:avLst/>
          </a:prstGeom>
        </p:spPr>
      </p:pic>
      <p:sp>
        <p:nvSpPr>
          <p:cNvPr id="13" name="Text 8"/>
          <p:cNvSpPr/>
          <p:nvPr/>
        </p:nvSpPr>
        <p:spPr>
          <a:xfrm>
            <a:off x="6766560" y="1143000"/>
            <a:ext cx="1737360" cy="411480"/>
          </a:xfrm>
          <a:prstGeom prst="rect">
            <a:avLst/>
          </a:prstGeom>
          <a:noFill/>
          <a:ln/>
        </p:spPr>
        <p:txBody>
          <a:bodyPr wrap="square" lIns="0" tIns="0" rIns="0" bIns="0" rtlCol="0" anchor="ctr"/>
          <a:lstStyle/>
          <a:p>
            <a:pPr marL="0" indent="0">
              <a:buNone/>
            </a:pPr>
            <a:r>
              <a:rPr lang="en-US" sz="2600" b="1" dirty="0">
                <a:solidFill>
                  <a:srgbClr val="0A595F"/>
                </a:solidFill>
                <a:latin typeface="Georgia" pitchFamily="34" charset="0"/>
                <a:ea typeface="Georgia" pitchFamily="34" charset="-122"/>
                <a:cs typeface="Georgia" pitchFamily="34" charset="-120"/>
              </a:rPr>
              <a:t>2,360+</a:t>
            </a:r>
            <a:endParaRPr lang="en-US" sz="2600" dirty="0"/>
          </a:p>
        </p:txBody>
      </p:sp>
      <p:sp>
        <p:nvSpPr>
          <p:cNvPr id="14" name="Text 9"/>
          <p:cNvSpPr/>
          <p:nvPr/>
        </p:nvSpPr>
        <p:spPr>
          <a:xfrm>
            <a:off x="6355080" y="1645920"/>
            <a:ext cx="2194560" cy="822960"/>
          </a:xfrm>
          <a:prstGeom prst="rect">
            <a:avLst/>
          </a:prstGeom>
          <a:noFill/>
          <a:ln/>
        </p:spPr>
        <p:txBody>
          <a:bodyPr wrap="square" lIns="0" tIns="0" rIns="0" bIns="0" rtlCol="0" anchor="ctr"/>
          <a:lstStyle/>
          <a:p>
            <a:pPr marL="0" indent="0">
              <a:buNone/>
            </a:pPr>
            <a:r>
              <a:rPr lang="en-US" sz="1100" dirty="0">
                <a:solidFill>
                  <a:srgbClr val="334155"/>
                </a:solidFill>
                <a:latin typeface="Calibri" pitchFamily="34" charset="0"/>
                <a:ea typeface="Calibri" pitchFamily="34" charset="-122"/>
                <a:cs typeface="Calibri" pitchFamily="34" charset="-120"/>
              </a:rPr>
              <a:t>Transmission Lines</a:t>
            </a:r>
            <a:endParaRPr lang="en-US" sz="1100" dirty="0"/>
          </a:p>
          <a:p>
            <a:pPr marL="0" indent="0">
              <a:buNone/>
            </a:pPr>
            <a:r>
              <a:rPr lang="en-US" sz="1100" dirty="0">
                <a:solidFill>
                  <a:srgbClr val="334155"/>
                </a:solidFill>
                <a:latin typeface="Calibri" pitchFamily="34" charset="0"/>
                <a:ea typeface="Calibri" pitchFamily="34" charset="-122"/>
                <a:cs typeface="Calibri" pitchFamily="34" charset="-120"/>
              </a:rPr>
              <a:t>Mapped</a:t>
            </a:r>
            <a:endParaRPr lang="en-US" sz="1100" dirty="0"/>
          </a:p>
        </p:txBody>
      </p:sp>
      <p:sp>
        <p:nvSpPr>
          <p:cNvPr id="15" name="Shape 10"/>
          <p:cNvSpPr/>
          <p:nvPr/>
        </p:nvSpPr>
        <p:spPr>
          <a:xfrm>
            <a:off x="457200" y="2880360"/>
            <a:ext cx="2606040" cy="1645920"/>
          </a:xfrm>
          <a:prstGeom prst="rect">
            <a:avLst/>
          </a:prstGeom>
          <a:solidFill>
            <a:srgbClr val="FFFFFF"/>
          </a:solidFill>
          <a:ln/>
          <a:effectLst>
            <a:outerShdw blurRad="76200" dist="25400" dir="8100000" algn="bl" rotWithShape="0">
              <a:srgbClr val="000000">
                <a:alpha val="6000"/>
              </a:srgbClr>
            </a:outerShdw>
          </a:effectLst>
        </p:spPr>
        <p:txBody>
          <a:bodyPr/>
          <a:lstStyle/>
          <a:p>
            <a:endParaRPr lang="LID4096"/>
          </a:p>
        </p:txBody>
      </p:sp>
      <p:pic>
        <p:nvPicPr>
          <p:cNvPr id="16" name="Image 3" descr="preencoded.png"/>
          <p:cNvPicPr>
            <a:picLocks noChangeAspect="1"/>
          </p:cNvPicPr>
          <p:nvPr/>
        </p:nvPicPr>
        <p:blipFill>
          <a:blip r:embed="rId6"/>
          <a:stretch>
            <a:fillRect/>
          </a:stretch>
        </p:blipFill>
        <p:spPr>
          <a:xfrm>
            <a:off x="685800" y="3063240"/>
            <a:ext cx="320040" cy="320040"/>
          </a:xfrm>
          <a:prstGeom prst="rect">
            <a:avLst/>
          </a:prstGeom>
        </p:spPr>
      </p:pic>
      <p:sp>
        <p:nvSpPr>
          <p:cNvPr id="17" name="Text 11"/>
          <p:cNvSpPr/>
          <p:nvPr/>
        </p:nvSpPr>
        <p:spPr>
          <a:xfrm>
            <a:off x="1097280" y="3017520"/>
            <a:ext cx="1737360" cy="411480"/>
          </a:xfrm>
          <a:prstGeom prst="rect">
            <a:avLst/>
          </a:prstGeom>
          <a:noFill/>
          <a:ln/>
        </p:spPr>
        <p:txBody>
          <a:bodyPr wrap="square" lIns="0" tIns="0" rIns="0" bIns="0" rtlCol="0" anchor="ctr"/>
          <a:lstStyle/>
          <a:p>
            <a:pPr marL="0" indent="0">
              <a:buNone/>
            </a:pPr>
            <a:r>
              <a:rPr lang="en-US" sz="2600" b="1" dirty="0">
                <a:solidFill>
                  <a:srgbClr val="0A595F"/>
                </a:solidFill>
                <a:latin typeface="Georgia" pitchFamily="34" charset="0"/>
                <a:ea typeface="Georgia" pitchFamily="34" charset="-122"/>
                <a:cs typeface="Georgia" pitchFamily="34" charset="-120"/>
              </a:rPr>
              <a:t>2,160</a:t>
            </a:r>
            <a:endParaRPr lang="en-US" sz="2600" dirty="0"/>
          </a:p>
        </p:txBody>
      </p:sp>
      <p:sp>
        <p:nvSpPr>
          <p:cNvPr id="18" name="Text 12"/>
          <p:cNvSpPr/>
          <p:nvPr/>
        </p:nvSpPr>
        <p:spPr>
          <a:xfrm>
            <a:off x="685800" y="3520440"/>
            <a:ext cx="2194560" cy="822960"/>
          </a:xfrm>
          <a:prstGeom prst="rect">
            <a:avLst/>
          </a:prstGeom>
          <a:noFill/>
          <a:ln/>
        </p:spPr>
        <p:txBody>
          <a:bodyPr wrap="square" lIns="0" tIns="0" rIns="0" bIns="0" rtlCol="0" anchor="ctr"/>
          <a:lstStyle/>
          <a:p>
            <a:pPr marL="0" indent="0">
              <a:buNone/>
            </a:pPr>
            <a:r>
              <a:rPr lang="en-US" sz="1100" dirty="0">
                <a:solidFill>
                  <a:srgbClr val="334155"/>
                </a:solidFill>
                <a:latin typeface="Calibri" pitchFamily="34" charset="0"/>
                <a:ea typeface="Calibri" pitchFamily="34" charset="-122"/>
                <a:cs typeface="Calibri" pitchFamily="34" charset="-120"/>
              </a:rPr>
              <a:t>VRE Timeslice Records</a:t>
            </a:r>
            <a:endParaRPr lang="en-US" sz="1100" dirty="0"/>
          </a:p>
          <a:p>
            <a:pPr marL="0" indent="0">
              <a:buNone/>
            </a:pPr>
            <a:r>
              <a:rPr lang="en-US" sz="1100" dirty="0">
                <a:solidFill>
                  <a:srgbClr val="334155"/>
                </a:solidFill>
                <a:latin typeface="Calibri" pitchFamily="34" charset="0"/>
                <a:ea typeface="Calibri" pitchFamily="34" charset="-122"/>
                <a:cs typeface="Calibri" pitchFamily="34" charset="-120"/>
              </a:rPr>
              <a:t>(Solar + Wind)</a:t>
            </a:r>
            <a:endParaRPr lang="en-US" sz="1100" dirty="0"/>
          </a:p>
        </p:txBody>
      </p:sp>
      <p:sp>
        <p:nvSpPr>
          <p:cNvPr id="19" name="Shape 13"/>
          <p:cNvSpPr/>
          <p:nvPr/>
        </p:nvSpPr>
        <p:spPr>
          <a:xfrm>
            <a:off x="3291840" y="2880360"/>
            <a:ext cx="2606040" cy="1645920"/>
          </a:xfrm>
          <a:prstGeom prst="rect">
            <a:avLst/>
          </a:prstGeom>
          <a:solidFill>
            <a:srgbClr val="FFFFFF"/>
          </a:solidFill>
          <a:ln/>
          <a:effectLst>
            <a:outerShdw blurRad="76200" dist="25400" dir="8100000" algn="bl" rotWithShape="0">
              <a:srgbClr val="000000">
                <a:alpha val="6000"/>
              </a:srgbClr>
            </a:outerShdw>
          </a:effectLst>
        </p:spPr>
        <p:txBody>
          <a:bodyPr/>
          <a:lstStyle/>
          <a:p>
            <a:endParaRPr lang="LID4096"/>
          </a:p>
        </p:txBody>
      </p:sp>
      <p:pic>
        <p:nvPicPr>
          <p:cNvPr id="20" name="Image 4" descr="preencoded.png"/>
          <p:cNvPicPr>
            <a:picLocks noChangeAspect="1"/>
          </p:cNvPicPr>
          <p:nvPr/>
        </p:nvPicPr>
        <p:blipFill>
          <a:blip r:embed="rId7"/>
          <a:stretch>
            <a:fillRect/>
          </a:stretch>
        </p:blipFill>
        <p:spPr>
          <a:xfrm>
            <a:off x="3520440" y="3063240"/>
            <a:ext cx="320040" cy="320040"/>
          </a:xfrm>
          <a:prstGeom prst="rect">
            <a:avLst/>
          </a:prstGeom>
        </p:spPr>
      </p:pic>
      <p:sp>
        <p:nvSpPr>
          <p:cNvPr id="21" name="Text 14"/>
          <p:cNvSpPr/>
          <p:nvPr/>
        </p:nvSpPr>
        <p:spPr>
          <a:xfrm>
            <a:off x="3931920" y="3017520"/>
            <a:ext cx="1737360" cy="411480"/>
          </a:xfrm>
          <a:prstGeom prst="rect">
            <a:avLst/>
          </a:prstGeom>
          <a:noFill/>
          <a:ln/>
        </p:spPr>
        <p:txBody>
          <a:bodyPr wrap="square" lIns="0" tIns="0" rIns="0" bIns="0" rtlCol="0" anchor="ctr"/>
          <a:lstStyle/>
          <a:p>
            <a:pPr marL="0" indent="0">
              <a:buNone/>
            </a:pPr>
            <a:r>
              <a:rPr lang="en-US" sz="2600" b="1" dirty="0">
                <a:solidFill>
                  <a:srgbClr val="0A595F"/>
                </a:solidFill>
                <a:latin typeface="Georgia" pitchFamily="34" charset="0"/>
                <a:ea typeface="Georgia" pitchFamily="34" charset="-122"/>
                <a:cs typeface="Georgia" pitchFamily="34" charset="-120"/>
              </a:rPr>
              <a:t>13</a:t>
            </a:r>
            <a:endParaRPr lang="en-US" sz="2600" dirty="0"/>
          </a:p>
        </p:txBody>
      </p:sp>
      <p:sp>
        <p:nvSpPr>
          <p:cNvPr id="22" name="Text 15"/>
          <p:cNvSpPr/>
          <p:nvPr/>
        </p:nvSpPr>
        <p:spPr>
          <a:xfrm>
            <a:off x="3520440" y="3520440"/>
            <a:ext cx="2194560" cy="822960"/>
          </a:xfrm>
          <a:prstGeom prst="rect">
            <a:avLst/>
          </a:prstGeom>
          <a:noFill/>
          <a:ln/>
        </p:spPr>
        <p:txBody>
          <a:bodyPr wrap="square" lIns="0" tIns="0" rIns="0" bIns="0" rtlCol="0" anchor="ctr"/>
          <a:lstStyle/>
          <a:p>
            <a:pPr marL="0" indent="0">
              <a:buNone/>
            </a:pPr>
            <a:r>
              <a:rPr lang="en-US" sz="1100" dirty="0">
                <a:solidFill>
                  <a:srgbClr val="334155"/>
                </a:solidFill>
                <a:latin typeface="Calibri" pitchFamily="34" charset="0"/>
                <a:ea typeface="Calibri" pitchFamily="34" charset="-122"/>
                <a:cs typeface="Calibri" pitchFamily="34" charset="-120"/>
              </a:rPr>
              <a:t>Cross-Border</a:t>
            </a:r>
            <a:endParaRPr lang="en-US" sz="1100" dirty="0"/>
          </a:p>
          <a:p>
            <a:pPr marL="0" indent="0">
              <a:buNone/>
            </a:pPr>
            <a:r>
              <a:rPr lang="en-US" sz="1100" dirty="0">
                <a:solidFill>
                  <a:srgbClr val="334155"/>
                </a:solidFill>
                <a:latin typeface="Calibri" pitchFamily="34" charset="0"/>
                <a:ea typeface="Calibri" pitchFamily="34" charset="-122"/>
                <a:cs typeface="Calibri" pitchFamily="34" charset="-120"/>
              </a:rPr>
              <a:t>Interconnectors</a:t>
            </a:r>
            <a:endParaRPr lang="en-US" sz="1100" dirty="0"/>
          </a:p>
        </p:txBody>
      </p:sp>
      <p:sp>
        <p:nvSpPr>
          <p:cNvPr id="23" name="Shape 16"/>
          <p:cNvSpPr/>
          <p:nvPr/>
        </p:nvSpPr>
        <p:spPr>
          <a:xfrm>
            <a:off x="6126480" y="2880360"/>
            <a:ext cx="2606040" cy="1645920"/>
          </a:xfrm>
          <a:prstGeom prst="rect">
            <a:avLst/>
          </a:prstGeom>
          <a:solidFill>
            <a:srgbClr val="FFFFFF"/>
          </a:solidFill>
          <a:ln/>
          <a:effectLst>
            <a:outerShdw blurRad="76200" dist="25400" dir="8100000" algn="bl" rotWithShape="0">
              <a:srgbClr val="000000">
                <a:alpha val="6000"/>
              </a:srgbClr>
            </a:outerShdw>
          </a:effectLst>
        </p:spPr>
        <p:txBody>
          <a:bodyPr/>
          <a:lstStyle/>
          <a:p>
            <a:endParaRPr lang="LID4096"/>
          </a:p>
        </p:txBody>
      </p:sp>
      <p:pic>
        <p:nvPicPr>
          <p:cNvPr id="24" name="Image 5" descr="preencoded.png"/>
          <p:cNvPicPr>
            <a:picLocks noChangeAspect="1"/>
          </p:cNvPicPr>
          <p:nvPr/>
        </p:nvPicPr>
        <p:blipFill>
          <a:blip r:embed="rId8"/>
          <a:stretch>
            <a:fillRect/>
          </a:stretch>
        </p:blipFill>
        <p:spPr>
          <a:xfrm>
            <a:off x="6355080" y="3063240"/>
            <a:ext cx="320040" cy="320040"/>
          </a:xfrm>
          <a:prstGeom prst="rect">
            <a:avLst/>
          </a:prstGeom>
        </p:spPr>
      </p:pic>
      <p:sp>
        <p:nvSpPr>
          <p:cNvPr id="25" name="Text 17"/>
          <p:cNvSpPr/>
          <p:nvPr/>
        </p:nvSpPr>
        <p:spPr>
          <a:xfrm>
            <a:off x="6766560" y="3017520"/>
            <a:ext cx="1737360" cy="411480"/>
          </a:xfrm>
          <a:prstGeom prst="rect">
            <a:avLst/>
          </a:prstGeom>
          <a:noFill/>
          <a:ln/>
        </p:spPr>
        <p:txBody>
          <a:bodyPr wrap="square" lIns="0" tIns="0" rIns="0" bIns="0" rtlCol="0" anchor="ctr"/>
          <a:lstStyle/>
          <a:p>
            <a:pPr marL="0" indent="0">
              <a:buNone/>
            </a:pPr>
            <a:r>
              <a:rPr lang="en-US" sz="2600" b="1" dirty="0">
                <a:solidFill>
                  <a:srgbClr val="0A595F"/>
                </a:solidFill>
                <a:latin typeface="Georgia" pitchFamily="34" charset="0"/>
                <a:ea typeface="Georgia" pitchFamily="34" charset="-122"/>
                <a:cs typeface="Georgia" pitchFamily="34" charset="-120"/>
              </a:rPr>
              <a:t>28</a:t>
            </a:r>
            <a:endParaRPr lang="en-US" sz="2600" dirty="0"/>
          </a:p>
        </p:txBody>
      </p:sp>
      <p:sp>
        <p:nvSpPr>
          <p:cNvPr id="26" name="Text 18"/>
          <p:cNvSpPr/>
          <p:nvPr/>
        </p:nvSpPr>
        <p:spPr>
          <a:xfrm>
            <a:off x="6355080" y="3520440"/>
            <a:ext cx="2194560" cy="822960"/>
          </a:xfrm>
          <a:prstGeom prst="rect">
            <a:avLst/>
          </a:prstGeom>
          <a:noFill/>
          <a:ln/>
        </p:spPr>
        <p:txBody>
          <a:bodyPr wrap="square" lIns="0" tIns="0" rIns="0" bIns="0" rtlCol="0" anchor="ctr"/>
          <a:lstStyle/>
          <a:p>
            <a:pPr marL="0" indent="0">
              <a:buNone/>
            </a:pPr>
            <a:r>
              <a:rPr lang="en-US" sz="1100" dirty="0">
                <a:solidFill>
                  <a:srgbClr val="334155"/>
                </a:solidFill>
                <a:latin typeface="Calibri" pitchFamily="34" charset="0"/>
                <a:ea typeface="Calibri" pitchFamily="34" charset="-122"/>
                <a:cs typeface="Calibri" pitchFamily="34" charset="-120"/>
              </a:rPr>
              <a:t>Verified Cost Sources</a:t>
            </a:r>
            <a:endParaRPr lang="en-US" sz="1100" dirty="0"/>
          </a:p>
          <a:p>
            <a:pPr marL="0" indent="0">
              <a:buNone/>
            </a:pPr>
            <a:r>
              <a:rPr lang="en-US" sz="1100" dirty="0">
                <a:solidFill>
                  <a:srgbClr val="334155"/>
                </a:solidFill>
                <a:latin typeface="Calibri" pitchFamily="34" charset="0"/>
                <a:ea typeface="Calibri" pitchFamily="34" charset="-122"/>
                <a:cs typeface="Calibri" pitchFamily="34" charset="-120"/>
              </a:rPr>
              <a:t>in Registry</a:t>
            </a:r>
            <a:endParaRPr lang="en-US" sz="1100" dirty="0"/>
          </a:p>
        </p:txBody>
      </p:sp>
      <p:sp>
        <p:nvSpPr>
          <p:cNvPr id="27" name="Shape 19"/>
          <p:cNvSpPr/>
          <p:nvPr/>
        </p:nvSpPr>
        <p:spPr>
          <a:xfrm>
            <a:off x="0" y="4709160"/>
            <a:ext cx="9144000" cy="434340"/>
          </a:xfrm>
          <a:prstGeom prst="rect">
            <a:avLst/>
          </a:prstGeom>
          <a:solidFill>
            <a:srgbClr val="00414D"/>
          </a:solidFill>
          <a:ln/>
        </p:spPr>
        <p:txBody>
          <a:bodyPr/>
          <a:lstStyle/>
          <a:p>
            <a:endParaRPr lang="LID4096"/>
          </a:p>
        </p:txBody>
      </p:sp>
      <p:sp>
        <p:nvSpPr>
          <p:cNvPr id="28" name="Text 20"/>
          <p:cNvSpPr/>
          <p:nvPr/>
        </p:nvSpPr>
        <p:spPr>
          <a:xfrm>
            <a:off x="457200" y="4727448"/>
            <a:ext cx="8229600" cy="393192"/>
          </a:xfrm>
          <a:prstGeom prst="rect">
            <a:avLst/>
          </a:prstGeom>
          <a:noFill/>
          <a:ln/>
        </p:spPr>
        <p:txBody>
          <a:bodyPr wrap="square" rtlCol="0" anchor="ctr"/>
          <a:lstStyle/>
          <a:p>
            <a:pPr marL="0" indent="0">
              <a:buNone/>
            </a:pPr>
            <a:r>
              <a:rPr lang="en-US" sz="800" dirty="0">
                <a:solidFill>
                  <a:srgbClr val="64748B"/>
                </a:solidFill>
                <a:latin typeface="Calibri" pitchFamily="34" charset="0"/>
                <a:ea typeface="Calibri" pitchFamily="34" charset="-122"/>
                <a:cs typeface="Calibri" pitchFamily="34" charset="-120"/>
              </a:rPr>
              <a:t>OSTRAM — Data Package v1.0  |  UN ESCAP Energy Division  |  March 2026</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0F5F5"/>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457200"/>
          </a:xfrm>
          <a:prstGeom prst="rect">
            <a:avLst/>
          </a:prstGeom>
          <a:noFill/>
          <a:ln/>
        </p:spPr>
        <p:txBody>
          <a:bodyPr wrap="square" lIns="0" tIns="0" rIns="0" bIns="0" rtlCol="0" anchor="ctr"/>
          <a:lstStyle/>
          <a:p>
            <a:pPr marL="0" indent="0">
              <a:buNone/>
            </a:pPr>
            <a:r>
              <a:rPr lang="en-US" sz="2600" b="1" dirty="0">
                <a:solidFill>
                  <a:srgbClr val="00414D"/>
                </a:solidFill>
                <a:latin typeface="Georgia" pitchFamily="34" charset="0"/>
                <a:ea typeface="Georgia" pitchFamily="34" charset="-122"/>
                <a:cs typeface="Georgia" pitchFamily="34" charset="-120"/>
              </a:rPr>
              <a:t>Data Completeness at a Glance</a:t>
            </a:r>
            <a:endParaRPr lang="en-US" sz="2600" dirty="0"/>
          </a:p>
        </p:txBody>
      </p:sp>
      <p:sp>
        <p:nvSpPr>
          <p:cNvPr id="3" name="Shape 1"/>
          <p:cNvSpPr/>
          <p:nvPr/>
        </p:nvSpPr>
        <p:spPr>
          <a:xfrm>
            <a:off x="457200" y="804672"/>
            <a:ext cx="146304" cy="146304"/>
          </a:xfrm>
          <a:prstGeom prst="ellipse">
            <a:avLst/>
          </a:prstGeom>
          <a:solidFill>
            <a:srgbClr val="10B981"/>
          </a:solidFill>
          <a:ln/>
        </p:spPr>
        <p:txBody>
          <a:bodyPr/>
          <a:lstStyle/>
          <a:p>
            <a:endParaRPr lang="LID4096"/>
          </a:p>
        </p:txBody>
      </p:sp>
      <p:sp>
        <p:nvSpPr>
          <p:cNvPr id="4" name="Text 2"/>
          <p:cNvSpPr/>
          <p:nvPr/>
        </p:nvSpPr>
        <p:spPr>
          <a:xfrm>
            <a:off x="658368" y="777240"/>
            <a:ext cx="822960" cy="201168"/>
          </a:xfrm>
          <a:prstGeom prst="rect">
            <a:avLst/>
          </a:prstGeom>
          <a:noFill/>
          <a:ln/>
        </p:spPr>
        <p:txBody>
          <a:bodyPr wrap="square" lIns="0" tIns="0" rIns="0" bIns="0" rtlCol="0" anchor="ctr"/>
          <a:lstStyle/>
          <a:p>
            <a:pPr marL="0" indent="0">
              <a:buNone/>
            </a:pPr>
            <a:r>
              <a:rPr lang="en-US" sz="900" dirty="0">
                <a:solidFill>
                  <a:srgbClr val="334155"/>
                </a:solidFill>
                <a:latin typeface="Calibri" pitchFamily="34" charset="0"/>
                <a:ea typeface="Calibri" pitchFamily="34" charset="-122"/>
                <a:cs typeface="Calibri" pitchFamily="34" charset="-120"/>
              </a:rPr>
              <a:t>Complete</a:t>
            </a:r>
            <a:endParaRPr lang="en-US" sz="900" dirty="0"/>
          </a:p>
        </p:txBody>
      </p:sp>
      <p:sp>
        <p:nvSpPr>
          <p:cNvPr id="5" name="Shape 3"/>
          <p:cNvSpPr/>
          <p:nvPr/>
        </p:nvSpPr>
        <p:spPr>
          <a:xfrm>
            <a:off x="1554480" y="804672"/>
            <a:ext cx="146304" cy="146304"/>
          </a:xfrm>
          <a:prstGeom prst="ellipse">
            <a:avLst/>
          </a:prstGeom>
          <a:solidFill>
            <a:srgbClr val="F59E0B"/>
          </a:solidFill>
          <a:ln/>
        </p:spPr>
        <p:txBody>
          <a:bodyPr/>
          <a:lstStyle/>
          <a:p>
            <a:endParaRPr lang="LID4096"/>
          </a:p>
        </p:txBody>
      </p:sp>
      <p:sp>
        <p:nvSpPr>
          <p:cNvPr id="6" name="Text 4"/>
          <p:cNvSpPr/>
          <p:nvPr/>
        </p:nvSpPr>
        <p:spPr>
          <a:xfrm>
            <a:off x="1755648" y="777240"/>
            <a:ext cx="731520" cy="201168"/>
          </a:xfrm>
          <a:prstGeom prst="rect">
            <a:avLst/>
          </a:prstGeom>
          <a:noFill/>
          <a:ln/>
        </p:spPr>
        <p:txBody>
          <a:bodyPr wrap="square" lIns="0" tIns="0" rIns="0" bIns="0" rtlCol="0" anchor="ctr"/>
          <a:lstStyle/>
          <a:p>
            <a:pPr marL="0" indent="0">
              <a:buNone/>
            </a:pPr>
            <a:r>
              <a:rPr lang="en-US" sz="900" dirty="0">
                <a:solidFill>
                  <a:srgbClr val="334155"/>
                </a:solidFill>
                <a:latin typeface="Calibri" pitchFamily="34" charset="0"/>
                <a:ea typeface="Calibri" pitchFamily="34" charset="-122"/>
                <a:cs typeface="Calibri" pitchFamily="34" charset="-120"/>
              </a:rPr>
              <a:t>Partial</a:t>
            </a:r>
            <a:endParaRPr lang="en-US" sz="900" dirty="0"/>
          </a:p>
        </p:txBody>
      </p:sp>
      <p:sp>
        <p:nvSpPr>
          <p:cNvPr id="7" name="Shape 5"/>
          <p:cNvSpPr/>
          <p:nvPr/>
        </p:nvSpPr>
        <p:spPr>
          <a:xfrm>
            <a:off x="2514600" y="804672"/>
            <a:ext cx="146304" cy="146304"/>
          </a:xfrm>
          <a:prstGeom prst="ellipse">
            <a:avLst/>
          </a:prstGeom>
          <a:solidFill>
            <a:srgbClr val="EF4444"/>
          </a:solidFill>
          <a:ln/>
        </p:spPr>
        <p:txBody>
          <a:bodyPr/>
          <a:lstStyle/>
          <a:p>
            <a:endParaRPr lang="LID4096"/>
          </a:p>
        </p:txBody>
      </p:sp>
      <p:sp>
        <p:nvSpPr>
          <p:cNvPr id="8" name="Text 6"/>
          <p:cNvSpPr/>
          <p:nvPr/>
        </p:nvSpPr>
        <p:spPr>
          <a:xfrm>
            <a:off x="2715768" y="777240"/>
            <a:ext cx="548640" cy="201168"/>
          </a:xfrm>
          <a:prstGeom prst="rect">
            <a:avLst/>
          </a:prstGeom>
          <a:noFill/>
          <a:ln/>
        </p:spPr>
        <p:txBody>
          <a:bodyPr wrap="square" lIns="0" tIns="0" rIns="0" bIns="0" rtlCol="0" anchor="ctr"/>
          <a:lstStyle/>
          <a:p>
            <a:pPr marL="0" indent="0">
              <a:buNone/>
            </a:pPr>
            <a:r>
              <a:rPr lang="en-US" sz="900" dirty="0">
                <a:solidFill>
                  <a:srgbClr val="334155"/>
                </a:solidFill>
                <a:latin typeface="Calibri" pitchFamily="34" charset="0"/>
                <a:ea typeface="Calibri" pitchFamily="34" charset="-122"/>
                <a:cs typeface="Calibri" pitchFamily="34" charset="-120"/>
              </a:rPr>
              <a:t>Gap</a:t>
            </a:r>
            <a:endParaRPr lang="en-US" sz="900" dirty="0"/>
          </a:p>
        </p:txBody>
      </p:sp>
      <p:graphicFrame>
        <p:nvGraphicFramePr>
          <p:cNvPr id="9" name="Table 0"/>
          <p:cNvGraphicFramePr>
            <a:graphicFrameLocks noGrp="1"/>
          </p:cNvGraphicFramePr>
          <p:nvPr>
            <p:extLst>
              <p:ext uri="{D42A27DB-BD31-4B8C-83A1-F6EECF244321}">
                <p14:modId xmlns:p14="http://schemas.microsoft.com/office/powerpoint/2010/main" val="2018309460"/>
              </p:ext>
            </p:extLst>
          </p:nvPr>
        </p:nvGraphicFramePr>
        <p:xfrm>
          <a:off x="457200" y="1051560"/>
          <a:ext cx="8138160" cy="3078480"/>
        </p:xfrm>
        <a:graphic>
          <a:graphicData uri="http://schemas.openxmlformats.org/drawingml/2006/table">
            <a:tbl>
              <a:tblPr/>
              <a:tblGrid>
                <a:gridCol w="2926080">
                  <a:extLst>
                    <a:ext uri="{9D8B030D-6E8A-4147-A177-3AD203B41FA5}">
                      <a16:colId xmlns:a16="http://schemas.microsoft.com/office/drawing/2014/main" val="20000"/>
                    </a:ext>
                  </a:extLst>
                </a:gridCol>
                <a:gridCol w="868680">
                  <a:extLst>
                    <a:ext uri="{9D8B030D-6E8A-4147-A177-3AD203B41FA5}">
                      <a16:colId xmlns:a16="http://schemas.microsoft.com/office/drawing/2014/main" val="20001"/>
                    </a:ext>
                  </a:extLst>
                </a:gridCol>
                <a:gridCol w="868680">
                  <a:extLst>
                    <a:ext uri="{9D8B030D-6E8A-4147-A177-3AD203B41FA5}">
                      <a16:colId xmlns:a16="http://schemas.microsoft.com/office/drawing/2014/main" val="20002"/>
                    </a:ext>
                  </a:extLst>
                </a:gridCol>
                <a:gridCol w="868680">
                  <a:extLst>
                    <a:ext uri="{9D8B030D-6E8A-4147-A177-3AD203B41FA5}">
                      <a16:colId xmlns:a16="http://schemas.microsoft.com/office/drawing/2014/main" val="20003"/>
                    </a:ext>
                  </a:extLst>
                </a:gridCol>
                <a:gridCol w="868680">
                  <a:extLst>
                    <a:ext uri="{9D8B030D-6E8A-4147-A177-3AD203B41FA5}">
                      <a16:colId xmlns:a16="http://schemas.microsoft.com/office/drawing/2014/main" val="20004"/>
                    </a:ext>
                  </a:extLst>
                </a:gridCol>
                <a:gridCol w="868680">
                  <a:extLst>
                    <a:ext uri="{9D8B030D-6E8A-4147-A177-3AD203B41FA5}">
                      <a16:colId xmlns:a16="http://schemas.microsoft.com/office/drawing/2014/main" val="20005"/>
                    </a:ext>
                  </a:extLst>
                </a:gridCol>
                <a:gridCol w="868680">
                  <a:extLst>
                    <a:ext uri="{9D8B030D-6E8A-4147-A177-3AD203B41FA5}">
                      <a16:colId xmlns:a16="http://schemas.microsoft.com/office/drawing/2014/main" val="20006"/>
                    </a:ext>
                  </a:extLst>
                </a:gridCol>
              </a:tblGrid>
              <a:tr h="0">
                <a:tc>
                  <a:txBody>
                    <a:bodyPr/>
                    <a:lstStyle/>
                    <a:p>
                      <a:pPr marL="0" indent="0" algn="l">
                        <a:buNone/>
                      </a:pPr>
                      <a:r>
                        <a:rPr lang="en-US" sz="900" b="1" dirty="0">
                          <a:solidFill>
                            <a:srgbClr val="FFFFFF"/>
                          </a:solidFill>
                          <a:latin typeface="Calibri" pitchFamily="34" charset="0"/>
                          <a:ea typeface="Calibri" pitchFamily="34" charset="-122"/>
                          <a:cs typeface="Calibri" pitchFamily="34" charset="-120"/>
                        </a:rPr>
                        <a:t>Data Dimension</a:t>
                      </a:r>
                      <a:endParaRPr lang="en-US" sz="900" dirty="0">
                        <a:latin typeface="Calibri" charset="0"/>
                        <a:ea typeface="Calibri" charset="0"/>
                        <a:cs typeface="Calibri" charset="0"/>
                      </a:endParaRPr>
                    </a:p>
                  </a:txBody>
                  <a:tcPr anchor="ctr">
                    <a:lnL w="6350" cap="flat" cmpd="sng" algn="ctr">
                      <a:solidFill>
                        <a:srgbClr val="C5D8D8"/>
                      </a:solidFill>
                      <a:prstDash val="solid"/>
                      <a:round/>
                      <a:headEnd type="none" w="med" len="med"/>
                      <a:tailEnd type="none" w="med" len="med"/>
                    </a:lnL>
                    <a:lnR w="6350" cap="flat" cmpd="sng" algn="ctr">
                      <a:solidFill>
                        <a:srgbClr val="C5D8D8"/>
                      </a:solidFill>
                      <a:prstDash val="solid"/>
                      <a:round/>
                      <a:headEnd type="none" w="med" len="med"/>
                      <a:tailEnd type="none" w="med" len="med"/>
                    </a:lnR>
                    <a:lnT w="6350" cap="flat" cmpd="sng" algn="ctr">
                      <a:solidFill>
                        <a:srgbClr val="C5D8D8"/>
                      </a:solidFill>
                      <a:prstDash val="solid"/>
                      <a:round/>
                      <a:headEnd type="none" w="med" len="med"/>
                      <a:tailEnd type="none" w="med" len="med"/>
                    </a:lnT>
                    <a:lnB w="6350" cap="flat" cmpd="sng" algn="ctr">
                      <a:solidFill>
                        <a:srgbClr val="C5D8D8"/>
                      </a:solidFill>
                      <a:prstDash val="solid"/>
                      <a:round/>
                      <a:headEnd type="none" w="med" len="med"/>
                      <a:tailEnd type="none" w="med" len="med"/>
                    </a:lnB>
                    <a:solidFill>
                      <a:srgbClr val="0A595F"/>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BGD</a:t>
                      </a:r>
                      <a:endParaRPr lang="en-US" sz="900" dirty="0">
                        <a:latin typeface="Calibri" charset="0"/>
                        <a:ea typeface="Calibri" charset="0"/>
                        <a:cs typeface="Calibri" charset="0"/>
                      </a:endParaRPr>
                    </a:p>
                  </a:txBody>
                  <a:tcPr anchor="ctr">
                    <a:lnL w="6350" cap="flat" cmpd="sng" algn="ctr">
                      <a:solidFill>
                        <a:srgbClr val="C5D8D8"/>
                      </a:solidFill>
                      <a:prstDash val="solid"/>
                      <a:round/>
                      <a:headEnd type="none" w="med" len="med"/>
                      <a:tailEnd type="none" w="med" len="med"/>
                    </a:lnL>
                    <a:lnR w="6350" cap="flat" cmpd="sng" algn="ctr">
                      <a:solidFill>
                        <a:srgbClr val="C5D8D8"/>
                      </a:solidFill>
                      <a:prstDash val="solid"/>
                      <a:round/>
                      <a:headEnd type="none" w="med" len="med"/>
                      <a:tailEnd type="none" w="med" len="med"/>
                    </a:lnR>
                    <a:lnT w="6350" cap="flat" cmpd="sng" algn="ctr">
                      <a:solidFill>
                        <a:srgbClr val="C5D8D8"/>
                      </a:solidFill>
                      <a:prstDash val="solid"/>
                      <a:round/>
                      <a:headEnd type="none" w="med" len="med"/>
                      <a:tailEnd type="none" w="med" len="med"/>
                    </a:lnT>
                    <a:lnB w="6350" cap="flat" cmpd="sng" algn="ctr">
                      <a:solidFill>
                        <a:srgbClr val="C5D8D8"/>
                      </a:solidFill>
                      <a:prstDash val="solid"/>
                      <a:round/>
                      <a:headEnd type="none" w="med" len="med"/>
                      <a:tailEnd type="none" w="med" len="med"/>
                    </a:lnB>
                    <a:solidFill>
                      <a:srgbClr val="0A595F"/>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BTN</a:t>
                      </a:r>
                      <a:endParaRPr lang="en-US" sz="900" dirty="0">
                        <a:latin typeface="Calibri" charset="0"/>
                        <a:ea typeface="Calibri" charset="0"/>
                        <a:cs typeface="Calibri" charset="0"/>
                      </a:endParaRPr>
                    </a:p>
                  </a:txBody>
                  <a:tcPr anchor="ctr">
                    <a:lnL w="6350" cap="flat" cmpd="sng" algn="ctr">
                      <a:solidFill>
                        <a:srgbClr val="C5D8D8"/>
                      </a:solidFill>
                      <a:prstDash val="solid"/>
                      <a:round/>
                      <a:headEnd type="none" w="med" len="med"/>
                      <a:tailEnd type="none" w="med" len="med"/>
                    </a:lnL>
                    <a:lnR w="6350" cap="flat" cmpd="sng" algn="ctr">
                      <a:solidFill>
                        <a:srgbClr val="C5D8D8"/>
                      </a:solidFill>
                      <a:prstDash val="solid"/>
                      <a:round/>
                      <a:headEnd type="none" w="med" len="med"/>
                      <a:tailEnd type="none" w="med" len="med"/>
                    </a:lnR>
                    <a:lnT w="6350" cap="flat" cmpd="sng" algn="ctr">
                      <a:solidFill>
                        <a:srgbClr val="C5D8D8"/>
                      </a:solidFill>
                      <a:prstDash val="solid"/>
                      <a:round/>
                      <a:headEnd type="none" w="med" len="med"/>
                      <a:tailEnd type="none" w="med" len="med"/>
                    </a:lnT>
                    <a:lnB w="6350" cap="flat" cmpd="sng" algn="ctr">
                      <a:solidFill>
                        <a:srgbClr val="C5D8D8"/>
                      </a:solidFill>
                      <a:prstDash val="solid"/>
                      <a:round/>
                      <a:headEnd type="none" w="med" len="med"/>
                      <a:tailEnd type="none" w="med" len="med"/>
                    </a:lnB>
                    <a:solidFill>
                      <a:srgbClr val="0A595F"/>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IND</a:t>
                      </a:r>
                      <a:endParaRPr lang="en-US" sz="900" dirty="0">
                        <a:latin typeface="Calibri" charset="0"/>
                        <a:ea typeface="Calibri" charset="0"/>
                        <a:cs typeface="Calibri" charset="0"/>
                      </a:endParaRPr>
                    </a:p>
                  </a:txBody>
                  <a:tcPr anchor="ctr">
                    <a:lnL w="6350" cap="flat" cmpd="sng" algn="ctr">
                      <a:solidFill>
                        <a:srgbClr val="C5D8D8"/>
                      </a:solidFill>
                      <a:prstDash val="solid"/>
                      <a:round/>
                      <a:headEnd type="none" w="med" len="med"/>
                      <a:tailEnd type="none" w="med" len="med"/>
                    </a:lnL>
                    <a:lnR w="6350" cap="flat" cmpd="sng" algn="ctr">
                      <a:solidFill>
                        <a:srgbClr val="C5D8D8"/>
                      </a:solidFill>
                      <a:prstDash val="solid"/>
                      <a:round/>
                      <a:headEnd type="none" w="med" len="med"/>
                      <a:tailEnd type="none" w="med" len="med"/>
                    </a:lnR>
                    <a:lnT w="6350" cap="flat" cmpd="sng" algn="ctr">
                      <a:solidFill>
                        <a:srgbClr val="C5D8D8"/>
                      </a:solidFill>
                      <a:prstDash val="solid"/>
                      <a:round/>
                      <a:headEnd type="none" w="med" len="med"/>
                      <a:tailEnd type="none" w="med" len="med"/>
                    </a:lnT>
                    <a:lnB w="6350" cap="flat" cmpd="sng" algn="ctr">
                      <a:solidFill>
                        <a:srgbClr val="C5D8D8"/>
                      </a:solidFill>
                      <a:prstDash val="solid"/>
                      <a:round/>
                      <a:headEnd type="none" w="med" len="med"/>
                      <a:tailEnd type="none" w="med" len="med"/>
                    </a:lnB>
                    <a:solidFill>
                      <a:srgbClr val="0A595F"/>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MDV</a:t>
                      </a:r>
                      <a:endParaRPr lang="en-US" sz="900" dirty="0">
                        <a:latin typeface="Calibri" charset="0"/>
                        <a:ea typeface="Calibri" charset="0"/>
                        <a:cs typeface="Calibri" charset="0"/>
                      </a:endParaRPr>
                    </a:p>
                  </a:txBody>
                  <a:tcPr anchor="ctr">
                    <a:lnL w="6350" cap="flat" cmpd="sng" algn="ctr">
                      <a:solidFill>
                        <a:srgbClr val="C5D8D8"/>
                      </a:solidFill>
                      <a:prstDash val="solid"/>
                      <a:round/>
                      <a:headEnd type="none" w="med" len="med"/>
                      <a:tailEnd type="none" w="med" len="med"/>
                    </a:lnL>
                    <a:lnR w="6350" cap="flat" cmpd="sng" algn="ctr">
                      <a:solidFill>
                        <a:srgbClr val="C5D8D8"/>
                      </a:solidFill>
                      <a:prstDash val="solid"/>
                      <a:round/>
                      <a:headEnd type="none" w="med" len="med"/>
                      <a:tailEnd type="none" w="med" len="med"/>
                    </a:lnR>
                    <a:lnT w="6350" cap="flat" cmpd="sng" algn="ctr">
                      <a:solidFill>
                        <a:srgbClr val="C5D8D8"/>
                      </a:solidFill>
                      <a:prstDash val="solid"/>
                      <a:round/>
                      <a:headEnd type="none" w="med" len="med"/>
                      <a:tailEnd type="none" w="med" len="med"/>
                    </a:lnT>
                    <a:lnB w="6350" cap="flat" cmpd="sng" algn="ctr">
                      <a:solidFill>
                        <a:srgbClr val="C5D8D8"/>
                      </a:solidFill>
                      <a:prstDash val="solid"/>
                      <a:round/>
                      <a:headEnd type="none" w="med" len="med"/>
                      <a:tailEnd type="none" w="med" len="med"/>
                    </a:lnB>
                    <a:solidFill>
                      <a:srgbClr val="0A595F"/>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NPL</a:t>
                      </a:r>
                      <a:endParaRPr lang="en-US" sz="900" dirty="0">
                        <a:latin typeface="Calibri" charset="0"/>
                        <a:ea typeface="Calibri" charset="0"/>
                        <a:cs typeface="Calibri" charset="0"/>
                      </a:endParaRPr>
                    </a:p>
                  </a:txBody>
                  <a:tcPr anchor="ctr">
                    <a:lnL w="6350" cap="flat" cmpd="sng" algn="ctr">
                      <a:solidFill>
                        <a:srgbClr val="C5D8D8"/>
                      </a:solidFill>
                      <a:prstDash val="solid"/>
                      <a:round/>
                      <a:headEnd type="none" w="med" len="med"/>
                      <a:tailEnd type="none" w="med" len="med"/>
                    </a:lnL>
                    <a:lnR w="6350" cap="flat" cmpd="sng" algn="ctr">
                      <a:solidFill>
                        <a:srgbClr val="C5D8D8"/>
                      </a:solidFill>
                      <a:prstDash val="solid"/>
                      <a:round/>
                      <a:headEnd type="none" w="med" len="med"/>
                      <a:tailEnd type="none" w="med" len="med"/>
                    </a:lnR>
                    <a:lnT w="6350" cap="flat" cmpd="sng" algn="ctr">
                      <a:solidFill>
                        <a:srgbClr val="C5D8D8"/>
                      </a:solidFill>
                      <a:prstDash val="solid"/>
                      <a:round/>
                      <a:headEnd type="none" w="med" len="med"/>
                      <a:tailEnd type="none" w="med" len="med"/>
                    </a:lnT>
                    <a:lnB w="6350" cap="flat" cmpd="sng" algn="ctr">
                      <a:solidFill>
                        <a:srgbClr val="C5D8D8"/>
                      </a:solidFill>
                      <a:prstDash val="solid"/>
                      <a:round/>
                      <a:headEnd type="none" w="med" len="med"/>
                      <a:tailEnd type="none" w="med" len="med"/>
                    </a:lnB>
                    <a:solidFill>
                      <a:srgbClr val="0A595F"/>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LKA</a:t>
                      </a:r>
                      <a:endParaRPr lang="en-US" sz="900" dirty="0">
                        <a:latin typeface="Calibri" charset="0"/>
                        <a:ea typeface="Calibri" charset="0"/>
                        <a:cs typeface="Calibri" charset="0"/>
                      </a:endParaRPr>
                    </a:p>
                  </a:txBody>
                  <a:tcPr anchor="ctr">
                    <a:lnL w="6350" cap="flat" cmpd="sng" algn="ctr">
                      <a:solidFill>
                        <a:srgbClr val="C5D8D8"/>
                      </a:solidFill>
                      <a:prstDash val="solid"/>
                      <a:round/>
                      <a:headEnd type="none" w="med" len="med"/>
                      <a:tailEnd type="none" w="med" len="med"/>
                    </a:lnL>
                    <a:lnR w="6350" cap="flat" cmpd="sng" algn="ctr">
                      <a:solidFill>
                        <a:srgbClr val="C5D8D8"/>
                      </a:solidFill>
                      <a:prstDash val="solid"/>
                      <a:round/>
                      <a:headEnd type="none" w="med" len="med"/>
                      <a:tailEnd type="none" w="med" len="med"/>
                    </a:lnR>
                    <a:lnT w="6350" cap="flat" cmpd="sng" algn="ctr">
                      <a:solidFill>
                        <a:srgbClr val="C5D8D8"/>
                      </a:solidFill>
                      <a:prstDash val="solid"/>
                      <a:round/>
                      <a:headEnd type="none" w="med" len="med"/>
                      <a:tailEnd type="none" w="med" len="med"/>
                    </a:lnT>
                    <a:lnB w="6350" cap="flat" cmpd="sng" algn="ctr">
                      <a:solidFill>
                        <a:srgbClr val="C5D8D8"/>
                      </a:solidFill>
                      <a:prstDash val="solid"/>
                      <a:round/>
                      <a:headEnd type="none" w="med" len="med"/>
                      <a:tailEnd type="none" w="med" len="med"/>
                    </a:lnB>
                    <a:solidFill>
                      <a:srgbClr val="0A595F"/>
                    </a:solidFill>
                  </a:tcPr>
                </a:tc>
                <a:extLst>
                  <a:ext uri="{0D108BD9-81ED-4DB2-BD59-A6C34878D82A}">
                    <a16:rowId xmlns:a16="http://schemas.microsoft.com/office/drawing/2014/main" val="10000"/>
                  </a:ext>
                </a:extLst>
              </a:tr>
              <a:tr h="0">
                <a:tc>
                  <a:txBody>
                    <a:bodyPr/>
                    <a:lstStyle/>
                    <a:p>
                      <a:pPr marL="0" indent="0">
                        <a:buNone/>
                      </a:pPr>
                      <a:r>
                        <a:rPr lang="en-US" sz="850" dirty="0">
                          <a:solidFill>
                            <a:srgbClr val="334155"/>
                          </a:solidFill>
                          <a:latin typeface="Calibri" pitchFamily="34" charset="0"/>
                          <a:ea typeface="Calibri" pitchFamily="34" charset="-122"/>
                          <a:cs typeface="Calibri" pitchFamily="34" charset="-120"/>
                        </a:rPr>
                        <a:t>Existing Generation (plant-level)</a:t>
                      </a:r>
                      <a:endParaRPr lang="en-US" sz="850" dirty="0">
                        <a:latin typeface="Calibri" charset="0"/>
                        <a:ea typeface="Calibri" charset="0"/>
                        <a:cs typeface="Calibri" charset="0"/>
                      </a:endParaRPr>
                    </a:p>
                  </a:txBody>
                  <a:tcPr anchor="ctr">
                    <a:lnL w="6350" cap="flat" cmpd="sng" algn="ctr">
                      <a:solidFill>
                        <a:srgbClr val="C5D8D8"/>
                      </a:solidFill>
                      <a:prstDash val="solid"/>
                      <a:round/>
                      <a:headEnd type="none" w="med" len="med"/>
                      <a:tailEnd type="none" w="med" len="med"/>
                    </a:lnL>
                    <a:lnR w="6350" cap="flat" cmpd="sng" algn="ctr">
                      <a:solidFill>
                        <a:srgbClr val="C5D8D8"/>
                      </a:solidFill>
                      <a:prstDash val="solid"/>
                      <a:round/>
                      <a:headEnd type="none" w="med" len="med"/>
                      <a:tailEnd type="none" w="med" len="med"/>
                    </a:lnR>
                    <a:lnT w="6350" cap="flat" cmpd="sng" algn="ctr">
                      <a:solidFill>
                        <a:srgbClr val="C5D8D8"/>
                      </a:solidFill>
                      <a:prstDash val="solid"/>
                      <a:round/>
                      <a:headEnd type="none" w="med" len="med"/>
                      <a:tailEnd type="none" w="med" len="med"/>
                    </a:lnT>
                    <a:lnB w="6350" cap="flat" cmpd="sng" algn="ctr">
                      <a:solidFill>
                        <a:srgbClr val="C5D8D8"/>
                      </a:solidFill>
                      <a:prstDash val="solid"/>
                      <a:round/>
                      <a:headEnd type="none" w="med" len="med"/>
                      <a:tailEnd type="none" w="med" len="med"/>
                    </a:lnB>
                  </a:tcPr>
                </a:tc>
                <a:tc>
                  <a:txBody>
                    <a:bodyPr/>
                    <a:lstStyle/>
                    <a:p>
                      <a:pPr marL="0" indent="0" algn="ctr">
                        <a:buNone/>
                      </a:pPr>
                      <a:r>
                        <a:rPr lang="en-US" sz="1100" b="1" dirty="0">
                          <a:solidFill>
                            <a:srgbClr val="10B981"/>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anchor="ctr">
                    <a:lnL w="6350" cap="flat" cmpd="sng" algn="ctr">
                      <a:solidFill>
                        <a:srgbClr val="C5D8D8"/>
                      </a:solidFill>
                      <a:prstDash val="solid"/>
                      <a:round/>
                      <a:headEnd type="none" w="med" len="med"/>
                      <a:tailEnd type="none" w="med" len="med"/>
                    </a:lnL>
                    <a:lnR w="6350" cap="flat" cmpd="sng" algn="ctr">
                      <a:solidFill>
                        <a:srgbClr val="C5D8D8"/>
                      </a:solidFill>
                      <a:prstDash val="solid"/>
                      <a:round/>
                      <a:headEnd type="none" w="med" len="med"/>
                      <a:tailEnd type="none" w="med" len="med"/>
                    </a:lnR>
                    <a:lnT w="6350" cap="flat" cmpd="sng" algn="ctr">
                      <a:solidFill>
                        <a:srgbClr val="C5D8D8"/>
                      </a:solidFill>
                      <a:prstDash val="solid"/>
                      <a:round/>
                      <a:headEnd type="none" w="med" len="med"/>
                      <a:tailEnd type="none" w="med" len="med"/>
                    </a:lnT>
                    <a:lnB w="6350" cap="flat" cmpd="sng" algn="ctr">
                      <a:solidFill>
                        <a:srgbClr val="C5D8D8"/>
                      </a:solidFill>
                      <a:prstDash val="solid"/>
                      <a:round/>
                      <a:headEnd type="none" w="med" len="med"/>
                      <a:tailEnd type="none" w="med" len="med"/>
                    </a:lnB>
                  </a:tcPr>
                </a:tc>
                <a:tc>
                  <a:txBody>
                    <a:bodyPr/>
                    <a:lstStyle/>
                    <a:p>
                      <a:pPr marL="0" indent="0" algn="ctr">
                        <a:buNone/>
                      </a:pPr>
                      <a:r>
                        <a:rPr lang="en-US" sz="1100" b="1" dirty="0">
                          <a:solidFill>
                            <a:srgbClr val="10B981"/>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anchor="ctr">
                    <a:lnL w="6350" cap="flat" cmpd="sng" algn="ctr">
                      <a:solidFill>
                        <a:srgbClr val="C5D8D8"/>
                      </a:solidFill>
                      <a:prstDash val="solid"/>
                      <a:round/>
                      <a:headEnd type="none" w="med" len="med"/>
                      <a:tailEnd type="none" w="med" len="med"/>
                    </a:lnL>
                    <a:lnR w="6350" cap="flat" cmpd="sng" algn="ctr">
                      <a:solidFill>
                        <a:srgbClr val="C5D8D8"/>
                      </a:solidFill>
                      <a:prstDash val="solid"/>
                      <a:round/>
                      <a:headEnd type="none" w="med" len="med"/>
                      <a:tailEnd type="none" w="med" len="med"/>
                    </a:lnR>
                    <a:lnT w="6350" cap="flat" cmpd="sng" algn="ctr">
                      <a:solidFill>
                        <a:srgbClr val="C5D8D8"/>
                      </a:solidFill>
                      <a:prstDash val="solid"/>
                      <a:round/>
                      <a:headEnd type="none" w="med" len="med"/>
                      <a:tailEnd type="none" w="med" len="med"/>
                    </a:lnT>
                    <a:lnB w="6350" cap="flat" cmpd="sng" algn="ctr">
                      <a:solidFill>
                        <a:srgbClr val="C5D8D8"/>
                      </a:solidFill>
                      <a:prstDash val="solid"/>
                      <a:round/>
                      <a:headEnd type="none" w="med" len="med"/>
                      <a:tailEnd type="none" w="med" len="med"/>
                    </a:lnB>
                  </a:tcPr>
                </a:tc>
                <a:tc>
                  <a:txBody>
                    <a:bodyPr/>
                    <a:lstStyle/>
                    <a:p>
                      <a:pPr marL="0" indent="0" algn="ctr">
                        <a:buNone/>
                      </a:pPr>
                      <a:r>
                        <a:rPr lang="en-US" sz="1100" b="1" dirty="0">
                          <a:solidFill>
                            <a:srgbClr val="10B981"/>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anchor="ctr">
                    <a:lnL w="6350" cap="flat" cmpd="sng" algn="ctr">
                      <a:solidFill>
                        <a:srgbClr val="C5D8D8"/>
                      </a:solidFill>
                      <a:prstDash val="solid"/>
                      <a:round/>
                      <a:headEnd type="none" w="med" len="med"/>
                      <a:tailEnd type="none" w="med" len="med"/>
                    </a:lnL>
                    <a:lnR w="6350" cap="flat" cmpd="sng" algn="ctr">
                      <a:solidFill>
                        <a:srgbClr val="C5D8D8"/>
                      </a:solidFill>
                      <a:prstDash val="solid"/>
                      <a:round/>
                      <a:headEnd type="none" w="med" len="med"/>
                      <a:tailEnd type="none" w="med" len="med"/>
                    </a:lnR>
                    <a:lnT w="6350" cap="flat" cmpd="sng" algn="ctr">
                      <a:solidFill>
                        <a:srgbClr val="C5D8D8"/>
                      </a:solidFill>
                      <a:prstDash val="solid"/>
                      <a:round/>
                      <a:headEnd type="none" w="med" len="med"/>
                      <a:tailEnd type="none" w="med" len="med"/>
                    </a:lnT>
                    <a:lnB w="6350" cap="flat" cmpd="sng" algn="ctr">
                      <a:solidFill>
                        <a:srgbClr val="C5D8D8"/>
                      </a:solidFill>
                      <a:prstDash val="solid"/>
                      <a:round/>
                      <a:headEnd type="none" w="med" len="med"/>
                      <a:tailEnd type="none" w="med" len="med"/>
                    </a:lnB>
                  </a:tcPr>
                </a:tc>
                <a:tc>
                  <a:txBody>
                    <a:bodyPr/>
                    <a:lstStyle/>
                    <a:p>
                      <a:pPr marL="0" indent="0" algn="ctr">
                        <a:buNone/>
                      </a:pPr>
                      <a:r>
                        <a:rPr lang="en-US" sz="1100" b="1" dirty="0">
                          <a:solidFill>
                            <a:srgbClr val="F59E0B"/>
                          </a:solidFill>
                          <a:latin typeface="Calibri" pitchFamily="34" charset="0"/>
                          <a:ea typeface="Calibri" pitchFamily="34" charset="-122"/>
                          <a:cs typeface="Calibri" pitchFamily="34" charset="-120"/>
                        </a:rPr>
                        <a:t>●</a:t>
                      </a:r>
                      <a:endParaRPr lang="en-US" sz="1100" dirty="0">
                        <a:solidFill>
                          <a:srgbClr val="F59E0B"/>
                        </a:solidFill>
                        <a:latin typeface="Calibri" charset="0"/>
                        <a:ea typeface="Calibri" charset="0"/>
                        <a:cs typeface="Calibri" charset="0"/>
                      </a:endParaRPr>
                    </a:p>
                  </a:txBody>
                  <a:tcPr anchor="ctr">
                    <a:lnL w="6350" cap="flat" cmpd="sng" algn="ctr">
                      <a:solidFill>
                        <a:srgbClr val="C5D8D8"/>
                      </a:solidFill>
                      <a:prstDash val="solid"/>
                      <a:round/>
                      <a:headEnd type="none" w="med" len="med"/>
                      <a:tailEnd type="none" w="med" len="med"/>
                    </a:lnL>
                    <a:lnR w="6350" cap="flat" cmpd="sng" algn="ctr">
                      <a:solidFill>
                        <a:srgbClr val="C5D8D8"/>
                      </a:solidFill>
                      <a:prstDash val="solid"/>
                      <a:round/>
                      <a:headEnd type="none" w="med" len="med"/>
                      <a:tailEnd type="none" w="med" len="med"/>
                    </a:lnR>
                    <a:lnT w="6350" cap="flat" cmpd="sng" algn="ctr">
                      <a:solidFill>
                        <a:srgbClr val="C5D8D8"/>
                      </a:solidFill>
                      <a:prstDash val="solid"/>
                      <a:round/>
                      <a:headEnd type="none" w="med" len="med"/>
                      <a:tailEnd type="none" w="med" len="med"/>
                    </a:lnT>
                    <a:lnB w="6350" cap="flat" cmpd="sng" algn="ctr">
                      <a:solidFill>
                        <a:srgbClr val="C5D8D8"/>
                      </a:solidFill>
                      <a:prstDash val="solid"/>
                      <a:round/>
                      <a:headEnd type="none" w="med" len="med"/>
                      <a:tailEnd type="none" w="med" len="med"/>
                    </a:lnB>
                  </a:tcPr>
                </a:tc>
                <a:tc>
                  <a:txBody>
                    <a:bodyPr/>
                    <a:lstStyle/>
                    <a:p>
                      <a:pPr marL="0" indent="0" algn="ctr">
                        <a:buNone/>
                      </a:pPr>
                      <a:r>
                        <a:rPr lang="en-US" sz="1100" b="1" dirty="0">
                          <a:solidFill>
                            <a:srgbClr val="10B981"/>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anchor="ctr">
                    <a:lnL w="6350" cap="flat" cmpd="sng" algn="ctr">
                      <a:solidFill>
                        <a:srgbClr val="C5D8D8"/>
                      </a:solidFill>
                      <a:prstDash val="solid"/>
                      <a:round/>
                      <a:headEnd type="none" w="med" len="med"/>
                      <a:tailEnd type="none" w="med" len="med"/>
                    </a:lnL>
                    <a:lnR w="6350" cap="flat" cmpd="sng" algn="ctr">
                      <a:solidFill>
                        <a:srgbClr val="C5D8D8"/>
                      </a:solidFill>
                      <a:prstDash val="solid"/>
                      <a:round/>
                      <a:headEnd type="none" w="med" len="med"/>
                      <a:tailEnd type="none" w="med" len="med"/>
                    </a:lnR>
                    <a:lnT w="6350" cap="flat" cmpd="sng" algn="ctr">
                      <a:solidFill>
                        <a:srgbClr val="C5D8D8"/>
                      </a:solidFill>
                      <a:prstDash val="solid"/>
                      <a:round/>
                      <a:headEnd type="none" w="med" len="med"/>
                      <a:tailEnd type="none" w="med" len="med"/>
                    </a:lnT>
                    <a:lnB w="6350" cap="flat" cmpd="sng" algn="ctr">
                      <a:solidFill>
                        <a:srgbClr val="C5D8D8"/>
                      </a:solidFill>
                      <a:prstDash val="solid"/>
                      <a:round/>
                      <a:headEnd type="none" w="med" len="med"/>
                      <a:tailEnd type="none" w="med" len="med"/>
                    </a:lnB>
                  </a:tcPr>
                </a:tc>
                <a:tc>
                  <a:txBody>
                    <a:bodyPr/>
                    <a:lstStyle/>
                    <a:p>
                      <a:pPr marL="0" indent="0" algn="ctr">
                        <a:buNone/>
                      </a:pPr>
                      <a:r>
                        <a:rPr lang="en-US" sz="1100" b="1" dirty="0">
                          <a:solidFill>
                            <a:srgbClr val="10B981"/>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anchor="ctr">
                    <a:lnL w="6350" cap="flat" cmpd="sng" algn="ctr">
                      <a:solidFill>
                        <a:srgbClr val="C5D8D8"/>
                      </a:solidFill>
                      <a:prstDash val="solid"/>
                      <a:round/>
                      <a:headEnd type="none" w="med" len="med"/>
                      <a:tailEnd type="none" w="med" len="med"/>
                    </a:lnL>
                    <a:lnR w="6350" cap="flat" cmpd="sng" algn="ctr">
                      <a:solidFill>
                        <a:srgbClr val="C5D8D8"/>
                      </a:solidFill>
                      <a:prstDash val="solid"/>
                      <a:round/>
                      <a:headEnd type="none" w="med" len="med"/>
                      <a:tailEnd type="none" w="med" len="med"/>
                    </a:lnR>
                    <a:lnT w="6350" cap="flat" cmpd="sng" algn="ctr">
                      <a:solidFill>
                        <a:srgbClr val="C5D8D8"/>
                      </a:solidFill>
                      <a:prstDash val="solid"/>
                      <a:round/>
                      <a:headEnd type="none" w="med" len="med"/>
                      <a:tailEnd type="none" w="med" len="med"/>
                    </a:lnT>
                    <a:lnB w="6350" cap="flat" cmpd="sng" algn="ctr">
                      <a:solidFill>
                        <a:srgbClr val="C5D8D8"/>
                      </a:solidFill>
                      <a:prstDash val="solid"/>
                      <a:round/>
                      <a:headEnd type="none" w="med" len="med"/>
                      <a:tailEnd type="none" w="med" len="med"/>
                    </a:lnB>
                  </a:tcPr>
                </a:tc>
                <a:extLst>
                  <a:ext uri="{0D108BD9-81ED-4DB2-BD59-A6C34878D82A}">
                    <a16:rowId xmlns:a16="http://schemas.microsoft.com/office/drawing/2014/main" val="10001"/>
                  </a:ext>
                </a:extLst>
              </a:tr>
              <a:tr h="0">
                <a:tc>
                  <a:txBody>
                    <a:bodyPr/>
                    <a:lstStyle/>
                    <a:p>
                      <a:pPr marL="0" indent="0">
                        <a:buNone/>
                      </a:pPr>
                      <a:r>
                        <a:rPr lang="en-US" sz="850" dirty="0">
                          <a:solidFill>
                            <a:srgbClr val="334155"/>
                          </a:solidFill>
                          <a:latin typeface="Calibri" pitchFamily="34" charset="0"/>
                          <a:ea typeface="Calibri" pitchFamily="34" charset="-122"/>
                          <a:cs typeface="Calibri" pitchFamily="34" charset="-120"/>
                        </a:rPr>
                        <a:t>Planned Generation Pipeline</a:t>
                      </a:r>
                      <a:endParaRPr lang="en-US" sz="850" dirty="0">
                        <a:latin typeface="Calibri" charset="0"/>
                        <a:ea typeface="Calibri" charset="0"/>
                        <a:cs typeface="Calibri" charset="0"/>
                      </a:endParaRPr>
                    </a:p>
                  </a:txBody>
                  <a:tcPr anchor="ctr">
                    <a:lnL w="6350" cap="flat" cmpd="sng" algn="ctr">
                      <a:solidFill>
                        <a:srgbClr val="C5D8D8"/>
                      </a:solidFill>
                      <a:prstDash val="solid"/>
                      <a:round/>
                      <a:headEnd type="none" w="med" len="med"/>
                      <a:tailEnd type="none" w="med" len="med"/>
                    </a:lnL>
                    <a:lnR w="6350" cap="flat" cmpd="sng" algn="ctr">
                      <a:solidFill>
                        <a:srgbClr val="C5D8D8"/>
                      </a:solidFill>
                      <a:prstDash val="solid"/>
                      <a:round/>
                      <a:headEnd type="none" w="med" len="med"/>
                      <a:tailEnd type="none" w="med" len="med"/>
                    </a:lnR>
                    <a:lnT w="6350" cap="flat" cmpd="sng" algn="ctr">
                      <a:solidFill>
                        <a:srgbClr val="C5D8D8"/>
                      </a:solidFill>
                      <a:prstDash val="solid"/>
                      <a:round/>
                      <a:headEnd type="none" w="med" len="med"/>
                      <a:tailEnd type="none" w="med" len="med"/>
                    </a:lnT>
                    <a:lnB w="6350" cap="flat" cmpd="sng" algn="ctr">
                      <a:solidFill>
                        <a:srgbClr val="C5D8D8"/>
                      </a:solidFill>
                      <a:prstDash val="solid"/>
                      <a:round/>
                      <a:headEnd type="none" w="med" len="med"/>
                      <a:tailEnd type="none" w="med" len="med"/>
                    </a:lnB>
                  </a:tcPr>
                </a:tc>
                <a:tc>
                  <a:txBody>
                    <a:bodyPr/>
                    <a:lstStyle/>
                    <a:p>
                      <a:pPr marL="0" indent="0" algn="ctr">
                        <a:buNone/>
                      </a:pPr>
                      <a:r>
                        <a:rPr lang="en-US" sz="1100" b="1" dirty="0">
                          <a:solidFill>
                            <a:srgbClr val="10B981"/>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anchor="ctr">
                    <a:lnL w="6350" cap="flat" cmpd="sng" algn="ctr">
                      <a:solidFill>
                        <a:srgbClr val="C5D8D8"/>
                      </a:solidFill>
                      <a:prstDash val="solid"/>
                      <a:round/>
                      <a:headEnd type="none" w="med" len="med"/>
                      <a:tailEnd type="none" w="med" len="med"/>
                    </a:lnL>
                    <a:lnR w="6350" cap="flat" cmpd="sng" algn="ctr">
                      <a:solidFill>
                        <a:srgbClr val="C5D8D8"/>
                      </a:solidFill>
                      <a:prstDash val="solid"/>
                      <a:round/>
                      <a:headEnd type="none" w="med" len="med"/>
                      <a:tailEnd type="none" w="med" len="med"/>
                    </a:lnR>
                    <a:lnT w="6350" cap="flat" cmpd="sng" algn="ctr">
                      <a:solidFill>
                        <a:srgbClr val="C5D8D8"/>
                      </a:solidFill>
                      <a:prstDash val="solid"/>
                      <a:round/>
                      <a:headEnd type="none" w="med" len="med"/>
                      <a:tailEnd type="none" w="med" len="med"/>
                    </a:lnT>
                    <a:lnB w="6350" cap="flat" cmpd="sng" algn="ctr">
                      <a:solidFill>
                        <a:srgbClr val="C5D8D8"/>
                      </a:solidFill>
                      <a:prstDash val="solid"/>
                      <a:round/>
                      <a:headEnd type="none" w="med" len="med"/>
                      <a:tailEnd type="none" w="med" len="med"/>
                    </a:lnB>
                  </a:tcPr>
                </a:tc>
                <a:tc>
                  <a:txBody>
                    <a:bodyPr/>
                    <a:lstStyle/>
                    <a:p>
                      <a:pPr marL="0" indent="0" algn="ctr">
                        <a:buNone/>
                      </a:pPr>
                      <a:r>
                        <a:rPr lang="en-US" sz="1100" b="1" dirty="0">
                          <a:solidFill>
                            <a:srgbClr val="10B981"/>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anchor="ctr">
                    <a:lnL w="6350" cap="flat" cmpd="sng" algn="ctr">
                      <a:solidFill>
                        <a:srgbClr val="C5D8D8"/>
                      </a:solidFill>
                      <a:prstDash val="solid"/>
                      <a:round/>
                      <a:headEnd type="none" w="med" len="med"/>
                      <a:tailEnd type="none" w="med" len="med"/>
                    </a:lnL>
                    <a:lnR w="6350" cap="flat" cmpd="sng" algn="ctr">
                      <a:solidFill>
                        <a:srgbClr val="C5D8D8"/>
                      </a:solidFill>
                      <a:prstDash val="solid"/>
                      <a:round/>
                      <a:headEnd type="none" w="med" len="med"/>
                      <a:tailEnd type="none" w="med" len="med"/>
                    </a:lnR>
                    <a:lnT w="6350" cap="flat" cmpd="sng" algn="ctr">
                      <a:solidFill>
                        <a:srgbClr val="C5D8D8"/>
                      </a:solidFill>
                      <a:prstDash val="solid"/>
                      <a:round/>
                      <a:headEnd type="none" w="med" len="med"/>
                      <a:tailEnd type="none" w="med" len="med"/>
                    </a:lnT>
                    <a:lnB w="6350" cap="flat" cmpd="sng" algn="ctr">
                      <a:solidFill>
                        <a:srgbClr val="C5D8D8"/>
                      </a:solidFill>
                      <a:prstDash val="solid"/>
                      <a:round/>
                      <a:headEnd type="none" w="med" len="med"/>
                      <a:tailEnd type="none" w="med" len="med"/>
                    </a:lnB>
                  </a:tcPr>
                </a:tc>
                <a:tc>
                  <a:txBody>
                    <a:bodyPr/>
                    <a:lstStyle/>
                    <a:p>
                      <a:pPr marL="0" indent="0" algn="ctr">
                        <a:buNone/>
                      </a:pPr>
                      <a:r>
                        <a:rPr lang="en-US" sz="1100" b="1" dirty="0">
                          <a:solidFill>
                            <a:srgbClr val="10B981"/>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anchor="ctr">
                    <a:lnL w="6350" cap="flat" cmpd="sng" algn="ctr">
                      <a:solidFill>
                        <a:srgbClr val="C5D8D8"/>
                      </a:solidFill>
                      <a:prstDash val="solid"/>
                      <a:round/>
                      <a:headEnd type="none" w="med" len="med"/>
                      <a:tailEnd type="none" w="med" len="med"/>
                    </a:lnL>
                    <a:lnR w="6350" cap="flat" cmpd="sng" algn="ctr">
                      <a:solidFill>
                        <a:srgbClr val="C5D8D8"/>
                      </a:solidFill>
                      <a:prstDash val="solid"/>
                      <a:round/>
                      <a:headEnd type="none" w="med" len="med"/>
                      <a:tailEnd type="none" w="med" len="med"/>
                    </a:lnR>
                    <a:lnT w="6350" cap="flat" cmpd="sng" algn="ctr">
                      <a:solidFill>
                        <a:srgbClr val="C5D8D8"/>
                      </a:solidFill>
                      <a:prstDash val="solid"/>
                      <a:round/>
                      <a:headEnd type="none" w="med" len="med"/>
                      <a:tailEnd type="none" w="med" len="med"/>
                    </a:lnT>
                    <a:lnB w="6350" cap="flat" cmpd="sng" algn="ctr">
                      <a:solidFill>
                        <a:srgbClr val="C5D8D8"/>
                      </a:solidFill>
                      <a:prstDash val="solid"/>
                      <a:round/>
                      <a:headEnd type="none" w="med" len="med"/>
                      <a:tailEnd type="none" w="med" len="med"/>
                    </a:lnB>
                  </a:tcPr>
                </a:tc>
                <a:tc>
                  <a:txBody>
                    <a:bodyPr/>
                    <a:lstStyle/>
                    <a:p>
                      <a:pPr marL="0" indent="0" algn="ctr">
                        <a:buNone/>
                      </a:pPr>
                      <a:r>
                        <a:rPr lang="en-US" sz="1100" b="1" dirty="0">
                          <a:solidFill>
                            <a:srgbClr val="F59E0B"/>
                          </a:solidFill>
                          <a:latin typeface="Calibri" pitchFamily="34" charset="0"/>
                          <a:ea typeface="Calibri" pitchFamily="34" charset="-122"/>
                          <a:cs typeface="Calibri" pitchFamily="34" charset="-120"/>
                        </a:rPr>
                        <a:t>●</a:t>
                      </a:r>
                      <a:endParaRPr lang="en-US" sz="1100" dirty="0">
                        <a:solidFill>
                          <a:srgbClr val="F59E0B"/>
                        </a:solidFill>
                        <a:latin typeface="Calibri" charset="0"/>
                        <a:ea typeface="Calibri" charset="0"/>
                        <a:cs typeface="Calibri" charset="0"/>
                      </a:endParaRPr>
                    </a:p>
                  </a:txBody>
                  <a:tcPr anchor="ctr">
                    <a:lnL w="6350" cap="flat" cmpd="sng" algn="ctr">
                      <a:solidFill>
                        <a:srgbClr val="C5D8D8"/>
                      </a:solidFill>
                      <a:prstDash val="solid"/>
                      <a:round/>
                      <a:headEnd type="none" w="med" len="med"/>
                      <a:tailEnd type="none" w="med" len="med"/>
                    </a:lnL>
                    <a:lnR w="6350" cap="flat" cmpd="sng" algn="ctr">
                      <a:solidFill>
                        <a:srgbClr val="C5D8D8"/>
                      </a:solidFill>
                      <a:prstDash val="solid"/>
                      <a:round/>
                      <a:headEnd type="none" w="med" len="med"/>
                      <a:tailEnd type="none" w="med" len="med"/>
                    </a:lnR>
                    <a:lnT w="6350" cap="flat" cmpd="sng" algn="ctr">
                      <a:solidFill>
                        <a:srgbClr val="C5D8D8"/>
                      </a:solidFill>
                      <a:prstDash val="solid"/>
                      <a:round/>
                      <a:headEnd type="none" w="med" len="med"/>
                      <a:tailEnd type="none" w="med" len="med"/>
                    </a:lnT>
                    <a:lnB w="6350" cap="flat" cmpd="sng" algn="ctr">
                      <a:solidFill>
                        <a:srgbClr val="C5D8D8"/>
                      </a:solidFill>
                      <a:prstDash val="solid"/>
                      <a:round/>
                      <a:headEnd type="none" w="med" len="med"/>
                      <a:tailEnd type="none" w="med" len="med"/>
                    </a:lnB>
                  </a:tcPr>
                </a:tc>
                <a:tc>
                  <a:txBody>
                    <a:bodyPr/>
                    <a:lstStyle/>
                    <a:p>
                      <a:pPr marL="0" indent="0" algn="ctr">
                        <a:buNone/>
                      </a:pPr>
                      <a:r>
                        <a:rPr lang="en-US" sz="1100" b="1" dirty="0">
                          <a:solidFill>
                            <a:srgbClr val="10B981"/>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anchor="ctr">
                    <a:lnL w="6350" cap="flat" cmpd="sng" algn="ctr">
                      <a:solidFill>
                        <a:srgbClr val="C5D8D8"/>
                      </a:solidFill>
                      <a:prstDash val="solid"/>
                      <a:round/>
                      <a:headEnd type="none" w="med" len="med"/>
                      <a:tailEnd type="none" w="med" len="med"/>
                    </a:lnL>
                    <a:lnR w="6350" cap="flat" cmpd="sng" algn="ctr">
                      <a:solidFill>
                        <a:srgbClr val="C5D8D8"/>
                      </a:solidFill>
                      <a:prstDash val="solid"/>
                      <a:round/>
                      <a:headEnd type="none" w="med" len="med"/>
                      <a:tailEnd type="none" w="med" len="med"/>
                    </a:lnR>
                    <a:lnT w="6350" cap="flat" cmpd="sng" algn="ctr">
                      <a:solidFill>
                        <a:srgbClr val="C5D8D8"/>
                      </a:solidFill>
                      <a:prstDash val="solid"/>
                      <a:round/>
                      <a:headEnd type="none" w="med" len="med"/>
                      <a:tailEnd type="none" w="med" len="med"/>
                    </a:lnT>
                    <a:lnB w="6350" cap="flat" cmpd="sng" algn="ctr">
                      <a:solidFill>
                        <a:srgbClr val="C5D8D8"/>
                      </a:solidFill>
                      <a:prstDash val="solid"/>
                      <a:round/>
                      <a:headEnd type="none" w="med" len="med"/>
                      <a:tailEnd type="none" w="med" len="med"/>
                    </a:lnB>
                  </a:tcPr>
                </a:tc>
                <a:tc>
                  <a:txBody>
                    <a:bodyPr/>
                    <a:lstStyle/>
                    <a:p>
                      <a:pPr marL="0" indent="0" algn="ctr">
                        <a:buNone/>
                      </a:pPr>
                      <a:r>
                        <a:rPr lang="en-US" sz="1100" b="1" dirty="0">
                          <a:solidFill>
                            <a:srgbClr val="10B981"/>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anchor="ctr">
                    <a:lnL w="6350" cap="flat" cmpd="sng" algn="ctr">
                      <a:solidFill>
                        <a:srgbClr val="C5D8D8"/>
                      </a:solidFill>
                      <a:prstDash val="solid"/>
                      <a:round/>
                      <a:headEnd type="none" w="med" len="med"/>
                      <a:tailEnd type="none" w="med" len="med"/>
                    </a:lnL>
                    <a:lnR w="6350" cap="flat" cmpd="sng" algn="ctr">
                      <a:solidFill>
                        <a:srgbClr val="C5D8D8"/>
                      </a:solidFill>
                      <a:prstDash val="solid"/>
                      <a:round/>
                      <a:headEnd type="none" w="med" len="med"/>
                      <a:tailEnd type="none" w="med" len="med"/>
                    </a:lnR>
                    <a:lnT w="6350" cap="flat" cmpd="sng" algn="ctr">
                      <a:solidFill>
                        <a:srgbClr val="C5D8D8"/>
                      </a:solidFill>
                      <a:prstDash val="solid"/>
                      <a:round/>
                      <a:headEnd type="none" w="med" len="med"/>
                      <a:tailEnd type="none" w="med" len="med"/>
                    </a:lnT>
                    <a:lnB w="6350" cap="flat" cmpd="sng" algn="ctr">
                      <a:solidFill>
                        <a:srgbClr val="C5D8D8"/>
                      </a:solidFill>
                      <a:prstDash val="solid"/>
                      <a:round/>
                      <a:headEnd type="none" w="med" len="med"/>
                      <a:tailEnd type="none" w="med" len="med"/>
                    </a:lnB>
                  </a:tcPr>
                </a:tc>
                <a:extLst>
                  <a:ext uri="{0D108BD9-81ED-4DB2-BD59-A6C34878D82A}">
                    <a16:rowId xmlns:a16="http://schemas.microsoft.com/office/drawing/2014/main" val="10002"/>
                  </a:ext>
                </a:extLst>
              </a:tr>
              <a:tr h="0">
                <a:tc>
                  <a:txBody>
                    <a:bodyPr/>
                    <a:lstStyle/>
                    <a:p>
                      <a:pPr marL="0" indent="0">
                        <a:buNone/>
                      </a:pPr>
                      <a:r>
                        <a:rPr lang="en-US" sz="850" dirty="0">
                          <a:solidFill>
                            <a:srgbClr val="334155"/>
                          </a:solidFill>
                          <a:latin typeface="Calibri" pitchFamily="34" charset="0"/>
                          <a:ea typeface="Calibri" pitchFamily="34" charset="-122"/>
                          <a:cs typeface="Calibri" pitchFamily="34" charset="-120"/>
                        </a:rPr>
                        <a:t>Demand Forecasts (to 2050)</a:t>
                      </a:r>
                      <a:endParaRPr lang="en-US" sz="850" dirty="0">
                        <a:latin typeface="Calibri" charset="0"/>
                        <a:ea typeface="Calibri" charset="0"/>
                        <a:cs typeface="Calibri" charset="0"/>
                      </a:endParaRPr>
                    </a:p>
                  </a:txBody>
                  <a:tcPr anchor="ctr">
                    <a:lnL w="6350" cap="flat" cmpd="sng" algn="ctr">
                      <a:solidFill>
                        <a:srgbClr val="C5D8D8"/>
                      </a:solidFill>
                      <a:prstDash val="solid"/>
                      <a:round/>
                      <a:headEnd type="none" w="med" len="med"/>
                      <a:tailEnd type="none" w="med" len="med"/>
                    </a:lnL>
                    <a:lnR w="6350" cap="flat" cmpd="sng" algn="ctr">
                      <a:solidFill>
                        <a:srgbClr val="C5D8D8"/>
                      </a:solidFill>
                      <a:prstDash val="solid"/>
                      <a:round/>
                      <a:headEnd type="none" w="med" len="med"/>
                      <a:tailEnd type="none" w="med" len="med"/>
                    </a:lnR>
                    <a:lnT w="6350" cap="flat" cmpd="sng" algn="ctr">
                      <a:solidFill>
                        <a:srgbClr val="C5D8D8"/>
                      </a:solidFill>
                      <a:prstDash val="solid"/>
                      <a:round/>
                      <a:headEnd type="none" w="med" len="med"/>
                      <a:tailEnd type="none" w="med" len="med"/>
                    </a:lnT>
                    <a:lnB w="6350" cap="flat" cmpd="sng" algn="ctr">
                      <a:solidFill>
                        <a:srgbClr val="C5D8D8"/>
                      </a:solidFill>
                      <a:prstDash val="solid"/>
                      <a:round/>
                      <a:headEnd type="none" w="med" len="med"/>
                      <a:tailEnd type="none" w="med" len="med"/>
                    </a:lnB>
                  </a:tcPr>
                </a:tc>
                <a:tc>
                  <a:txBody>
                    <a:bodyPr/>
                    <a:lstStyle/>
                    <a:p>
                      <a:pPr marL="0" indent="0" algn="ctr">
                        <a:buNone/>
                      </a:pPr>
                      <a:r>
                        <a:rPr lang="en-US" sz="1100" b="1" dirty="0">
                          <a:solidFill>
                            <a:srgbClr val="10B981"/>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anchor="ctr">
                    <a:lnL w="6350" cap="flat" cmpd="sng" algn="ctr">
                      <a:solidFill>
                        <a:srgbClr val="C5D8D8"/>
                      </a:solidFill>
                      <a:prstDash val="solid"/>
                      <a:round/>
                      <a:headEnd type="none" w="med" len="med"/>
                      <a:tailEnd type="none" w="med" len="med"/>
                    </a:lnL>
                    <a:lnR w="6350" cap="flat" cmpd="sng" algn="ctr">
                      <a:solidFill>
                        <a:srgbClr val="C5D8D8"/>
                      </a:solidFill>
                      <a:prstDash val="solid"/>
                      <a:round/>
                      <a:headEnd type="none" w="med" len="med"/>
                      <a:tailEnd type="none" w="med" len="med"/>
                    </a:lnR>
                    <a:lnT w="6350" cap="flat" cmpd="sng" algn="ctr">
                      <a:solidFill>
                        <a:srgbClr val="C5D8D8"/>
                      </a:solidFill>
                      <a:prstDash val="solid"/>
                      <a:round/>
                      <a:headEnd type="none" w="med" len="med"/>
                      <a:tailEnd type="none" w="med" len="med"/>
                    </a:lnT>
                    <a:lnB w="6350" cap="flat" cmpd="sng" algn="ctr">
                      <a:solidFill>
                        <a:srgbClr val="C5D8D8"/>
                      </a:solidFill>
                      <a:prstDash val="solid"/>
                      <a:round/>
                      <a:headEnd type="none" w="med" len="med"/>
                      <a:tailEnd type="none" w="med" len="med"/>
                    </a:lnB>
                  </a:tcPr>
                </a:tc>
                <a:tc>
                  <a:txBody>
                    <a:bodyPr/>
                    <a:lstStyle/>
                    <a:p>
                      <a:pPr marL="0" indent="0" algn="ctr">
                        <a:buNone/>
                      </a:pPr>
                      <a:r>
                        <a:rPr lang="en-US" sz="1100" b="1" dirty="0">
                          <a:solidFill>
                            <a:srgbClr val="10B981"/>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anchor="ctr">
                    <a:lnL w="6350" cap="flat" cmpd="sng" algn="ctr">
                      <a:solidFill>
                        <a:srgbClr val="C5D8D8"/>
                      </a:solidFill>
                      <a:prstDash val="solid"/>
                      <a:round/>
                      <a:headEnd type="none" w="med" len="med"/>
                      <a:tailEnd type="none" w="med" len="med"/>
                    </a:lnL>
                    <a:lnR w="6350" cap="flat" cmpd="sng" algn="ctr">
                      <a:solidFill>
                        <a:srgbClr val="C5D8D8"/>
                      </a:solidFill>
                      <a:prstDash val="solid"/>
                      <a:round/>
                      <a:headEnd type="none" w="med" len="med"/>
                      <a:tailEnd type="none" w="med" len="med"/>
                    </a:lnR>
                    <a:lnT w="6350" cap="flat" cmpd="sng" algn="ctr">
                      <a:solidFill>
                        <a:srgbClr val="C5D8D8"/>
                      </a:solidFill>
                      <a:prstDash val="solid"/>
                      <a:round/>
                      <a:headEnd type="none" w="med" len="med"/>
                      <a:tailEnd type="none" w="med" len="med"/>
                    </a:lnT>
                    <a:lnB w="6350" cap="flat" cmpd="sng" algn="ctr">
                      <a:solidFill>
                        <a:srgbClr val="C5D8D8"/>
                      </a:solidFill>
                      <a:prstDash val="solid"/>
                      <a:round/>
                      <a:headEnd type="none" w="med" len="med"/>
                      <a:tailEnd type="none" w="med" len="med"/>
                    </a:lnB>
                  </a:tcPr>
                </a:tc>
                <a:tc>
                  <a:txBody>
                    <a:bodyPr/>
                    <a:lstStyle/>
                    <a:p>
                      <a:pPr marL="0" indent="0" algn="ctr">
                        <a:buNone/>
                      </a:pPr>
                      <a:r>
                        <a:rPr lang="en-US" sz="1100" b="1" dirty="0">
                          <a:solidFill>
                            <a:srgbClr val="10B981"/>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anchor="ctr">
                    <a:lnL w="6350" cap="flat" cmpd="sng" algn="ctr">
                      <a:solidFill>
                        <a:srgbClr val="C5D8D8"/>
                      </a:solidFill>
                      <a:prstDash val="solid"/>
                      <a:round/>
                      <a:headEnd type="none" w="med" len="med"/>
                      <a:tailEnd type="none" w="med" len="med"/>
                    </a:lnL>
                    <a:lnR w="6350" cap="flat" cmpd="sng" algn="ctr">
                      <a:solidFill>
                        <a:srgbClr val="C5D8D8"/>
                      </a:solidFill>
                      <a:prstDash val="solid"/>
                      <a:round/>
                      <a:headEnd type="none" w="med" len="med"/>
                      <a:tailEnd type="none" w="med" len="med"/>
                    </a:lnR>
                    <a:lnT w="6350" cap="flat" cmpd="sng" algn="ctr">
                      <a:solidFill>
                        <a:srgbClr val="C5D8D8"/>
                      </a:solidFill>
                      <a:prstDash val="solid"/>
                      <a:round/>
                      <a:headEnd type="none" w="med" len="med"/>
                      <a:tailEnd type="none" w="med" len="med"/>
                    </a:lnT>
                    <a:lnB w="6350" cap="flat" cmpd="sng" algn="ctr">
                      <a:solidFill>
                        <a:srgbClr val="C5D8D8"/>
                      </a:solidFill>
                      <a:prstDash val="solid"/>
                      <a:round/>
                      <a:headEnd type="none" w="med" len="med"/>
                      <a:tailEnd type="none" w="med" len="med"/>
                    </a:lnB>
                  </a:tcPr>
                </a:tc>
                <a:tc>
                  <a:txBody>
                    <a:bodyPr/>
                    <a:lstStyle/>
                    <a:p>
                      <a:pPr marL="0" indent="0" algn="ctr">
                        <a:buNone/>
                      </a:pPr>
                      <a:r>
                        <a:rPr lang="en-US" sz="1100" b="1" dirty="0">
                          <a:solidFill>
                            <a:srgbClr val="10B981"/>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anchor="ctr">
                    <a:lnL w="6350" cap="flat" cmpd="sng" algn="ctr">
                      <a:solidFill>
                        <a:srgbClr val="C5D8D8"/>
                      </a:solidFill>
                      <a:prstDash val="solid"/>
                      <a:round/>
                      <a:headEnd type="none" w="med" len="med"/>
                      <a:tailEnd type="none" w="med" len="med"/>
                    </a:lnL>
                    <a:lnR w="6350" cap="flat" cmpd="sng" algn="ctr">
                      <a:solidFill>
                        <a:srgbClr val="C5D8D8"/>
                      </a:solidFill>
                      <a:prstDash val="solid"/>
                      <a:round/>
                      <a:headEnd type="none" w="med" len="med"/>
                      <a:tailEnd type="none" w="med" len="med"/>
                    </a:lnR>
                    <a:lnT w="6350" cap="flat" cmpd="sng" algn="ctr">
                      <a:solidFill>
                        <a:srgbClr val="C5D8D8"/>
                      </a:solidFill>
                      <a:prstDash val="solid"/>
                      <a:round/>
                      <a:headEnd type="none" w="med" len="med"/>
                      <a:tailEnd type="none" w="med" len="med"/>
                    </a:lnT>
                    <a:lnB w="6350" cap="flat" cmpd="sng" algn="ctr">
                      <a:solidFill>
                        <a:srgbClr val="C5D8D8"/>
                      </a:solidFill>
                      <a:prstDash val="solid"/>
                      <a:round/>
                      <a:headEnd type="none" w="med" len="med"/>
                      <a:tailEnd type="none" w="med" len="med"/>
                    </a:lnB>
                  </a:tcPr>
                </a:tc>
                <a:tc>
                  <a:txBody>
                    <a:bodyPr/>
                    <a:lstStyle/>
                    <a:p>
                      <a:pPr marL="0" indent="0" algn="ctr">
                        <a:buNone/>
                      </a:pPr>
                      <a:r>
                        <a:rPr lang="en-US" sz="1100" b="1" dirty="0">
                          <a:solidFill>
                            <a:srgbClr val="10B981"/>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anchor="ctr">
                    <a:lnL w="6350" cap="flat" cmpd="sng" algn="ctr">
                      <a:solidFill>
                        <a:srgbClr val="C5D8D8"/>
                      </a:solidFill>
                      <a:prstDash val="solid"/>
                      <a:round/>
                      <a:headEnd type="none" w="med" len="med"/>
                      <a:tailEnd type="none" w="med" len="med"/>
                    </a:lnL>
                    <a:lnR w="6350" cap="flat" cmpd="sng" algn="ctr">
                      <a:solidFill>
                        <a:srgbClr val="C5D8D8"/>
                      </a:solidFill>
                      <a:prstDash val="solid"/>
                      <a:round/>
                      <a:headEnd type="none" w="med" len="med"/>
                      <a:tailEnd type="none" w="med" len="med"/>
                    </a:lnR>
                    <a:lnT w="6350" cap="flat" cmpd="sng" algn="ctr">
                      <a:solidFill>
                        <a:srgbClr val="C5D8D8"/>
                      </a:solidFill>
                      <a:prstDash val="solid"/>
                      <a:round/>
                      <a:headEnd type="none" w="med" len="med"/>
                      <a:tailEnd type="none" w="med" len="med"/>
                    </a:lnT>
                    <a:lnB w="6350" cap="flat" cmpd="sng" algn="ctr">
                      <a:solidFill>
                        <a:srgbClr val="C5D8D8"/>
                      </a:solidFill>
                      <a:prstDash val="solid"/>
                      <a:round/>
                      <a:headEnd type="none" w="med" len="med"/>
                      <a:tailEnd type="none" w="med" len="med"/>
                    </a:lnB>
                  </a:tcPr>
                </a:tc>
                <a:tc>
                  <a:txBody>
                    <a:bodyPr/>
                    <a:lstStyle/>
                    <a:p>
                      <a:pPr marL="0" indent="0" algn="ctr">
                        <a:buNone/>
                      </a:pPr>
                      <a:r>
                        <a:rPr lang="en-US" sz="1100" b="1" dirty="0">
                          <a:solidFill>
                            <a:srgbClr val="10B981"/>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anchor="ctr">
                    <a:lnL w="6350" cap="flat" cmpd="sng" algn="ctr">
                      <a:solidFill>
                        <a:srgbClr val="C5D8D8"/>
                      </a:solidFill>
                      <a:prstDash val="solid"/>
                      <a:round/>
                      <a:headEnd type="none" w="med" len="med"/>
                      <a:tailEnd type="none" w="med" len="med"/>
                    </a:lnL>
                    <a:lnR w="6350" cap="flat" cmpd="sng" algn="ctr">
                      <a:solidFill>
                        <a:srgbClr val="C5D8D8"/>
                      </a:solidFill>
                      <a:prstDash val="solid"/>
                      <a:round/>
                      <a:headEnd type="none" w="med" len="med"/>
                      <a:tailEnd type="none" w="med" len="med"/>
                    </a:lnR>
                    <a:lnT w="6350" cap="flat" cmpd="sng" algn="ctr">
                      <a:solidFill>
                        <a:srgbClr val="C5D8D8"/>
                      </a:solidFill>
                      <a:prstDash val="solid"/>
                      <a:round/>
                      <a:headEnd type="none" w="med" len="med"/>
                      <a:tailEnd type="none" w="med" len="med"/>
                    </a:lnT>
                    <a:lnB w="6350" cap="flat" cmpd="sng" algn="ctr">
                      <a:solidFill>
                        <a:srgbClr val="C5D8D8"/>
                      </a:solidFill>
                      <a:prstDash val="solid"/>
                      <a:round/>
                      <a:headEnd type="none" w="med" len="med"/>
                      <a:tailEnd type="none" w="med" len="med"/>
                    </a:lnB>
                  </a:tcPr>
                </a:tc>
                <a:extLst>
                  <a:ext uri="{0D108BD9-81ED-4DB2-BD59-A6C34878D82A}">
                    <a16:rowId xmlns:a16="http://schemas.microsoft.com/office/drawing/2014/main" val="10003"/>
                  </a:ext>
                </a:extLst>
              </a:tr>
              <a:tr h="0">
                <a:tc>
                  <a:txBody>
                    <a:bodyPr/>
                    <a:lstStyle/>
                    <a:p>
                      <a:pPr marL="0" indent="0">
                        <a:buNone/>
                      </a:pPr>
                      <a:r>
                        <a:rPr lang="en-US" sz="850" dirty="0">
                          <a:solidFill>
                            <a:srgbClr val="334155"/>
                          </a:solidFill>
                          <a:latin typeface="Calibri" pitchFamily="34" charset="0"/>
                          <a:ea typeface="Calibri" pitchFamily="34" charset="-122"/>
                          <a:cs typeface="Calibri" pitchFamily="34" charset="-120"/>
                        </a:rPr>
                        <a:t>Historical Production / Gen. Mix</a:t>
                      </a:r>
                      <a:endParaRPr lang="en-US" sz="850" dirty="0">
                        <a:latin typeface="Calibri" charset="0"/>
                        <a:ea typeface="Calibri" charset="0"/>
                        <a:cs typeface="Calibri" charset="0"/>
                      </a:endParaRPr>
                    </a:p>
                  </a:txBody>
                  <a:tcPr anchor="ctr">
                    <a:lnL w="6350" cap="flat" cmpd="sng" algn="ctr">
                      <a:solidFill>
                        <a:srgbClr val="C5D8D8"/>
                      </a:solidFill>
                      <a:prstDash val="solid"/>
                      <a:round/>
                      <a:headEnd type="none" w="med" len="med"/>
                      <a:tailEnd type="none" w="med" len="med"/>
                    </a:lnL>
                    <a:lnR w="6350" cap="flat" cmpd="sng" algn="ctr">
                      <a:solidFill>
                        <a:srgbClr val="C5D8D8"/>
                      </a:solidFill>
                      <a:prstDash val="solid"/>
                      <a:round/>
                      <a:headEnd type="none" w="med" len="med"/>
                      <a:tailEnd type="none" w="med" len="med"/>
                    </a:lnR>
                    <a:lnT w="6350" cap="flat" cmpd="sng" algn="ctr">
                      <a:solidFill>
                        <a:srgbClr val="C5D8D8"/>
                      </a:solidFill>
                      <a:prstDash val="solid"/>
                      <a:round/>
                      <a:headEnd type="none" w="med" len="med"/>
                      <a:tailEnd type="none" w="med" len="med"/>
                    </a:lnT>
                    <a:lnB w="6350" cap="flat" cmpd="sng" algn="ctr">
                      <a:solidFill>
                        <a:srgbClr val="C5D8D8"/>
                      </a:solidFill>
                      <a:prstDash val="solid"/>
                      <a:round/>
                      <a:headEnd type="none" w="med" len="med"/>
                      <a:tailEnd type="none" w="med" len="med"/>
                    </a:lnB>
                  </a:tcPr>
                </a:tc>
                <a:tc>
                  <a:txBody>
                    <a:bodyPr/>
                    <a:lstStyle/>
                    <a:p>
                      <a:pPr marL="0" indent="0" algn="ctr">
                        <a:buNone/>
                      </a:pPr>
                      <a:r>
                        <a:rPr lang="en-US" sz="1100" b="1" dirty="0">
                          <a:solidFill>
                            <a:srgbClr val="10B981"/>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anchor="ctr">
                    <a:lnL w="6350" cap="flat" cmpd="sng" algn="ctr">
                      <a:solidFill>
                        <a:srgbClr val="C5D8D8"/>
                      </a:solidFill>
                      <a:prstDash val="solid"/>
                      <a:round/>
                      <a:headEnd type="none" w="med" len="med"/>
                      <a:tailEnd type="none" w="med" len="med"/>
                    </a:lnL>
                    <a:lnR w="6350" cap="flat" cmpd="sng" algn="ctr">
                      <a:solidFill>
                        <a:srgbClr val="C5D8D8"/>
                      </a:solidFill>
                      <a:prstDash val="solid"/>
                      <a:round/>
                      <a:headEnd type="none" w="med" len="med"/>
                      <a:tailEnd type="none" w="med" len="med"/>
                    </a:lnR>
                    <a:lnT w="6350" cap="flat" cmpd="sng" algn="ctr">
                      <a:solidFill>
                        <a:srgbClr val="C5D8D8"/>
                      </a:solidFill>
                      <a:prstDash val="solid"/>
                      <a:round/>
                      <a:headEnd type="none" w="med" len="med"/>
                      <a:tailEnd type="none" w="med" len="med"/>
                    </a:lnT>
                    <a:lnB w="6350" cap="flat" cmpd="sng" algn="ctr">
                      <a:solidFill>
                        <a:srgbClr val="C5D8D8"/>
                      </a:solidFill>
                      <a:prstDash val="solid"/>
                      <a:round/>
                      <a:headEnd type="none" w="med" len="med"/>
                      <a:tailEnd type="none" w="med" len="med"/>
                    </a:lnB>
                  </a:tcPr>
                </a:tc>
                <a:tc>
                  <a:txBody>
                    <a:bodyPr/>
                    <a:lstStyle/>
                    <a:p>
                      <a:pPr marL="0" indent="0" algn="ctr">
                        <a:buNone/>
                      </a:pPr>
                      <a:r>
                        <a:rPr lang="en-US" sz="1100" b="1" dirty="0">
                          <a:solidFill>
                            <a:srgbClr val="10B981"/>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anchor="ctr">
                    <a:lnL w="6350" cap="flat" cmpd="sng" algn="ctr">
                      <a:solidFill>
                        <a:srgbClr val="C5D8D8"/>
                      </a:solidFill>
                      <a:prstDash val="solid"/>
                      <a:round/>
                      <a:headEnd type="none" w="med" len="med"/>
                      <a:tailEnd type="none" w="med" len="med"/>
                    </a:lnL>
                    <a:lnR w="6350" cap="flat" cmpd="sng" algn="ctr">
                      <a:solidFill>
                        <a:srgbClr val="C5D8D8"/>
                      </a:solidFill>
                      <a:prstDash val="solid"/>
                      <a:round/>
                      <a:headEnd type="none" w="med" len="med"/>
                      <a:tailEnd type="none" w="med" len="med"/>
                    </a:lnR>
                    <a:lnT w="6350" cap="flat" cmpd="sng" algn="ctr">
                      <a:solidFill>
                        <a:srgbClr val="C5D8D8"/>
                      </a:solidFill>
                      <a:prstDash val="solid"/>
                      <a:round/>
                      <a:headEnd type="none" w="med" len="med"/>
                      <a:tailEnd type="none" w="med" len="med"/>
                    </a:lnT>
                    <a:lnB w="6350" cap="flat" cmpd="sng" algn="ctr">
                      <a:solidFill>
                        <a:srgbClr val="C5D8D8"/>
                      </a:solidFill>
                      <a:prstDash val="solid"/>
                      <a:round/>
                      <a:headEnd type="none" w="med" len="med"/>
                      <a:tailEnd type="none" w="med" len="med"/>
                    </a:lnB>
                  </a:tcPr>
                </a:tc>
                <a:tc>
                  <a:txBody>
                    <a:bodyPr/>
                    <a:lstStyle/>
                    <a:p>
                      <a:pPr marL="0" indent="0" algn="ctr">
                        <a:buNone/>
                      </a:pPr>
                      <a:r>
                        <a:rPr lang="en-US" sz="1100" b="1" dirty="0">
                          <a:solidFill>
                            <a:srgbClr val="10B981"/>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anchor="ctr">
                    <a:lnL w="6350" cap="flat" cmpd="sng" algn="ctr">
                      <a:solidFill>
                        <a:srgbClr val="C5D8D8"/>
                      </a:solidFill>
                      <a:prstDash val="solid"/>
                      <a:round/>
                      <a:headEnd type="none" w="med" len="med"/>
                      <a:tailEnd type="none" w="med" len="med"/>
                    </a:lnL>
                    <a:lnR w="6350" cap="flat" cmpd="sng" algn="ctr">
                      <a:solidFill>
                        <a:srgbClr val="C5D8D8"/>
                      </a:solidFill>
                      <a:prstDash val="solid"/>
                      <a:round/>
                      <a:headEnd type="none" w="med" len="med"/>
                      <a:tailEnd type="none" w="med" len="med"/>
                    </a:lnR>
                    <a:lnT w="6350" cap="flat" cmpd="sng" algn="ctr">
                      <a:solidFill>
                        <a:srgbClr val="C5D8D8"/>
                      </a:solidFill>
                      <a:prstDash val="solid"/>
                      <a:round/>
                      <a:headEnd type="none" w="med" len="med"/>
                      <a:tailEnd type="none" w="med" len="med"/>
                    </a:lnT>
                    <a:lnB w="6350" cap="flat" cmpd="sng" algn="ctr">
                      <a:solidFill>
                        <a:srgbClr val="C5D8D8"/>
                      </a:solidFill>
                      <a:prstDash val="solid"/>
                      <a:round/>
                      <a:headEnd type="none" w="med" len="med"/>
                      <a:tailEnd type="none" w="med" len="med"/>
                    </a:lnB>
                  </a:tcPr>
                </a:tc>
                <a:tc>
                  <a:txBody>
                    <a:bodyPr/>
                    <a:lstStyle/>
                    <a:p>
                      <a:pPr marL="0" indent="0" algn="ctr">
                        <a:buNone/>
                      </a:pPr>
                      <a:r>
                        <a:rPr lang="en-US" sz="1100" b="1" dirty="0">
                          <a:solidFill>
                            <a:srgbClr val="10B981"/>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anchor="ctr">
                    <a:lnL w="6350" cap="flat" cmpd="sng" algn="ctr">
                      <a:solidFill>
                        <a:srgbClr val="C5D8D8"/>
                      </a:solidFill>
                      <a:prstDash val="solid"/>
                      <a:round/>
                      <a:headEnd type="none" w="med" len="med"/>
                      <a:tailEnd type="none" w="med" len="med"/>
                    </a:lnL>
                    <a:lnR w="6350" cap="flat" cmpd="sng" algn="ctr">
                      <a:solidFill>
                        <a:srgbClr val="C5D8D8"/>
                      </a:solidFill>
                      <a:prstDash val="solid"/>
                      <a:round/>
                      <a:headEnd type="none" w="med" len="med"/>
                      <a:tailEnd type="none" w="med" len="med"/>
                    </a:lnR>
                    <a:lnT w="6350" cap="flat" cmpd="sng" algn="ctr">
                      <a:solidFill>
                        <a:srgbClr val="C5D8D8"/>
                      </a:solidFill>
                      <a:prstDash val="solid"/>
                      <a:round/>
                      <a:headEnd type="none" w="med" len="med"/>
                      <a:tailEnd type="none" w="med" len="med"/>
                    </a:lnT>
                    <a:lnB w="6350" cap="flat" cmpd="sng" algn="ctr">
                      <a:solidFill>
                        <a:srgbClr val="C5D8D8"/>
                      </a:solidFill>
                      <a:prstDash val="solid"/>
                      <a:round/>
                      <a:headEnd type="none" w="med" len="med"/>
                      <a:tailEnd type="none" w="med" len="med"/>
                    </a:lnB>
                  </a:tcPr>
                </a:tc>
                <a:tc>
                  <a:txBody>
                    <a:bodyPr/>
                    <a:lstStyle/>
                    <a:p>
                      <a:pPr marL="0" indent="0" algn="ctr">
                        <a:buNone/>
                      </a:pPr>
                      <a:r>
                        <a:rPr lang="en-US" sz="1100" b="1" dirty="0">
                          <a:solidFill>
                            <a:srgbClr val="10B981"/>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anchor="ctr">
                    <a:lnL w="6350" cap="flat" cmpd="sng" algn="ctr">
                      <a:solidFill>
                        <a:srgbClr val="C5D8D8"/>
                      </a:solidFill>
                      <a:prstDash val="solid"/>
                      <a:round/>
                      <a:headEnd type="none" w="med" len="med"/>
                      <a:tailEnd type="none" w="med" len="med"/>
                    </a:lnL>
                    <a:lnR w="6350" cap="flat" cmpd="sng" algn="ctr">
                      <a:solidFill>
                        <a:srgbClr val="C5D8D8"/>
                      </a:solidFill>
                      <a:prstDash val="solid"/>
                      <a:round/>
                      <a:headEnd type="none" w="med" len="med"/>
                      <a:tailEnd type="none" w="med" len="med"/>
                    </a:lnR>
                    <a:lnT w="6350" cap="flat" cmpd="sng" algn="ctr">
                      <a:solidFill>
                        <a:srgbClr val="C5D8D8"/>
                      </a:solidFill>
                      <a:prstDash val="solid"/>
                      <a:round/>
                      <a:headEnd type="none" w="med" len="med"/>
                      <a:tailEnd type="none" w="med" len="med"/>
                    </a:lnT>
                    <a:lnB w="6350" cap="flat" cmpd="sng" algn="ctr">
                      <a:solidFill>
                        <a:srgbClr val="C5D8D8"/>
                      </a:solidFill>
                      <a:prstDash val="solid"/>
                      <a:round/>
                      <a:headEnd type="none" w="med" len="med"/>
                      <a:tailEnd type="none" w="med" len="med"/>
                    </a:lnB>
                  </a:tcPr>
                </a:tc>
                <a:tc>
                  <a:txBody>
                    <a:bodyPr/>
                    <a:lstStyle/>
                    <a:p>
                      <a:pPr marL="0" indent="0" algn="ctr">
                        <a:buNone/>
                      </a:pPr>
                      <a:r>
                        <a:rPr lang="en-US" sz="1100" b="1" dirty="0">
                          <a:solidFill>
                            <a:srgbClr val="10B981"/>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anchor="ctr">
                    <a:lnL w="6350" cap="flat" cmpd="sng" algn="ctr">
                      <a:solidFill>
                        <a:srgbClr val="C5D8D8"/>
                      </a:solidFill>
                      <a:prstDash val="solid"/>
                      <a:round/>
                      <a:headEnd type="none" w="med" len="med"/>
                      <a:tailEnd type="none" w="med" len="med"/>
                    </a:lnL>
                    <a:lnR w="6350" cap="flat" cmpd="sng" algn="ctr">
                      <a:solidFill>
                        <a:srgbClr val="C5D8D8"/>
                      </a:solidFill>
                      <a:prstDash val="solid"/>
                      <a:round/>
                      <a:headEnd type="none" w="med" len="med"/>
                      <a:tailEnd type="none" w="med" len="med"/>
                    </a:lnR>
                    <a:lnT w="6350" cap="flat" cmpd="sng" algn="ctr">
                      <a:solidFill>
                        <a:srgbClr val="C5D8D8"/>
                      </a:solidFill>
                      <a:prstDash val="solid"/>
                      <a:round/>
                      <a:headEnd type="none" w="med" len="med"/>
                      <a:tailEnd type="none" w="med" len="med"/>
                    </a:lnT>
                    <a:lnB w="6350" cap="flat" cmpd="sng" algn="ctr">
                      <a:solidFill>
                        <a:srgbClr val="C5D8D8"/>
                      </a:solidFill>
                      <a:prstDash val="solid"/>
                      <a:round/>
                      <a:headEnd type="none" w="med" len="med"/>
                      <a:tailEnd type="none" w="med" len="med"/>
                    </a:lnB>
                  </a:tcPr>
                </a:tc>
                <a:extLst>
                  <a:ext uri="{0D108BD9-81ED-4DB2-BD59-A6C34878D82A}">
                    <a16:rowId xmlns:a16="http://schemas.microsoft.com/office/drawing/2014/main" val="10004"/>
                  </a:ext>
                </a:extLst>
              </a:tr>
              <a:tr h="0">
                <a:tc>
                  <a:txBody>
                    <a:bodyPr/>
                    <a:lstStyle/>
                    <a:p>
                      <a:pPr marL="0" indent="0">
                        <a:buNone/>
                      </a:pPr>
                      <a:r>
                        <a:rPr lang="en-US" sz="850" dirty="0">
                          <a:solidFill>
                            <a:srgbClr val="334155"/>
                          </a:solidFill>
                          <a:latin typeface="Calibri" pitchFamily="34" charset="0"/>
                          <a:ea typeface="Calibri" pitchFamily="34" charset="-122"/>
                          <a:cs typeface="Calibri" pitchFamily="34" charset="-120"/>
                        </a:rPr>
                        <a:t>Cross-Border Interconnections</a:t>
                      </a:r>
                      <a:endParaRPr lang="en-US" sz="850" dirty="0">
                        <a:latin typeface="Calibri" charset="0"/>
                        <a:ea typeface="Calibri" charset="0"/>
                        <a:cs typeface="Calibri" charset="0"/>
                      </a:endParaRPr>
                    </a:p>
                  </a:txBody>
                  <a:tcPr anchor="ctr">
                    <a:lnL w="6350" cap="flat" cmpd="sng" algn="ctr">
                      <a:solidFill>
                        <a:srgbClr val="C5D8D8"/>
                      </a:solidFill>
                      <a:prstDash val="solid"/>
                      <a:round/>
                      <a:headEnd type="none" w="med" len="med"/>
                      <a:tailEnd type="none" w="med" len="med"/>
                    </a:lnL>
                    <a:lnR w="6350" cap="flat" cmpd="sng" algn="ctr">
                      <a:solidFill>
                        <a:srgbClr val="C5D8D8"/>
                      </a:solidFill>
                      <a:prstDash val="solid"/>
                      <a:round/>
                      <a:headEnd type="none" w="med" len="med"/>
                      <a:tailEnd type="none" w="med" len="med"/>
                    </a:lnR>
                    <a:lnT w="6350" cap="flat" cmpd="sng" algn="ctr">
                      <a:solidFill>
                        <a:srgbClr val="C5D8D8"/>
                      </a:solidFill>
                      <a:prstDash val="solid"/>
                      <a:round/>
                      <a:headEnd type="none" w="med" len="med"/>
                      <a:tailEnd type="none" w="med" len="med"/>
                    </a:lnT>
                    <a:lnB w="6350" cap="flat" cmpd="sng" algn="ctr">
                      <a:solidFill>
                        <a:srgbClr val="C5D8D8"/>
                      </a:solidFill>
                      <a:prstDash val="solid"/>
                      <a:round/>
                      <a:headEnd type="none" w="med" len="med"/>
                      <a:tailEnd type="none" w="med" len="med"/>
                    </a:lnB>
                  </a:tcPr>
                </a:tc>
                <a:tc>
                  <a:txBody>
                    <a:bodyPr/>
                    <a:lstStyle/>
                    <a:p>
                      <a:pPr marL="0" indent="0" algn="ctr">
                        <a:buNone/>
                      </a:pPr>
                      <a:r>
                        <a:rPr lang="en-US" sz="1100" b="1" dirty="0">
                          <a:solidFill>
                            <a:srgbClr val="10B981"/>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anchor="ctr">
                    <a:lnL w="6350" cap="flat" cmpd="sng" algn="ctr">
                      <a:solidFill>
                        <a:srgbClr val="C5D8D8"/>
                      </a:solidFill>
                      <a:prstDash val="solid"/>
                      <a:round/>
                      <a:headEnd type="none" w="med" len="med"/>
                      <a:tailEnd type="none" w="med" len="med"/>
                    </a:lnL>
                    <a:lnR w="6350" cap="flat" cmpd="sng" algn="ctr">
                      <a:solidFill>
                        <a:srgbClr val="C5D8D8"/>
                      </a:solidFill>
                      <a:prstDash val="solid"/>
                      <a:round/>
                      <a:headEnd type="none" w="med" len="med"/>
                      <a:tailEnd type="none" w="med" len="med"/>
                    </a:lnR>
                    <a:lnT w="6350" cap="flat" cmpd="sng" algn="ctr">
                      <a:solidFill>
                        <a:srgbClr val="C5D8D8"/>
                      </a:solidFill>
                      <a:prstDash val="solid"/>
                      <a:round/>
                      <a:headEnd type="none" w="med" len="med"/>
                      <a:tailEnd type="none" w="med" len="med"/>
                    </a:lnT>
                    <a:lnB w="6350" cap="flat" cmpd="sng" algn="ctr">
                      <a:solidFill>
                        <a:srgbClr val="C5D8D8"/>
                      </a:solidFill>
                      <a:prstDash val="solid"/>
                      <a:round/>
                      <a:headEnd type="none" w="med" len="med"/>
                      <a:tailEnd type="none" w="med" len="med"/>
                    </a:lnB>
                  </a:tcPr>
                </a:tc>
                <a:tc>
                  <a:txBody>
                    <a:bodyPr/>
                    <a:lstStyle/>
                    <a:p>
                      <a:pPr marL="0" indent="0" algn="ctr">
                        <a:buNone/>
                      </a:pPr>
                      <a:r>
                        <a:rPr lang="en-US" sz="1100" b="1" dirty="0">
                          <a:solidFill>
                            <a:srgbClr val="10B981"/>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anchor="ctr">
                    <a:lnL w="6350" cap="flat" cmpd="sng" algn="ctr">
                      <a:solidFill>
                        <a:srgbClr val="C5D8D8"/>
                      </a:solidFill>
                      <a:prstDash val="solid"/>
                      <a:round/>
                      <a:headEnd type="none" w="med" len="med"/>
                      <a:tailEnd type="none" w="med" len="med"/>
                    </a:lnL>
                    <a:lnR w="6350" cap="flat" cmpd="sng" algn="ctr">
                      <a:solidFill>
                        <a:srgbClr val="C5D8D8"/>
                      </a:solidFill>
                      <a:prstDash val="solid"/>
                      <a:round/>
                      <a:headEnd type="none" w="med" len="med"/>
                      <a:tailEnd type="none" w="med" len="med"/>
                    </a:lnR>
                    <a:lnT w="6350" cap="flat" cmpd="sng" algn="ctr">
                      <a:solidFill>
                        <a:srgbClr val="C5D8D8"/>
                      </a:solidFill>
                      <a:prstDash val="solid"/>
                      <a:round/>
                      <a:headEnd type="none" w="med" len="med"/>
                      <a:tailEnd type="none" w="med" len="med"/>
                    </a:lnT>
                    <a:lnB w="6350" cap="flat" cmpd="sng" algn="ctr">
                      <a:solidFill>
                        <a:srgbClr val="C5D8D8"/>
                      </a:solidFill>
                      <a:prstDash val="solid"/>
                      <a:round/>
                      <a:headEnd type="none" w="med" len="med"/>
                      <a:tailEnd type="none" w="med" len="med"/>
                    </a:lnB>
                  </a:tcPr>
                </a:tc>
                <a:tc>
                  <a:txBody>
                    <a:bodyPr/>
                    <a:lstStyle/>
                    <a:p>
                      <a:pPr marL="0" indent="0" algn="ctr">
                        <a:buNone/>
                      </a:pPr>
                      <a:r>
                        <a:rPr lang="en-US" sz="1100" b="1" dirty="0">
                          <a:solidFill>
                            <a:srgbClr val="10B981"/>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anchor="ctr">
                    <a:lnL w="6350" cap="flat" cmpd="sng" algn="ctr">
                      <a:solidFill>
                        <a:srgbClr val="C5D8D8"/>
                      </a:solidFill>
                      <a:prstDash val="solid"/>
                      <a:round/>
                      <a:headEnd type="none" w="med" len="med"/>
                      <a:tailEnd type="none" w="med" len="med"/>
                    </a:lnL>
                    <a:lnR w="6350" cap="flat" cmpd="sng" algn="ctr">
                      <a:solidFill>
                        <a:srgbClr val="C5D8D8"/>
                      </a:solidFill>
                      <a:prstDash val="solid"/>
                      <a:round/>
                      <a:headEnd type="none" w="med" len="med"/>
                      <a:tailEnd type="none" w="med" len="med"/>
                    </a:lnR>
                    <a:lnT w="6350" cap="flat" cmpd="sng" algn="ctr">
                      <a:solidFill>
                        <a:srgbClr val="C5D8D8"/>
                      </a:solidFill>
                      <a:prstDash val="solid"/>
                      <a:round/>
                      <a:headEnd type="none" w="med" len="med"/>
                      <a:tailEnd type="none" w="med" len="med"/>
                    </a:lnT>
                    <a:lnB w="6350" cap="flat" cmpd="sng" algn="ctr">
                      <a:solidFill>
                        <a:srgbClr val="C5D8D8"/>
                      </a:solidFill>
                      <a:prstDash val="solid"/>
                      <a:round/>
                      <a:headEnd type="none" w="med" len="med"/>
                      <a:tailEnd type="none" w="med" len="med"/>
                    </a:lnB>
                  </a:tcPr>
                </a:tc>
                <a:tc>
                  <a:txBody>
                    <a:bodyPr/>
                    <a:lstStyle/>
                    <a:p>
                      <a:pPr marL="0" indent="0" algn="ctr">
                        <a:buNone/>
                      </a:pPr>
                      <a:r>
                        <a:rPr lang="en-US" sz="1100" b="1" dirty="0">
                          <a:solidFill>
                            <a:srgbClr val="F59E0B"/>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anchor="ctr">
                    <a:lnL w="6350" cap="flat" cmpd="sng" algn="ctr">
                      <a:solidFill>
                        <a:srgbClr val="C5D8D8"/>
                      </a:solidFill>
                      <a:prstDash val="solid"/>
                      <a:round/>
                      <a:headEnd type="none" w="med" len="med"/>
                      <a:tailEnd type="none" w="med" len="med"/>
                    </a:lnL>
                    <a:lnR w="6350" cap="flat" cmpd="sng" algn="ctr">
                      <a:solidFill>
                        <a:srgbClr val="C5D8D8"/>
                      </a:solidFill>
                      <a:prstDash val="solid"/>
                      <a:round/>
                      <a:headEnd type="none" w="med" len="med"/>
                      <a:tailEnd type="none" w="med" len="med"/>
                    </a:lnR>
                    <a:lnT w="6350" cap="flat" cmpd="sng" algn="ctr">
                      <a:solidFill>
                        <a:srgbClr val="C5D8D8"/>
                      </a:solidFill>
                      <a:prstDash val="solid"/>
                      <a:round/>
                      <a:headEnd type="none" w="med" len="med"/>
                      <a:tailEnd type="none" w="med" len="med"/>
                    </a:lnT>
                    <a:lnB w="6350" cap="flat" cmpd="sng" algn="ctr">
                      <a:solidFill>
                        <a:srgbClr val="C5D8D8"/>
                      </a:solidFill>
                      <a:prstDash val="solid"/>
                      <a:round/>
                      <a:headEnd type="none" w="med" len="med"/>
                      <a:tailEnd type="none" w="med" len="med"/>
                    </a:lnB>
                  </a:tcPr>
                </a:tc>
                <a:tc>
                  <a:txBody>
                    <a:bodyPr/>
                    <a:lstStyle/>
                    <a:p>
                      <a:pPr marL="0" indent="0" algn="ctr">
                        <a:buNone/>
                      </a:pPr>
                      <a:r>
                        <a:rPr lang="en-US" sz="1100" b="1" dirty="0">
                          <a:solidFill>
                            <a:srgbClr val="10B981"/>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anchor="ctr">
                    <a:lnL w="6350" cap="flat" cmpd="sng" algn="ctr">
                      <a:solidFill>
                        <a:srgbClr val="C5D8D8"/>
                      </a:solidFill>
                      <a:prstDash val="solid"/>
                      <a:round/>
                      <a:headEnd type="none" w="med" len="med"/>
                      <a:tailEnd type="none" w="med" len="med"/>
                    </a:lnL>
                    <a:lnR w="6350" cap="flat" cmpd="sng" algn="ctr">
                      <a:solidFill>
                        <a:srgbClr val="C5D8D8"/>
                      </a:solidFill>
                      <a:prstDash val="solid"/>
                      <a:round/>
                      <a:headEnd type="none" w="med" len="med"/>
                      <a:tailEnd type="none" w="med" len="med"/>
                    </a:lnR>
                    <a:lnT w="6350" cap="flat" cmpd="sng" algn="ctr">
                      <a:solidFill>
                        <a:srgbClr val="C5D8D8"/>
                      </a:solidFill>
                      <a:prstDash val="solid"/>
                      <a:round/>
                      <a:headEnd type="none" w="med" len="med"/>
                      <a:tailEnd type="none" w="med" len="med"/>
                    </a:lnT>
                    <a:lnB w="6350" cap="flat" cmpd="sng" algn="ctr">
                      <a:solidFill>
                        <a:srgbClr val="C5D8D8"/>
                      </a:solidFill>
                      <a:prstDash val="solid"/>
                      <a:round/>
                      <a:headEnd type="none" w="med" len="med"/>
                      <a:tailEnd type="none" w="med" len="med"/>
                    </a:lnB>
                  </a:tcPr>
                </a:tc>
                <a:tc>
                  <a:txBody>
                    <a:bodyPr/>
                    <a:lstStyle/>
                    <a:p>
                      <a:pPr marL="0" indent="0" algn="ctr">
                        <a:buNone/>
                      </a:pPr>
                      <a:r>
                        <a:rPr lang="en-US" sz="1100" b="1" dirty="0">
                          <a:solidFill>
                            <a:srgbClr val="10B981"/>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anchor="ctr">
                    <a:lnL w="6350" cap="flat" cmpd="sng" algn="ctr">
                      <a:solidFill>
                        <a:srgbClr val="C5D8D8"/>
                      </a:solidFill>
                      <a:prstDash val="solid"/>
                      <a:round/>
                      <a:headEnd type="none" w="med" len="med"/>
                      <a:tailEnd type="none" w="med" len="med"/>
                    </a:lnL>
                    <a:lnR w="6350" cap="flat" cmpd="sng" algn="ctr">
                      <a:solidFill>
                        <a:srgbClr val="C5D8D8"/>
                      </a:solidFill>
                      <a:prstDash val="solid"/>
                      <a:round/>
                      <a:headEnd type="none" w="med" len="med"/>
                      <a:tailEnd type="none" w="med" len="med"/>
                    </a:lnR>
                    <a:lnT w="6350" cap="flat" cmpd="sng" algn="ctr">
                      <a:solidFill>
                        <a:srgbClr val="C5D8D8"/>
                      </a:solidFill>
                      <a:prstDash val="solid"/>
                      <a:round/>
                      <a:headEnd type="none" w="med" len="med"/>
                      <a:tailEnd type="none" w="med" len="med"/>
                    </a:lnT>
                    <a:lnB w="6350" cap="flat" cmpd="sng" algn="ctr">
                      <a:solidFill>
                        <a:srgbClr val="C5D8D8"/>
                      </a:solidFill>
                      <a:prstDash val="solid"/>
                      <a:round/>
                      <a:headEnd type="none" w="med" len="med"/>
                      <a:tailEnd type="none" w="med" len="med"/>
                    </a:lnB>
                  </a:tcPr>
                </a:tc>
                <a:extLst>
                  <a:ext uri="{0D108BD9-81ED-4DB2-BD59-A6C34878D82A}">
                    <a16:rowId xmlns:a16="http://schemas.microsoft.com/office/drawing/2014/main" val="10005"/>
                  </a:ext>
                </a:extLst>
              </a:tr>
              <a:tr h="0">
                <a:tc>
                  <a:txBody>
                    <a:bodyPr/>
                    <a:lstStyle/>
                    <a:p>
                      <a:pPr marL="0" indent="0">
                        <a:buNone/>
                      </a:pPr>
                      <a:r>
                        <a:rPr lang="en-US" sz="850" dirty="0">
                          <a:solidFill>
                            <a:srgbClr val="334155"/>
                          </a:solidFill>
                          <a:latin typeface="Calibri" pitchFamily="34" charset="0"/>
                          <a:ea typeface="Calibri" pitchFamily="34" charset="-122"/>
                          <a:cs typeface="Calibri" pitchFamily="34" charset="-120"/>
                        </a:rPr>
                        <a:t>Transmission Grid</a:t>
                      </a:r>
                      <a:endParaRPr lang="en-US" sz="850" dirty="0">
                        <a:latin typeface="Calibri" charset="0"/>
                        <a:ea typeface="Calibri" charset="0"/>
                        <a:cs typeface="Calibri" charset="0"/>
                      </a:endParaRPr>
                    </a:p>
                  </a:txBody>
                  <a:tcPr anchor="ctr">
                    <a:lnL w="6350" cap="flat" cmpd="sng" algn="ctr">
                      <a:solidFill>
                        <a:srgbClr val="C5D8D8"/>
                      </a:solidFill>
                      <a:prstDash val="solid"/>
                      <a:round/>
                      <a:headEnd type="none" w="med" len="med"/>
                      <a:tailEnd type="none" w="med" len="med"/>
                    </a:lnL>
                    <a:lnR w="6350" cap="flat" cmpd="sng" algn="ctr">
                      <a:solidFill>
                        <a:srgbClr val="C5D8D8"/>
                      </a:solidFill>
                      <a:prstDash val="solid"/>
                      <a:round/>
                      <a:headEnd type="none" w="med" len="med"/>
                      <a:tailEnd type="none" w="med" len="med"/>
                    </a:lnR>
                    <a:lnT w="6350" cap="flat" cmpd="sng" algn="ctr">
                      <a:solidFill>
                        <a:srgbClr val="C5D8D8"/>
                      </a:solidFill>
                      <a:prstDash val="solid"/>
                      <a:round/>
                      <a:headEnd type="none" w="med" len="med"/>
                      <a:tailEnd type="none" w="med" len="med"/>
                    </a:lnT>
                    <a:lnB w="6350" cap="flat" cmpd="sng" algn="ctr">
                      <a:solidFill>
                        <a:srgbClr val="C5D8D8"/>
                      </a:solidFill>
                      <a:prstDash val="solid"/>
                      <a:round/>
                      <a:headEnd type="none" w="med" len="med"/>
                      <a:tailEnd type="none" w="med" len="med"/>
                    </a:lnB>
                  </a:tcPr>
                </a:tc>
                <a:tc>
                  <a:txBody>
                    <a:bodyPr/>
                    <a:lstStyle/>
                    <a:p>
                      <a:pPr marL="0" indent="0" algn="ctr">
                        <a:buNone/>
                      </a:pPr>
                      <a:r>
                        <a:rPr lang="en-US" sz="1100" b="1" dirty="0">
                          <a:solidFill>
                            <a:srgbClr val="10B981"/>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anchor="ctr">
                    <a:lnL w="6350" cap="flat" cmpd="sng" algn="ctr">
                      <a:solidFill>
                        <a:srgbClr val="C5D8D8"/>
                      </a:solidFill>
                      <a:prstDash val="solid"/>
                      <a:round/>
                      <a:headEnd type="none" w="med" len="med"/>
                      <a:tailEnd type="none" w="med" len="med"/>
                    </a:lnL>
                    <a:lnR w="6350" cap="flat" cmpd="sng" algn="ctr">
                      <a:solidFill>
                        <a:srgbClr val="C5D8D8"/>
                      </a:solidFill>
                      <a:prstDash val="solid"/>
                      <a:round/>
                      <a:headEnd type="none" w="med" len="med"/>
                      <a:tailEnd type="none" w="med" len="med"/>
                    </a:lnR>
                    <a:lnT w="6350" cap="flat" cmpd="sng" algn="ctr">
                      <a:solidFill>
                        <a:srgbClr val="C5D8D8"/>
                      </a:solidFill>
                      <a:prstDash val="solid"/>
                      <a:round/>
                      <a:headEnd type="none" w="med" len="med"/>
                      <a:tailEnd type="none" w="med" len="med"/>
                    </a:lnT>
                    <a:lnB w="6350" cap="flat" cmpd="sng" algn="ctr">
                      <a:solidFill>
                        <a:srgbClr val="C5D8D8"/>
                      </a:solidFill>
                      <a:prstDash val="solid"/>
                      <a:round/>
                      <a:headEnd type="none" w="med" len="med"/>
                      <a:tailEnd type="none" w="med" len="med"/>
                    </a:lnB>
                  </a:tcPr>
                </a:tc>
                <a:tc>
                  <a:txBody>
                    <a:bodyPr/>
                    <a:lstStyle/>
                    <a:p>
                      <a:pPr marL="0" indent="0" algn="ctr">
                        <a:buNone/>
                      </a:pPr>
                      <a:r>
                        <a:rPr lang="en-US" sz="1100" b="1" dirty="0">
                          <a:solidFill>
                            <a:srgbClr val="10B981"/>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anchor="ctr">
                    <a:lnL w="6350" cap="flat" cmpd="sng" algn="ctr">
                      <a:solidFill>
                        <a:srgbClr val="C5D8D8"/>
                      </a:solidFill>
                      <a:prstDash val="solid"/>
                      <a:round/>
                      <a:headEnd type="none" w="med" len="med"/>
                      <a:tailEnd type="none" w="med" len="med"/>
                    </a:lnL>
                    <a:lnR w="6350" cap="flat" cmpd="sng" algn="ctr">
                      <a:solidFill>
                        <a:srgbClr val="C5D8D8"/>
                      </a:solidFill>
                      <a:prstDash val="solid"/>
                      <a:round/>
                      <a:headEnd type="none" w="med" len="med"/>
                      <a:tailEnd type="none" w="med" len="med"/>
                    </a:lnR>
                    <a:lnT w="6350" cap="flat" cmpd="sng" algn="ctr">
                      <a:solidFill>
                        <a:srgbClr val="C5D8D8"/>
                      </a:solidFill>
                      <a:prstDash val="solid"/>
                      <a:round/>
                      <a:headEnd type="none" w="med" len="med"/>
                      <a:tailEnd type="none" w="med" len="med"/>
                    </a:lnT>
                    <a:lnB w="6350" cap="flat" cmpd="sng" algn="ctr">
                      <a:solidFill>
                        <a:srgbClr val="C5D8D8"/>
                      </a:solidFill>
                      <a:prstDash val="solid"/>
                      <a:round/>
                      <a:headEnd type="none" w="med" len="med"/>
                      <a:tailEnd type="none" w="med" len="med"/>
                    </a:lnB>
                  </a:tcPr>
                </a:tc>
                <a:tc>
                  <a:txBody>
                    <a:bodyPr/>
                    <a:lstStyle/>
                    <a:p>
                      <a:pPr marL="0" indent="0" algn="ctr">
                        <a:buNone/>
                      </a:pPr>
                      <a:r>
                        <a:rPr lang="en-US" sz="1100" b="1" dirty="0">
                          <a:solidFill>
                            <a:srgbClr val="10B981"/>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anchor="ctr">
                    <a:lnL w="6350" cap="flat" cmpd="sng" algn="ctr">
                      <a:solidFill>
                        <a:srgbClr val="C5D8D8"/>
                      </a:solidFill>
                      <a:prstDash val="solid"/>
                      <a:round/>
                      <a:headEnd type="none" w="med" len="med"/>
                      <a:tailEnd type="none" w="med" len="med"/>
                    </a:lnL>
                    <a:lnR w="6350" cap="flat" cmpd="sng" algn="ctr">
                      <a:solidFill>
                        <a:srgbClr val="C5D8D8"/>
                      </a:solidFill>
                      <a:prstDash val="solid"/>
                      <a:round/>
                      <a:headEnd type="none" w="med" len="med"/>
                      <a:tailEnd type="none" w="med" len="med"/>
                    </a:lnR>
                    <a:lnT w="6350" cap="flat" cmpd="sng" algn="ctr">
                      <a:solidFill>
                        <a:srgbClr val="C5D8D8"/>
                      </a:solidFill>
                      <a:prstDash val="solid"/>
                      <a:round/>
                      <a:headEnd type="none" w="med" len="med"/>
                      <a:tailEnd type="none" w="med" len="med"/>
                    </a:lnT>
                    <a:lnB w="6350" cap="flat" cmpd="sng" algn="ctr">
                      <a:solidFill>
                        <a:srgbClr val="C5D8D8"/>
                      </a:solidFill>
                      <a:prstDash val="solid"/>
                      <a:round/>
                      <a:headEnd type="none" w="med" len="med"/>
                      <a:tailEnd type="none" w="med" len="med"/>
                    </a:lnB>
                  </a:tcPr>
                </a:tc>
                <a:tc>
                  <a:txBody>
                    <a:bodyPr/>
                    <a:lstStyle/>
                    <a:p>
                      <a:pPr marL="0" indent="0" algn="ctr">
                        <a:buNone/>
                      </a:pPr>
                      <a:r>
                        <a:rPr lang="en-US" sz="1100" b="1" dirty="0">
                          <a:solidFill>
                            <a:srgbClr val="F59E0B"/>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anchor="ctr">
                    <a:lnL w="6350" cap="flat" cmpd="sng" algn="ctr">
                      <a:solidFill>
                        <a:srgbClr val="C5D8D8"/>
                      </a:solidFill>
                      <a:prstDash val="solid"/>
                      <a:round/>
                      <a:headEnd type="none" w="med" len="med"/>
                      <a:tailEnd type="none" w="med" len="med"/>
                    </a:lnL>
                    <a:lnR w="6350" cap="flat" cmpd="sng" algn="ctr">
                      <a:solidFill>
                        <a:srgbClr val="C5D8D8"/>
                      </a:solidFill>
                      <a:prstDash val="solid"/>
                      <a:round/>
                      <a:headEnd type="none" w="med" len="med"/>
                      <a:tailEnd type="none" w="med" len="med"/>
                    </a:lnR>
                    <a:lnT w="6350" cap="flat" cmpd="sng" algn="ctr">
                      <a:solidFill>
                        <a:srgbClr val="C5D8D8"/>
                      </a:solidFill>
                      <a:prstDash val="solid"/>
                      <a:round/>
                      <a:headEnd type="none" w="med" len="med"/>
                      <a:tailEnd type="none" w="med" len="med"/>
                    </a:lnT>
                    <a:lnB w="6350" cap="flat" cmpd="sng" algn="ctr">
                      <a:solidFill>
                        <a:srgbClr val="C5D8D8"/>
                      </a:solidFill>
                      <a:prstDash val="solid"/>
                      <a:round/>
                      <a:headEnd type="none" w="med" len="med"/>
                      <a:tailEnd type="none" w="med" len="med"/>
                    </a:lnB>
                  </a:tcPr>
                </a:tc>
                <a:tc>
                  <a:txBody>
                    <a:bodyPr/>
                    <a:lstStyle/>
                    <a:p>
                      <a:pPr marL="0" indent="0" algn="ctr">
                        <a:buNone/>
                      </a:pPr>
                      <a:r>
                        <a:rPr lang="en-US" sz="1100" b="1" dirty="0">
                          <a:solidFill>
                            <a:srgbClr val="10B981"/>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anchor="ctr">
                    <a:lnL w="6350" cap="flat" cmpd="sng" algn="ctr">
                      <a:solidFill>
                        <a:srgbClr val="C5D8D8"/>
                      </a:solidFill>
                      <a:prstDash val="solid"/>
                      <a:round/>
                      <a:headEnd type="none" w="med" len="med"/>
                      <a:tailEnd type="none" w="med" len="med"/>
                    </a:lnL>
                    <a:lnR w="6350" cap="flat" cmpd="sng" algn="ctr">
                      <a:solidFill>
                        <a:srgbClr val="C5D8D8"/>
                      </a:solidFill>
                      <a:prstDash val="solid"/>
                      <a:round/>
                      <a:headEnd type="none" w="med" len="med"/>
                      <a:tailEnd type="none" w="med" len="med"/>
                    </a:lnR>
                    <a:lnT w="6350" cap="flat" cmpd="sng" algn="ctr">
                      <a:solidFill>
                        <a:srgbClr val="C5D8D8"/>
                      </a:solidFill>
                      <a:prstDash val="solid"/>
                      <a:round/>
                      <a:headEnd type="none" w="med" len="med"/>
                      <a:tailEnd type="none" w="med" len="med"/>
                    </a:lnT>
                    <a:lnB w="6350" cap="flat" cmpd="sng" algn="ctr">
                      <a:solidFill>
                        <a:srgbClr val="C5D8D8"/>
                      </a:solidFill>
                      <a:prstDash val="solid"/>
                      <a:round/>
                      <a:headEnd type="none" w="med" len="med"/>
                      <a:tailEnd type="none" w="med" len="med"/>
                    </a:lnB>
                  </a:tcPr>
                </a:tc>
                <a:tc>
                  <a:txBody>
                    <a:bodyPr/>
                    <a:lstStyle/>
                    <a:p>
                      <a:pPr marL="0" indent="0" algn="ctr">
                        <a:buNone/>
                      </a:pPr>
                      <a:r>
                        <a:rPr lang="en-US" sz="1100" b="1" dirty="0">
                          <a:solidFill>
                            <a:srgbClr val="10B981"/>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anchor="ctr">
                    <a:lnL w="6350" cap="flat" cmpd="sng" algn="ctr">
                      <a:solidFill>
                        <a:srgbClr val="C5D8D8"/>
                      </a:solidFill>
                      <a:prstDash val="solid"/>
                      <a:round/>
                      <a:headEnd type="none" w="med" len="med"/>
                      <a:tailEnd type="none" w="med" len="med"/>
                    </a:lnL>
                    <a:lnR w="6350" cap="flat" cmpd="sng" algn="ctr">
                      <a:solidFill>
                        <a:srgbClr val="C5D8D8"/>
                      </a:solidFill>
                      <a:prstDash val="solid"/>
                      <a:round/>
                      <a:headEnd type="none" w="med" len="med"/>
                      <a:tailEnd type="none" w="med" len="med"/>
                    </a:lnR>
                    <a:lnT w="6350" cap="flat" cmpd="sng" algn="ctr">
                      <a:solidFill>
                        <a:srgbClr val="C5D8D8"/>
                      </a:solidFill>
                      <a:prstDash val="solid"/>
                      <a:round/>
                      <a:headEnd type="none" w="med" len="med"/>
                      <a:tailEnd type="none" w="med" len="med"/>
                    </a:lnT>
                    <a:lnB w="6350" cap="flat" cmpd="sng" algn="ctr">
                      <a:solidFill>
                        <a:srgbClr val="C5D8D8"/>
                      </a:solidFill>
                      <a:prstDash val="solid"/>
                      <a:round/>
                      <a:headEnd type="none" w="med" len="med"/>
                      <a:tailEnd type="none" w="med" len="med"/>
                    </a:lnB>
                  </a:tcPr>
                </a:tc>
                <a:extLst>
                  <a:ext uri="{0D108BD9-81ED-4DB2-BD59-A6C34878D82A}">
                    <a16:rowId xmlns:a16="http://schemas.microsoft.com/office/drawing/2014/main" val="10006"/>
                  </a:ext>
                </a:extLst>
              </a:tr>
              <a:tr h="0">
                <a:tc>
                  <a:txBody>
                    <a:bodyPr/>
                    <a:lstStyle/>
                    <a:p>
                      <a:pPr marL="0" indent="0">
                        <a:buNone/>
                      </a:pPr>
                      <a:r>
                        <a:rPr lang="en-US" sz="850" dirty="0">
                          <a:solidFill>
                            <a:srgbClr val="334155"/>
                          </a:solidFill>
                          <a:latin typeface="Calibri" pitchFamily="34" charset="0"/>
                          <a:ea typeface="Calibri" pitchFamily="34" charset="-122"/>
                          <a:cs typeface="Calibri" pitchFamily="34" charset="-120"/>
                        </a:rPr>
                        <a:t>VRE Capacity Factors (Solar/Wind)</a:t>
                      </a:r>
                      <a:endParaRPr lang="en-US" sz="850" dirty="0">
                        <a:latin typeface="Calibri" charset="0"/>
                        <a:ea typeface="Calibri" charset="0"/>
                        <a:cs typeface="Calibri" charset="0"/>
                      </a:endParaRPr>
                    </a:p>
                  </a:txBody>
                  <a:tcPr anchor="ctr">
                    <a:lnL w="6350" cap="flat" cmpd="sng" algn="ctr">
                      <a:solidFill>
                        <a:srgbClr val="C5D8D8"/>
                      </a:solidFill>
                      <a:prstDash val="solid"/>
                      <a:round/>
                      <a:headEnd type="none" w="med" len="med"/>
                      <a:tailEnd type="none" w="med" len="med"/>
                    </a:lnL>
                    <a:lnR w="6350" cap="flat" cmpd="sng" algn="ctr">
                      <a:solidFill>
                        <a:srgbClr val="C5D8D8"/>
                      </a:solidFill>
                      <a:prstDash val="solid"/>
                      <a:round/>
                      <a:headEnd type="none" w="med" len="med"/>
                      <a:tailEnd type="none" w="med" len="med"/>
                    </a:lnR>
                    <a:lnT w="6350" cap="flat" cmpd="sng" algn="ctr">
                      <a:solidFill>
                        <a:srgbClr val="C5D8D8"/>
                      </a:solidFill>
                      <a:prstDash val="solid"/>
                      <a:round/>
                      <a:headEnd type="none" w="med" len="med"/>
                      <a:tailEnd type="none" w="med" len="med"/>
                    </a:lnT>
                    <a:lnB w="6350" cap="flat" cmpd="sng" algn="ctr">
                      <a:solidFill>
                        <a:srgbClr val="C5D8D8"/>
                      </a:solidFill>
                      <a:prstDash val="solid"/>
                      <a:round/>
                      <a:headEnd type="none" w="med" len="med"/>
                      <a:tailEnd type="none" w="med" len="med"/>
                    </a:lnB>
                  </a:tcPr>
                </a:tc>
                <a:tc>
                  <a:txBody>
                    <a:bodyPr/>
                    <a:lstStyle/>
                    <a:p>
                      <a:pPr marL="0" indent="0" algn="ctr">
                        <a:buNone/>
                      </a:pPr>
                      <a:r>
                        <a:rPr lang="en-US" sz="1100" b="1" dirty="0">
                          <a:solidFill>
                            <a:srgbClr val="10B981"/>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anchor="ctr">
                    <a:lnL w="6350" cap="flat" cmpd="sng" algn="ctr">
                      <a:solidFill>
                        <a:srgbClr val="C5D8D8"/>
                      </a:solidFill>
                      <a:prstDash val="solid"/>
                      <a:round/>
                      <a:headEnd type="none" w="med" len="med"/>
                      <a:tailEnd type="none" w="med" len="med"/>
                    </a:lnL>
                    <a:lnR w="6350" cap="flat" cmpd="sng" algn="ctr">
                      <a:solidFill>
                        <a:srgbClr val="C5D8D8"/>
                      </a:solidFill>
                      <a:prstDash val="solid"/>
                      <a:round/>
                      <a:headEnd type="none" w="med" len="med"/>
                      <a:tailEnd type="none" w="med" len="med"/>
                    </a:lnR>
                    <a:lnT w="6350" cap="flat" cmpd="sng" algn="ctr">
                      <a:solidFill>
                        <a:srgbClr val="C5D8D8"/>
                      </a:solidFill>
                      <a:prstDash val="solid"/>
                      <a:round/>
                      <a:headEnd type="none" w="med" len="med"/>
                      <a:tailEnd type="none" w="med" len="med"/>
                    </a:lnT>
                    <a:lnB w="6350" cap="flat" cmpd="sng" algn="ctr">
                      <a:solidFill>
                        <a:srgbClr val="C5D8D8"/>
                      </a:solidFill>
                      <a:prstDash val="solid"/>
                      <a:round/>
                      <a:headEnd type="none" w="med" len="med"/>
                      <a:tailEnd type="none" w="med" len="med"/>
                    </a:lnB>
                  </a:tcPr>
                </a:tc>
                <a:tc>
                  <a:txBody>
                    <a:bodyPr/>
                    <a:lstStyle/>
                    <a:p>
                      <a:pPr marL="0" indent="0" algn="ctr">
                        <a:buNone/>
                      </a:pPr>
                      <a:r>
                        <a:rPr lang="en-US" sz="1100" b="1" dirty="0">
                          <a:solidFill>
                            <a:srgbClr val="10B981"/>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anchor="ctr">
                    <a:lnL w="6350" cap="flat" cmpd="sng" algn="ctr">
                      <a:solidFill>
                        <a:srgbClr val="C5D8D8"/>
                      </a:solidFill>
                      <a:prstDash val="solid"/>
                      <a:round/>
                      <a:headEnd type="none" w="med" len="med"/>
                      <a:tailEnd type="none" w="med" len="med"/>
                    </a:lnL>
                    <a:lnR w="6350" cap="flat" cmpd="sng" algn="ctr">
                      <a:solidFill>
                        <a:srgbClr val="C5D8D8"/>
                      </a:solidFill>
                      <a:prstDash val="solid"/>
                      <a:round/>
                      <a:headEnd type="none" w="med" len="med"/>
                      <a:tailEnd type="none" w="med" len="med"/>
                    </a:lnR>
                    <a:lnT w="6350" cap="flat" cmpd="sng" algn="ctr">
                      <a:solidFill>
                        <a:srgbClr val="C5D8D8"/>
                      </a:solidFill>
                      <a:prstDash val="solid"/>
                      <a:round/>
                      <a:headEnd type="none" w="med" len="med"/>
                      <a:tailEnd type="none" w="med" len="med"/>
                    </a:lnT>
                    <a:lnB w="6350" cap="flat" cmpd="sng" algn="ctr">
                      <a:solidFill>
                        <a:srgbClr val="C5D8D8"/>
                      </a:solidFill>
                      <a:prstDash val="solid"/>
                      <a:round/>
                      <a:headEnd type="none" w="med" len="med"/>
                      <a:tailEnd type="none" w="med" len="med"/>
                    </a:lnB>
                  </a:tcPr>
                </a:tc>
                <a:tc>
                  <a:txBody>
                    <a:bodyPr/>
                    <a:lstStyle/>
                    <a:p>
                      <a:pPr marL="0" indent="0" algn="ctr">
                        <a:buNone/>
                      </a:pPr>
                      <a:r>
                        <a:rPr lang="en-US" sz="1100" b="1" dirty="0">
                          <a:solidFill>
                            <a:srgbClr val="10B981"/>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anchor="ctr">
                    <a:lnL w="6350" cap="flat" cmpd="sng" algn="ctr">
                      <a:solidFill>
                        <a:srgbClr val="C5D8D8"/>
                      </a:solidFill>
                      <a:prstDash val="solid"/>
                      <a:round/>
                      <a:headEnd type="none" w="med" len="med"/>
                      <a:tailEnd type="none" w="med" len="med"/>
                    </a:lnL>
                    <a:lnR w="6350" cap="flat" cmpd="sng" algn="ctr">
                      <a:solidFill>
                        <a:srgbClr val="C5D8D8"/>
                      </a:solidFill>
                      <a:prstDash val="solid"/>
                      <a:round/>
                      <a:headEnd type="none" w="med" len="med"/>
                      <a:tailEnd type="none" w="med" len="med"/>
                    </a:lnR>
                    <a:lnT w="6350" cap="flat" cmpd="sng" algn="ctr">
                      <a:solidFill>
                        <a:srgbClr val="C5D8D8"/>
                      </a:solidFill>
                      <a:prstDash val="solid"/>
                      <a:round/>
                      <a:headEnd type="none" w="med" len="med"/>
                      <a:tailEnd type="none" w="med" len="med"/>
                    </a:lnT>
                    <a:lnB w="6350" cap="flat" cmpd="sng" algn="ctr">
                      <a:solidFill>
                        <a:srgbClr val="C5D8D8"/>
                      </a:solidFill>
                      <a:prstDash val="solid"/>
                      <a:round/>
                      <a:headEnd type="none" w="med" len="med"/>
                      <a:tailEnd type="none" w="med" len="med"/>
                    </a:lnB>
                  </a:tcPr>
                </a:tc>
                <a:tc>
                  <a:txBody>
                    <a:bodyPr/>
                    <a:lstStyle/>
                    <a:p>
                      <a:pPr marL="0" indent="0" algn="ctr">
                        <a:buNone/>
                      </a:pPr>
                      <a:r>
                        <a:rPr lang="en-US" sz="1100" b="1" dirty="0">
                          <a:solidFill>
                            <a:srgbClr val="10B981"/>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anchor="ctr">
                    <a:lnL w="6350" cap="flat" cmpd="sng" algn="ctr">
                      <a:solidFill>
                        <a:srgbClr val="C5D8D8"/>
                      </a:solidFill>
                      <a:prstDash val="solid"/>
                      <a:round/>
                      <a:headEnd type="none" w="med" len="med"/>
                      <a:tailEnd type="none" w="med" len="med"/>
                    </a:lnL>
                    <a:lnR w="6350" cap="flat" cmpd="sng" algn="ctr">
                      <a:solidFill>
                        <a:srgbClr val="C5D8D8"/>
                      </a:solidFill>
                      <a:prstDash val="solid"/>
                      <a:round/>
                      <a:headEnd type="none" w="med" len="med"/>
                      <a:tailEnd type="none" w="med" len="med"/>
                    </a:lnR>
                    <a:lnT w="6350" cap="flat" cmpd="sng" algn="ctr">
                      <a:solidFill>
                        <a:srgbClr val="C5D8D8"/>
                      </a:solidFill>
                      <a:prstDash val="solid"/>
                      <a:round/>
                      <a:headEnd type="none" w="med" len="med"/>
                      <a:tailEnd type="none" w="med" len="med"/>
                    </a:lnT>
                    <a:lnB w="6350" cap="flat" cmpd="sng" algn="ctr">
                      <a:solidFill>
                        <a:srgbClr val="C5D8D8"/>
                      </a:solidFill>
                      <a:prstDash val="solid"/>
                      <a:round/>
                      <a:headEnd type="none" w="med" len="med"/>
                      <a:tailEnd type="none" w="med" len="med"/>
                    </a:lnB>
                  </a:tcPr>
                </a:tc>
                <a:tc>
                  <a:txBody>
                    <a:bodyPr/>
                    <a:lstStyle/>
                    <a:p>
                      <a:pPr marL="0" indent="0" algn="ctr">
                        <a:buNone/>
                      </a:pPr>
                      <a:r>
                        <a:rPr lang="en-US" sz="1100" b="1" dirty="0">
                          <a:solidFill>
                            <a:srgbClr val="10B981"/>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anchor="ctr">
                    <a:lnL w="6350" cap="flat" cmpd="sng" algn="ctr">
                      <a:solidFill>
                        <a:srgbClr val="C5D8D8"/>
                      </a:solidFill>
                      <a:prstDash val="solid"/>
                      <a:round/>
                      <a:headEnd type="none" w="med" len="med"/>
                      <a:tailEnd type="none" w="med" len="med"/>
                    </a:lnL>
                    <a:lnR w="6350" cap="flat" cmpd="sng" algn="ctr">
                      <a:solidFill>
                        <a:srgbClr val="C5D8D8"/>
                      </a:solidFill>
                      <a:prstDash val="solid"/>
                      <a:round/>
                      <a:headEnd type="none" w="med" len="med"/>
                      <a:tailEnd type="none" w="med" len="med"/>
                    </a:lnR>
                    <a:lnT w="6350" cap="flat" cmpd="sng" algn="ctr">
                      <a:solidFill>
                        <a:srgbClr val="C5D8D8"/>
                      </a:solidFill>
                      <a:prstDash val="solid"/>
                      <a:round/>
                      <a:headEnd type="none" w="med" len="med"/>
                      <a:tailEnd type="none" w="med" len="med"/>
                    </a:lnT>
                    <a:lnB w="6350" cap="flat" cmpd="sng" algn="ctr">
                      <a:solidFill>
                        <a:srgbClr val="C5D8D8"/>
                      </a:solidFill>
                      <a:prstDash val="solid"/>
                      <a:round/>
                      <a:headEnd type="none" w="med" len="med"/>
                      <a:tailEnd type="none" w="med" len="med"/>
                    </a:lnB>
                  </a:tcPr>
                </a:tc>
                <a:tc>
                  <a:txBody>
                    <a:bodyPr/>
                    <a:lstStyle/>
                    <a:p>
                      <a:pPr marL="0" indent="0" algn="ctr">
                        <a:buNone/>
                      </a:pPr>
                      <a:r>
                        <a:rPr lang="en-US" sz="1100" b="1" dirty="0">
                          <a:solidFill>
                            <a:srgbClr val="10B981"/>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anchor="ctr">
                    <a:lnL w="6350" cap="flat" cmpd="sng" algn="ctr">
                      <a:solidFill>
                        <a:srgbClr val="C5D8D8"/>
                      </a:solidFill>
                      <a:prstDash val="solid"/>
                      <a:round/>
                      <a:headEnd type="none" w="med" len="med"/>
                      <a:tailEnd type="none" w="med" len="med"/>
                    </a:lnL>
                    <a:lnR w="6350" cap="flat" cmpd="sng" algn="ctr">
                      <a:solidFill>
                        <a:srgbClr val="C5D8D8"/>
                      </a:solidFill>
                      <a:prstDash val="solid"/>
                      <a:round/>
                      <a:headEnd type="none" w="med" len="med"/>
                      <a:tailEnd type="none" w="med" len="med"/>
                    </a:lnR>
                    <a:lnT w="6350" cap="flat" cmpd="sng" algn="ctr">
                      <a:solidFill>
                        <a:srgbClr val="C5D8D8"/>
                      </a:solidFill>
                      <a:prstDash val="solid"/>
                      <a:round/>
                      <a:headEnd type="none" w="med" len="med"/>
                      <a:tailEnd type="none" w="med" len="med"/>
                    </a:lnT>
                    <a:lnB w="6350" cap="flat" cmpd="sng" algn="ctr">
                      <a:solidFill>
                        <a:srgbClr val="C5D8D8"/>
                      </a:solidFill>
                      <a:prstDash val="solid"/>
                      <a:round/>
                      <a:headEnd type="none" w="med" len="med"/>
                      <a:tailEnd type="none" w="med" len="med"/>
                    </a:lnB>
                  </a:tcPr>
                </a:tc>
                <a:extLst>
                  <a:ext uri="{0D108BD9-81ED-4DB2-BD59-A6C34878D82A}">
                    <a16:rowId xmlns:a16="http://schemas.microsoft.com/office/drawing/2014/main" val="10007"/>
                  </a:ext>
                </a:extLst>
              </a:tr>
              <a:tr h="0">
                <a:tc>
                  <a:txBody>
                    <a:bodyPr/>
                    <a:lstStyle/>
                    <a:p>
                      <a:pPr marL="0" indent="0">
                        <a:buNone/>
                      </a:pPr>
                      <a:r>
                        <a:rPr lang="en-US" sz="850" dirty="0">
                          <a:solidFill>
                            <a:srgbClr val="334155"/>
                          </a:solidFill>
                          <a:latin typeface="Calibri" pitchFamily="34" charset="0"/>
                          <a:ea typeface="Calibri" pitchFamily="34" charset="-122"/>
                          <a:cs typeface="Calibri" pitchFamily="34" charset="-120"/>
                        </a:rPr>
                        <a:t>Timeslice Demand Profiles</a:t>
                      </a:r>
                      <a:endParaRPr lang="en-US" sz="850" dirty="0">
                        <a:latin typeface="Calibri" charset="0"/>
                        <a:ea typeface="Calibri" charset="0"/>
                        <a:cs typeface="Calibri" charset="0"/>
                      </a:endParaRPr>
                    </a:p>
                  </a:txBody>
                  <a:tcPr anchor="ctr">
                    <a:lnL w="6350" cap="flat" cmpd="sng" algn="ctr">
                      <a:solidFill>
                        <a:srgbClr val="C5D8D8"/>
                      </a:solidFill>
                      <a:prstDash val="solid"/>
                      <a:round/>
                      <a:headEnd type="none" w="med" len="med"/>
                      <a:tailEnd type="none" w="med" len="med"/>
                    </a:lnL>
                    <a:lnR w="6350" cap="flat" cmpd="sng" algn="ctr">
                      <a:solidFill>
                        <a:srgbClr val="C5D8D8"/>
                      </a:solidFill>
                      <a:prstDash val="solid"/>
                      <a:round/>
                      <a:headEnd type="none" w="med" len="med"/>
                      <a:tailEnd type="none" w="med" len="med"/>
                    </a:lnR>
                    <a:lnT w="6350" cap="flat" cmpd="sng" algn="ctr">
                      <a:solidFill>
                        <a:srgbClr val="C5D8D8"/>
                      </a:solidFill>
                      <a:prstDash val="solid"/>
                      <a:round/>
                      <a:headEnd type="none" w="med" len="med"/>
                      <a:tailEnd type="none" w="med" len="med"/>
                    </a:lnT>
                    <a:lnB w="6350" cap="flat" cmpd="sng" algn="ctr">
                      <a:solidFill>
                        <a:srgbClr val="C5D8D8"/>
                      </a:solidFill>
                      <a:prstDash val="solid"/>
                      <a:round/>
                      <a:headEnd type="none" w="med" len="med"/>
                      <a:tailEnd type="none" w="med" len="med"/>
                    </a:lnB>
                  </a:tcPr>
                </a:tc>
                <a:tc>
                  <a:txBody>
                    <a:bodyPr/>
                    <a:lstStyle/>
                    <a:p>
                      <a:pPr marL="0" indent="0" algn="ctr">
                        <a:buNone/>
                      </a:pPr>
                      <a:r>
                        <a:rPr lang="en-US" sz="1100" b="1" dirty="0">
                          <a:solidFill>
                            <a:srgbClr val="10B981"/>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anchor="ctr">
                    <a:lnL w="6350" cap="flat" cmpd="sng" algn="ctr">
                      <a:solidFill>
                        <a:srgbClr val="C5D8D8"/>
                      </a:solidFill>
                      <a:prstDash val="solid"/>
                      <a:round/>
                      <a:headEnd type="none" w="med" len="med"/>
                      <a:tailEnd type="none" w="med" len="med"/>
                    </a:lnL>
                    <a:lnR w="6350" cap="flat" cmpd="sng" algn="ctr">
                      <a:solidFill>
                        <a:srgbClr val="C5D8D8"/>
                      </a:solidFill>
                      <a:prstDash val="solid"/>
                      <a:round/>
                      <a:headEnd type="none" w="med" len="med"/>
                      <a:tailEnd type="none" w="med" len="med"/>
                    </a:lnR>
                    <a:lnT w="6350" cap="flat" cmpd="sng" algn="ctr">
                      <a:solidFill>
                        <a:srgbClr val="C5D8D8"/>
                      </a:solidFill>
                      <a:prstDash val="solid"/>
                      <a:round/>
                      <a:headEnd type="none" w="med" len="med"/>
                      <a:tailEnd type="none" w="med" len="med"/>
                    </a:lnT>
                    <a:lnB w="6350" cap="flat" cmpd="sng" algn="ctr">
                      <a:solidFill>
                        <a:srgbClr val="C5D8D8"/>
                      </a:solidFill>
                      <a:prstDash val="solid"/>
                      <a:round/>
                      <a:headEnd type="none" w="med" len="med"/>
                      <a:tailEnd type="none" w="med" len="med"/>
                    </a:lnB>
                  </a:tcPr>
                </a:tc>
                <a:tc>
                  <a:txBody>
                    <a:bodyPr/>
                    <a:lstStyle/>
                    <a:p>
                      <a:pPr marL="0" indent="0" algn="ctr">
                        <a:buNone/>
                      </a:pPr>
                      <a:r>
                        <a:rPr lang="en-US" sz="1100" b="1" dirty="0">
                          <a:solidFill>
                            <a:srgbClr val="10B981"/>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anchor="ctr">
                    <a:lnL w="6350" cap="flat" cmpd="sng" algn="ctr">
                      <a:solidFill>
                        <a:srgbClr val="C5D8D8"/>
                      </a:solidFill>
                      <a:prstDash val="solid"/>
                      <a:round/>
                      <a:headEnd type="none" w="med" len="med"/>
                      <a:tailEnd type="none" w="med" len="med"/>
                    </a:lnL>
                    <a:lnR w="6350" cap="flat" cmpd="sng" algn="ctr">
                      <a:solidFill>
                        <a:srgbClr val="C5D8D8"/>
                      </a:solidFill>
                      <a:prstDash val="solid"/>
                      <a:round/>
                      <a:headEnd type="none" w="med" len="med"/>
                      <a:tailEnd type="none" w="med" len="med"/>
                    </a:lnR>
                    <a:lnT w="6350" cap="flat" cmpd="sng" algn="ctr">
                      <a:solidFill>
                        <a:srgbClr val="C5D8D8"/>
                      </a:solidFill>
                      <a:prstDash val="solid"/>
                      <a:round/>
                      <a:headEnd type="none" w="med" len="med"/>
                      <a:tailEnd type="none" w="med" len="med"/>
                    </a:lnT>
                    <a:lnB w="6350" cap="flat" cmpd="sng" algn="ctr">
                      <a:solidFill>
                        <a:srgbClr val="C5D8D8"/>
                      </a:solidFill>
                      <a:prstDash val="solid"/>
                      <a:round/>
                      <a:headEnd type="none" w="med" len="med"/>
                      <a:tailEnd type="none" w="med" len="med"/>
                    </a:lnB>
                  </a:tcPr>
                </a:tc>
                <a:tc>
                  <a:txBody>
                    <a:bodyPr/>
                    <a:lstStyle/>
                    <a:p>
                      <a:pPr marL="0" indent="0" algn="ctr">
                        <a:buNone/>
                      </a:pPr>
                      <a:r>
                        <a:rPr lang="en-US" sz="1100" b="1" dirty="0">
                          <a:solidFill>
                            <a:srgbClr val="10B981"/>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anchor="ctr">
                    <a:lnL w="6350" cap="flat" cmpd="sng" algn="ctr">
                      <a:solidFill>
                        <a:srgbClr val="C5D8D8"/>
                      </a:solidFill>
                      <a:prstDash val="solid"/>
                      <a:round/>
                      <a:headEnd type="none" w="med" len="med"/>
                      <a:tailEnd type="none" w="med" len="med"/>
                    </a:lnL>
                    <a:lnR w="6350" cap="flat" cmpd="sng" algn="ctr">
                      <a:solidFill>
                        <a:srgbClr val="C5D8D8"/>
                      </a:solidFill>
                      <a:prstDash val="solid"/>
                      <a:round/>
                      <a:headEnd type="none" w="med" len="med"/>
                      <a:tailEnd type="none" w="med" len="med"/>
                    </a:lnR>
                    <a:lnT w="6350" cap="flat" cmpd="sng" algn="ctr">
                      <a:solidFill>
                        <a:srgbClr val="C5D8D8"/>
                      </a:solidFill>
                      <a:prstDash val="solid"/>
                      <a:round/>
                      <a:headEnd type="none" w="med" len="med"/>
                      <a:tailEnd type="none" w="med" len="med"/>
                    </a:lnT>
                    <a:lnB w="6350" cap="flat" cmpd="sng" algn="ctr">
                      <a:solidFill>
                        <a:srgbClr val="C5D8D8"/>
                      </a:solidFill>
                      <a:prstDash val="solid"/>
                      <a:round/>
                      <a:headEnd type="none" w="med" len="med"/>
                      <a:tailEnd type="none" w="med" len="med"/>
                    </a:lnB>
                  </a:tcPr>
                </a:tc>
                <a:tc>
                  <a:txBody>
                    <a:bodyPr/>
                    <a:lstStyle/>
                    <a:p>
                      <a:pPr marL="0" indent="0" algn="ctr">
                        <a:buNone/>
                      </a:pPr>
                      <a:r>
                        <a:rPr lang="en-US" sz="1100" b="1" dirty="0">
                          <a:solidFill>
                            <a:srgbClr val="EF4444"/>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anchor="ctr">
                    <a:lnL w="6350" cap="flat" cmpd="sng" algn="ctr">
                      <a:solidFill>
                        <a:srgbClr val="C5D8D8"/>
                      </a:solidFill>
                      <a:prstDash val="solid"/>
                      <a:round/>
                      <a:headEnd type="none" w="med" len="med"/>
                      <a:tailEnd type="none" w="med" len="med"/>
                    </a:lnL>
                    <a:lnR w="6350" cap="flat" cmpd="sng" algn="ctr">
                      <a:solidFill>
                        <a:srgbClr val="C5D8D8"/>
                      </a:solidFill>
                      <a:prstDash val="solid"/>
                      <a:round/>
                      <a:headEnd type="none" w="med" len="med"/>
                      <a:tailEnd type="none" w="med" len="med"/>
                    </a:lnR>
                    <a:lnT w="6350" cap="flat" cmpd="sng" algn="ctr">
                      <a:solidFill>
                        <a:srgbClr val="C5D8D8"/>
                      </a:solidFill>
                      <a:prstDash val="solid"/>
                      <a:round/>
                      <a:headEnd type="none" w="med" len="med"/>
                      <a:tailEnd type="none" w="med" len="med"/>
                    </a:lnT>
                    <a:lnB w="6350" cap="flat" cmpd="sng" algn="ctr">
                      <a:solidFill>
                        <a:srgbClr val="C5D8D8"/>
                      </a:solidFill>
                      <a:prstDash val="solid"/>
                      <a:round/>
                      <a:headEnd type="none" w="med" len="med"/>
                      <a:tailEnd type="none" w="med" len="med"/>
                    </a:lnB>
                  </a:tcPr>
                </a:tc>
                <a:tc>
                  <a:txBody>
                    <a:bodyPr/>
                    <a:lstStyle/>
                    <a:p>
                      <a:pPr marL="0" indent="0" algn="ctr">
                        <a:buNone/>
                      </a:pPr>
                      <a:r>
                        <a:rPr lang="en-US" sz="1100" b="1" dirty="0">
                          <a:solidFill>
                            <a:srgbClr val="10B981"/>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anchor="ctr">
                    <a:lnL w="6350" cap="flat" cmpd="sng" algn="ctr">
                      <a:solidFill>
                        <a:srgbClr val="C5D8D8"/>
                      </a:solidFill>
                      <a:prstDash val="solid"/>
                      <a:round/>
                      <a:headEnd type="none" w="med" len="med"/>
                      <a:tailEnd type="none" w="med" len="med"/>
                    </a:lnL>
                    <a:lnR w="6350" cap="flat" cmpd="sng" algn="ctr">
                      <a:solidFill>
                        <a:srgbClr val="C5D8D8"/>
                      </a:solidFill>
                      <a:prstDash val="solid"/>
                      <a:round/>
                      <a:headEnd type="none" w="med" len="med"/>
                      <a:tailEnd type="none" w="med" len="med"/>
                    </a:lnR>
                    <a:lnT w="6350" cap="flat" cmpd="sng" algn="ctr">
                      <a:solidFill>
                        <a:srgbClr val="C5D8D8"/>
                      </a:solidFill>
                      <a:prstDash val="solid"/>
                      <a:round/>
                      <a:headEnd type="none" w="med" len="med"/>
                      <a:tailEnd type="none" w="med" len="med"/>
                    </a:lnT>
                    <a:lnB w="6350" cap="flat" cmpd="sng" algn="ctr">
                      <a:solidFill>
                        <a:srgbClr val="C5D8D8"/>
                      </a:solidFill>
                      <a:prstDash val="solid"/>
                      <a:round/>
                      <a:headEnd type="none" w="med" len="med"/>
                      <a:tailEnd type="none" w="med" len="med"/>
                    </a:lnB>
                  </a:tcPr>
                </a:tc>
                <a:tc>
                  <a:txBody>
                    <a:bodyPr/>
                    <a:lstStyle/>
                    <a:p>
                      <a:pPr marL="0" indent="0" algn="ctr">
                        <a:buNone/>
                      </a:pPr>
                      <a:r>
                        <a:rPr lang="en-US" sz="1100" b="1" dirty="0">
                          <a:solidFill>
                            <a:srgbClr val="10B981"/>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anchor="ctr">
                    <a:lnL w="6350" cap="flat" cmpd="sng" algn="ctr">
                      <a:solidFill>
                        <a:srgbClr val="C5D8D8"/>
                      </a:solidFill>
                      <a:prstDash val="solid"/>
                      <a:round/>
                      <a:headEnd type="none" w="med" len="med"/>
                      <a:tailEnd type="none" w="med" len="med"/>
                    </a:lnL>
                    <a:lnR w="6350" cap="flat" cmpd="sng" algn="ctr">
                      <a:solidFill>
                        <a:srgbClr val="C5D8D8"/>
                      </a:solidFill>
                      <a:prstDash val="solid"/>
                      <a:round/>
                      <a:headEnd type="none" w="med" len="med"/>
                      <a:tailEnd type="none" w="med" len="med"/>
                    </a:lnR>
                    <a:lnT w="6350" cap="flat" cmpd="sng" algn="ctr">
                      <a:solidFill>
                        <a:srgbClr val="C5D8D8"/>
                      </a:solidFill>
                      <a:prstDash val="solid"/>
                      <a:round/>
                      <a:headEnd type="none" w="med" len="med"/>
                      <a:tailEnd type="none" w="med" len="med"/>
                    </a:lnT>
                    <a:lnB w="6350" cap="flat" cmpd="sng" algn="ctr">
                      <a:solidFill>
                        <a:srgbClr val="C5D8D8"/>
                      </a:solidFill>
                      <a:prstDash val="solid"/>
                      <a:round/>
                      <a:headEnd type="none" w="med" len="med"/>
                      <a:tailEnd type="none" w="med" len="med"/>
                    </a:lnB>
                  </a:tcPr>
                </a:tc>
                <a:extLst>
                  <a:ext uri="{0D108BD9-81ED-4DB2-BD59-A6C34878D82A}">
                    <a16:rowId xmlns:a16="http://schemas.microsoft.com/office/drawing/2014/main" val="10008"/>
                  </a:ext>
                </a:extLst>
              </a:tr>
              <a:tr h="0">
                <a:tc>
                  <a:txBody>
                    <a:bodyPr/>
                    <a:lstStyle/>
                    <a:p>
                      <a:pPr marL="0" indent="0">
                        <a:buNone/>
                      </a:pPr>
                      <a:r>
                        <a:rPr lang="en-US" sz="850" dirty="0">
                          <a:solidFill>
                            <a:srgbClr val="334155"/>
                          </a:solidFill>
                          <a:latin typeface="Calibri" pitchFamily="34" charset="0"/>
                          <a:ea typeface="Calibri" pitchFamily="34" charset="-122"/>
                          <a:cs typeface="Calibri" pitchFamily="34" charset="-120"/>
                        </a:rPr>
                        <a:t>Hydro Seasonal Detail</a:t>
                      </a:r>
                      <a:endParaRPr lang="en-US" sz="850" dirty="0">
                        <a:latin typeface="Calibri" charset="0"/>
                        <a:ea typeface="Calibri" charset="0"/>
                        <a:cs typeface="Calibri" charset="0"/>
                      </a:endParaRPr>
                    </a:p>
                  </a:txBody>
                  <a:tcPr anchor="ctr">
                    <a:lnL w="6350" cap="flat" cmpd="sng" algn="ctr">
                      <a:solidFill>
                        <a:srgbClr val="C5D8D8"/>
                      </a:solidFill>
                      <a:prstDash val="solid"/>
                      <a:round/>
                      <a:headEnd type="none" w="med" len="med"/>
                      <a:tailEnd type="none" w="med" len="med"/>
                    </a:lnL>
                    <a:lnR w="6350" cap="flat" cmpd="sng" algn="ctr">
                      <a:solidFill>
                        <a:srgbClr val="C5D8D8"/>
                      </a:solidFill>
                      <a:prstDash val="solid"/>
                      <a:round/>
                      <a:headEnd type="none" w="med" len="med"/>
                      <a:tailEnd type="none" w="med" len="med"/>
                    </a:lnR>
                    <a:lnT w="6350" cap="flat" cmpd="sng" algn="ctr">
                      <a:solidFill>
                        <a:srgbClr val="C5D8D8"/>
                      </a:solidFill>
                      <a:prstDash val="solid"/>
                      <a:round/>
                      <a:headEnd type="none" w="med" len="med"/>
                      <a:tailEnd type="none" w="med" len="med"/>
                    </a:lnT>
                    <a:lnB w="6350" cap="flat" cmpd="sng" algn="ctr">
                      <a:solidFill>
                        <a:srgbClr val="C5D8D8"/>
                      </a:solidFill>
                      <a:prstDash val="solid"/>
                      <a:round/>
                      <a:headEnd type="none" w="med" len="med"/>
                      <a:tailEnd type="none" w="med" len="med"/>
                    </a:lnB>
                  </a:tcPr>
                </a:tc>
                <a:tc>
                  <a:txBody>
                    <a:bodyPr/>
                    <a:lstStyle/>
                    <a:p>
                      <a:pPr marL="0" indent="0" algn="ctr">
                        <a:buNone/>
                      </a:pPr>
                      <a:r>
                        <a:rPr lang="en-US" sz="1100" b="1" dirty="0">
                          <a:solidFill>
                            <a:srgbClr val="F59E0B"/>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anchor="ctr">
                    <a:lnL w="6350" cap="flat" cmpd="sng" algn="ctr">
                      <a:solidFill>
                        <a:srgbClr val="C5D8D8"/>
                      </a:solidFill>
                      <a:prstDash val="solid"/>
                      <a:round/>
                      <a:headEnd type="none" w="med" len="med"/>
                      <a:tailEnd type="none" w="med" len="med"/>
                    </a:lnL>
                    <a:lnR w="6350" cap="flat" cmpd="sng" algn="ctr">
                      <a:solidFill>
                        <a:srgbClr val="C5D8D8"/>
                      </a:solidFill>
                      <a:prstDash val="solid"/>
                      <a:round/>
                      <a:headEnd type="none" w="med" len="med"/>
                      <a:tailEnd type="none" w="med" len="med"/>
                    </a:lnR>
                    <a:lnT w="6350" cap="flat" cmpd="sng" algn="ctr">
                      <a:solidFill>
                        <a:srgbClr val="C5D8D8"/>
                      </a:solidFill>
                      <a:prstDash val="solid"/>
                      <a:round/>
                      <a:headEnd type="none" w="med" len="med"/>
                      <a:tailEnd type="none" w="med" len="med"/>
                    </a:lnT>
                    <a:lnB w="6350" cap="flat" cmpd="sng" algn="ctr">
                      <a:solidFill>
                        <a:srgbClr val="C5D8D8"/>
                      </a:solidFill>
                      <a:prstDash val="solid"/>
                      <a:round/>
                      <a:headEnd type="none" w="med" len="med"/>
                      <a:tailEnd type="none" w="med" len="med"/>
                    </a:lnB>
                  </a:tcPr>
                </a:tc>
                <a:tc>
                  <a:txBody>
                    <a:bodyPr/>
                    <a:lstStyle/>
                    <a:p>
                      <a:pPr marL="0" indent="0" algn="ctr">
                        <a:buNone/>
                      </a:pPr>
                      <a:r>
                        <a:rPr lang="en-US" sz="1100" b="1" dirty="0">
                          <a:solidFill>
                            <a:srgbClr val="10B981"/>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anchor="ctr">
                    <a:lnL w="6350" cap="flat" cmpd="sng" algn="ctr">
                      <a:solidFill>
                        <a:srgbClr val="C5D8D8"/>
                      </a:solidFill>
                      <a:prstDash val="solid"/>
                      <a:round/>
                      <a:headEnd type="none" w="med" len="med"/>
                      <a:tailEnd type="none" w="med" len="med"/>
                    </a:lnL>
                    <a:lnR w="6350" cap="flat" cmpd="sng" algn="ctr">
                      <a:solidFill>
                        <a:srgbClr val="C5D8D8"/>
                      </a:solidFill>
                      <a:prstDash val="solid"/>
                      <a:round/>
                      <a:headEnd type="none" w="med" len="med"/>
                      <a:tailEnd type="none" w="med" len="med"/>
                    </a:lnR>
                    <a:lnT w="6350" cap="flat" cmpd="sng" algn="ctr">
                      <a:solidFill>
                        <a:srgbClr val="C5D8D8"/>
                      </a:solidFill>
                      <a:prstDash val="solid"/>
                      <a:round/>
                      <a:headEnd type="none" w="med" len="med"/>
                      <a:tailEnd type="none" w="med" len="med"/>
                    </a:lnT>
                    <a:lnB w="6350" cap="flat" cmpd="sng" algn="ctr">
                      <a:solidFill>
                        <a:srgbClr val="C5D8D8"/>
                      </a:solidFill>
                      <a:prstDash val="solid"/>
                      <a:round/>
                      <a:headEnd type="none" w="med" len="med"/>
                      <a:tailEnd type="none" w="med" len="med"/>
                    </a:lnB>
                  </a:tcPr>
                </a:tc>
                <a:tc>
                  <a:txBody>
                    <a:bodyPr/>
                    <a:lstStyle/>
                    <a:p>
                      <a:pPr marL="0" indent="0" algn="ctr">
                        <a:buNone/>
                      </a:pPr>
                      <a:r>
                        <a:rPr lang="en-US" sz="1100" b="1" dirty="0">
                          <a:solidFill>
                            <a:srgbClr val="10B981"/>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anchor="ctr">
                    <a:lnL w="6350" cap="flat" cmpd="sng" algn="ctr">
                      <a:solidFill>
                        <a:srgbClr val="C5D8D8"/>
                      </a:solidFill>
                      <a:prstDash val="solid"/>
                      <a:round/>
                      <a:headEnd type="none" w="med" len="med"/>
                      <a:tailEnd type="none" w="med" len="med"/>
                    </a:lnL>
                    <a:lnR w="6350" cap="flat" cmpd="sng" algn="ctr">
                      <a:solidFill>
                        <a:srgbClr val="C5D8D8"/>
                      </a:solidFill>
                      <a:prstDash val="solid"/>
                      <a:round/>
                      <a:headEnd type="none" w="med" len="med"/>
                      <a:tailEnd type="none" w="med" len="med"/>
                    </a:lnR>
                    <a:lnT w="6350" cap="flat" cmpd="sng" algn="ctr">
                      <a:solidFill>
                        <a:srgbClr val="C5D8D8"/>
                      </a:solidFill>
                      <a:prstDash val="solid"/>
                      <a:round/>
                      <a:headEnd type="none" w="med" len="med"/>
                      <a:tailEnd type="none" w="med" len="med"/>
                    </a:lnT>
                    <a:lnB w="6350" cap="flat" cmpd="sng" algn="ctr">
                      <a:solidFill>
                        <a:srgbClr val="C5D8D8"/>
                      </a:solidFill>
                      <a:prstDash val="solid"/>
                      <a:round/>
                      <a:headEnd type="none" w="med" len="med"/>
                      <a:tailEnd type="none" w="med" len="med"/>
                    </a:lnB>
                  </a:tcPr>
                </a:tc>
                <a:tc>
                  <a:txBody>
                    <a:bodyPr/>
                    <a:lstStyle/>
                    <a:p>
                      <a:pPr marL="0" indent="0" algn="ctr">
                        <a:buNone/>
                      </a:pPr>
                      <a:r>
                        <a:rPr lang="en-US" sz="1100" b="1" dirty="0">
                          <a:solidFill>
                            <a:srgbClr val="CBD5E1"/>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anchor="ctr">
                    <a:lnL w="6350" cap="flat" cmpd="sng" algn="ctr">
                      <a:solidFill>
                        <a:srgbClr val="C5D8D8"/>
                      </a:solidFill>
                      <a:prstDash val="solid"/>
                      <a:round/>
                      <a:headEnd type="none" w="med" len="med"/>
                      <a:tailEnd type="none" w="med" len="med"/>
                    </a:lnL>
                    <a:lnR w="6350" cap="flat" cmpd="sng" algn="ctr">
                      <a:solidFill>
                        <a:srgbClr val="C5D8D8"/>
                      </a:solidFill>
                      <a:prstDash val="solid"/>
                      <a:round/>
                      <a:headEnd type="none" w="med" len="med"/>
                      <a:tailEnd type="none" w="med" len="med"/>
                    </a:lnR>
                    <a:lnT w="6350" cap="flat" cmpd="sng" algn="ctr">
                      <a:solidFill>
                        <a:srgbClr val="C5D8D8"/>
                      </a:solidFill>
                      <a:prstDash val="solid"/>
                      <a:round/>
                      <a:headEnd type="none" w="med" len="med"/>
                      <a:tailEnd type="none" w="med" len="med"/>
                    </a:lnT>
                    <a:lnB w="6350" cap="flat" cmpd="sng" algn="ctr">
                      <a:solidFill>
                        <a:srgbClr val="C5D8D8"/>
                      </a:solidFill>
                      <a:prstDash val="solid"/>
                      <a:round/>
                      <a:headEnd type="none" w="med" len="med"/>
                      <a:tailEnd type="none" w="med" len="med"/>
                    </a:lnB>
                  </a:tcPr>
                </a:tc>
                <a:tc>
                  <a:txBody>
                    <a:bodyPr/>
                    <a:lstStyle/>
                    <a:p>
                      <a:pPr marL="0" indent="0" algn="ctr">
                        <a:buNone/>
                      </a:pPr>
                      <a:r>
                        <a:rPr lang="en-US" sz="1100" b="1" dirty="0">
                          <a:solidFill>
                            <a:srgbClr val="10B981"/>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anchor="ctr">
                    <a:lnL w="6350" cap="flat" cmpd="sng" algn="ctr">
                      <a:solidFill>
                        <a:srgbClr val="C5D8D8"/>
                      </a:solidFill>
                      <a:prstDash val="solid"/>
                      <a:round/>
                      <a:headEnd type="none" w="med" len="med"/>
                      <a:tailEnd type="none" w="med" len="med"/>
                    </a:lnL>
                    <a:lnR w="6350" cap="flat" cmpd="sng" algn="ctr">
                      <a:solidFill>
                        <a:srgbClr val="C5D8D8"/>
                      </a:solidFill>
                      <a:prstDash val="solid"/>
                      <a:round/>
                      <a:headEnd type="none" w="med" len="med"/>
                      <a:tailEnd type="none" w="med" len="med"/>
                    </a:lnR>
                    <a:lnT w="6350" cap="flat" cmpd="sng" algn="ctr">
                      <a:solidFill>
                        <a:srgbClr val="C5D8D8"/>
                      </a:solidFill>
                      <a:prstDash val="solid"/>
                      <a:round/>
                      <a:headEnd type="none" w="med" len="med"/>
                      <a:tailEnd type="none" w="med" len="med"/>
                    </a:lnT>
                    <a:lnB w="6350" cap="flat" cmpd="sng" algn="ctr">
                      <a:solidFill>
                        <a:srgbClr val="C5D8D8"/>
                      </a:solidFill>
                      <a:prstDash val="solid"/>
                      <a:round/>
                      <a:headEnd type="none" w="med" len="med"/>
                      <a:tailEnd type="none" w="med" len="med"/>
                    </a:lnB>
                  </a:tcPr>
                </a:tc>
                <a:tc>
                  <a:txBody>
                    <a:bodyPr/>
                    <a:lstStyle/>
                    <a:p>
                      <a:pPr marL="0" indent="0" algn="ctr">
                        <a:buNone/>
                      </a:pPr>
                      <a:r>
                        <a:rPr lang="en-US" sz="1100" b="1" dirty="0">
                          <a:solidFill>
                            <a:srgbClr val="10B981"/>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anchor="ctr">
                    <a:lnL w="6350" cap="flat" cmpd="sng" algn="ctr">
                      <a:solidFill>
                        <a:srgbClr val="C5D8D8"/>
                      </a:solidFill>
                      <a:prstDash val="solid"/>
                      <a:round/>
                      <a:headEnd type="none" w="med" len="med"/>
                      <a:tailEnd type="none" w="med" len="med"/>
                    </a:lnL>
                    <a:lnR w="6350" cap="flat" cmpd="sng" algn="ctr">
                      <a:solidFill>
                        <a:srgbClr val="C5D8D8"/>
                      </a:solidFill>
                      <a:prstDash val="solid"/>
                      <a:round/>
                      <a:headEnd type="none" w="med" len="med"/>
                      <a:tailEnd type="none" w="med" len="med"/>
                    </a:lnR>
                    <a:lnT w="6350" cap="flat" cmpd="sng" algn="ctr">
                      <a:solidFill>
                        <a:srgbClr val="C5D8D8"/>
                      </a:solidFill>
                      <a:prstDash val="solid"/>
                      <a:round/>
                      <a:headEnd type="none" w="med" len="med"/>
                      <a:tailEnd type="none" w="med" len="med"/>
                    </a:lnT>
                    <a:lnB w="6350" cap="flat" cmpd="sng" algn="ctr">
                      <a:solidFill>
                        <a:srgbClr val="C5D8D8"/>
                      </a:solidFill>
                      <a:prstDash val="solid"/>
                      <a:round/>
                      <a:headEnd type="none" w="med" len="med"/>
                      <a:tailEnd type="none" w="med" len="med"/>
                    </a:lnB>
                  </a:tcPr>
                </a:tc>
                <a:extLst>
                  <a:ext uri="{0D108BD9-81ED-4DB2-BD59-A6C34878D82A}">
                    <a16:rowId xmlns:a16="http://schemas.microsoft.com/office/drawing/2014/main" val="10009"/>
                  </a:ext>
                </a:extLst>
              </a:tr>
              <a:tr h="0">
                <a:tc>
                  <a:txBody>
                    <a:bodyPr/>
                    <a:lstStyle/>
                    <a:p>
                      <a:pPr marL="0" indent="0">
                        <a:buNone/>
                      </a:pPr>
                      <a:r>
                        <a:rPr lang="en-US" sz="850" dirty="0">
                          <a:solidFill>
                            <a:srgbClr val="334155"/>
                          </a:solidFill>
                          <a:latin typeface="Calibri" pitchFamily="34" charset="0"/>
                          <a:ea typeface="Calibri" pitchFamily="34" charset="-122"/>
                          <a:cs typeface="Calibri" pitchFamily="34" charset="-120"/>
                        </a:rPr>
                        <a:t>Technology Costs (CAPEX/O&amp;M)</a:t>
                      </a:r>
                      <a:endParaRPr lang="en-US" sz="850" dirty="0">
                        <a:latin typeface="Calibri" charset="0"/>
                        <a:ea typeface="Calibri" charset="0"/>
                        <a:cs typeface="Calibri" charset="0"/>
                      </a:endParaRPr>
                    </a:p>
                  </a:txBody>
                  <a:tcPr anchor="ctr">
                    <a:lnL w="6350" cap="flat" cmpd="sng" algn="ctr">
                      <a:solidFill>
                        <a:srgbClr val="C5D8D8"/>
                      </a:solidFill>
                      <a:prstDash val="solid"/>
                      <a:round/>
                      <a:headEnd type="none" w="med" len="med"/>
                      <a:tailEnd type="none" w="med" len="med"/>
                    </a:lnL>
                    <a:lnR w="6350" cap="flat" cmpd="sng" algn="ctr">
                      <a:solidFill>
                        <a:srgbClr val="C5D8D8"/>
                      </a:solidFill>
                      <a:prstDash val="solid"/>
                      <a:round/>
                      <a:headEnd type="none" w="med" len="med"/>
                      <a:tailEnd type="none" w="med" len="med"/>
                    </a:lnR>
                    <a:lnT w="6350" cap="flat" cmpd="sng" algn="ctr">
                      <a:solidFill>
                        <a:srgbClr val="C5D8D8"/>
                      </a:solidFill>
                      <a:prstDash val="solid"/>
                      <a:round/>
                      <a:headEnd type="none" w="med" len="med"/>
                      <a:tailEnd type="none" w="med" len="med"/>
                    </a:lnT>
                    <a:lnB w="6350" cap="flat" cmpd="sng" algn="ctr">
                      <a:solidFill>
                        <a:srgbClr val="C5D8D8"/>
                      </a:solidFill>
                      <a:prstDash val="solid"/>
                      <a:round/>
                      <a:headEnd type="none" w="med" len="med"/>
                      <a:tailEnd type="none" w="med" len="med"/>
                    </a:lnB>
                  </a:tcPr>
                </a:tc>
                <a:tc>
                  <a:txBody>
                    <a:bodyPr/>
                    <a:lstStyle/>
                    <a:p>
                      <a:pPr marL="0" indent="0" algn="ctr">
                        <a:buNone/>
                      </a:pPr>
                      <a:r>
                        <a:rPr lang="en-US" sz="1100" b="1" dirty="0">
                          <a:solidFill>
                            <a:srgbClr val="10B981"/>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anchor="ctr">
                    <a:lnL w="6350" cap="flat" cmpd="sng" algn="ctr">
                      <a:solidFill>
                        <a:srgbClr val="C5D8D8"/>
                      </a:solidFill>
                      <a:prstDash val="solid"/>
                      <a:round/>
                      <a:headEnd type="none" w="med" len="med"/>
                      <a:tailEnd type="none" w="med" len="med"/>
                    </a:lnL>
                    <a:lnR w="6350" cap="flat" cmpd="sng" algn="ctr">
                      <a:solidFill>
                        <a:srgbClr val="C5D8D8"/>
                      </a:solidFill>
                      <a:prstDash val="solid"/>
                      <a:round/>
                      <a:headEnd type="none" w="med" len="med"/>
                      <a:tailEnd type="none" w="med" len="med"/>
                    </a:lnR>
                    <a:lnT w="6350" cap="flat" cmpd="sng" algn="ctr">
                      <a:solidFill>
                        <a:srgbClr val="C5D8D8"/>
                      </a:solidFill>
                      <a:prstDash val="solid"/>
                      <a:round/>
                      <a:headEnd type="none" w="med" len="med"/>
                      <a:tailEnd type="none" w="med" len="med"/>
                    </a:lnT>
                    <a:lnB w="6350" cap="flat" cmpd="sng" algn="ctr">
                      <a:solidFill>
                        <a:srgbClr val="C5D8D8"/>
                      </a:solidFill>
                      <a:prstDash val="solid"/>
                      <a:round/>
                      <a:headEnd type="none" w="med" len="med"/>
                      <a:tailEnd type="none" w="med" len="med"/>
                    </a:lnB>
                  </a:tcPr>
                </a:tc>
                <a:tc>
                  <a:txBody>
                    <a:bodyPr/>
                    <a:lstStyle/>
                    <a:p>
                      <a:pPr marL="0" indent="0" algn="ctr">
                        <a:buNone/>
                      </a:pPr>
                      <a:r>
                        <a:rPr lang="en-US" sz="1100" b="1" dirty="0">
                          <a:solidFill>
                            <a:srgbClr val="10B981"/>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anchor="ctr">
                    <a:lnL w="6350" cap="flat" cmpd="sng" algn="ctr">
                      <a:solidFill>
                        <a:srgbClr val="C5D8D8"/>
                      </a:solidFill>
                      <a:prstDash val="solid"/>
                      <a:round/>
                      <a:headEnd type="none" w="med" len="med"/>
                      <a:tailEnd type="none" w="med" len="med"/>
                    </a:lnL>
                    <a:lnR w="6350" cap="flat" cmpd="sng" algn="ctr">
                      <a:solidFill>
                        <a:srgbClr val="C5D8D8"/>
                      </a:solidFill>
                      <a:prstDash val="solid"/>
                      <a:round/>
                      <a:headEnd type="none" w="med" len="med"/>
                      <a:tailEnd type="none" w="med" len="med"/>
                    </a:lnR>
                    <a:lnT w="6350" cap="flat" cmpd="sng" algn="ctr">
                      <a:solidFill>
                        <a:srgbClr val="C5D8D8"/>
                      </a:solidFill>
                      <a:prstDash val="solid"/>
                      <a:round/>
                      <a:headEnd type="none" w="med" len="med"/>
                      <a:tailEnd type="none" w="med" len="med"/>
                    </a:lnT>
                    <a:lnB w="6350" cap="flat" cmpd="sng" algn="ctr">
                      <a:solidFill>
                        <a:srgbClr val="C5D8D8"/>
                      </a:solidFill>
                      <a:prstDash val="solid"/>
                      <a:round/>
                      <a:headEnd type="none" w="med" len="med"/>
                      <a:tailEnd type="none" w="med" len="med"/>
                    </a:lnB>
                  </a:tcPr>
                </a:tc>
                <a:tc>
                  <a:txBody>
                    <a:bodyPr/>
                    <a:lstStyle/>
                    <a:p>
                      <a:pPr marL="0" indent="0" algn="ctr">
                        <a:buNone/>
                      </a:pPr>
                      <a:r>
                        <a:rPr lang="en-US" sz="1100" b="1" dirty="0">
                          <a:solidFill>
                            <a:srgbClr val="10B981"/>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anchor="ctr">
                    <a:lnL w="6350" cap="flat" cmpd="sng" algn="ctr">
                      <a:solidFill>
                        <a:srgbClr val="C5D8D8"/>
                      </a:solidFill>
                      <a:prstDash val="solid"/>
                      <a:round/>
                      <a:headEnd type="none" w="med" len="med"/>
                      <a:tailEnd type="none" w="med" len="med"/>
                    </a:lnL>
                    <a:lnR w="6350" cap="flat" cmpd="sng" algn="ctr">
                      <a:solidFill>
                        <a:srgbClr val="C5D8D8"/>
                      </a:solidFill>
                      <a:prstDash val="solid"/>
                      <a:round/>
                      <a:headEnd type="none" w="med" len="med"/>
                      <a:tailEnd type="none" w="med" len="med"/>
                    </a:lnR>
                    <a:lnT w="6350" cap="flat" cmpd="sng" algn="ctr">
                      <a:solidFill>
                        <a:srgbClr val="C5D8D8"/>
                      </a:solidFill>
                      <a:prstDash val="solid"/>
                      <a:round/>
                      <a:headEnd type="none" w="med" len="med"/>
                      <a:tailEnd type="none" w="med" len="med"/>
                    </a:lnT>
                    <a:lnB w="6350" cap="flat" cmpd="sng" algn="ctr">
                      <a:solidFill>
                        <a:srgbClr val="C5D8D8"/>
                      </a:solidFill>
                      <a:prstDash val="solid"/>
                      <a:round/>
                      <a:headEnd type="none" w="med" len="med"/>
                      <a:tailEnd type="none" w="med" len="med"/>
                    </a:lnB>
                  </a:tcPr>
                </a:tc>
                <a:tc>
                  <a:txBody>
                    <a:bodyPr/>
                    <a:lstStyle/>
                    <a:p>
                      <a:pPr marL="0" indent="0" algn="ctr">
                        <a:buNone/>
                      </a:pPr>
                      <a:r>
                        <a:rPr lang="en-US" sz="1100" b="1" dirty="0">
                          <a:solidFill>
                            <a:srgbClr val="10B981"/>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anchor="ctr">
                    <a:lnL w="6350" cap="flat" cmpd="sng" algn="ctr">
                      <a:solidFill>
                        <a:srgbClr val="C5D8D8"/>
                      </a:solidFill>
                      <a:prstDash val="solid"/>
                      <a:round/>
                      <a:headEnd type="none" w="med" len="med"/>
                      <a:tailEnd type="none" w="med" len="med"/>
                    </a:lnL>
                    <a:lnR w="6350" cap="flat" cmpd="sng" algn="ctr">
                      <a:solidFill>
                        <a:srgbClr val="C5D8D8"/>
                      </a:solidFill>
                      <a:prstDash val="solid"/>
                      <a:round/>
                      <a:headEnd type="none" w="med" len="med"/>
                      <a:tailEnd type="none" w="med" len="med"/>
                    </a:lnR>
                    <a:lnT w="6350" cap="flat" cmpd="sng" algn="ctr">
                      <a:solidFill>
                        <a:srgbClr val="C5D8D8"/>
                      </a:solidFill>
                      <a:prstDash val="solid"/>
                      <a:round/>
                      <a:headEnd type="none" w="med" len="med"/>
                      <a:tailEnd type="none" w="med" len="med"/>
                    </a:lnT>
                    <a:lnB w="6350" cap="flat" cmpd="sng" algn="ctr">
                      <a:solidFill>
                        <a:srgbClr val="C5D8D8"/>
                      </a:solidFill>
                      <a:prstDash val="solid"/>
                      <a:round/>
                      <a:headEnd type="none" w="med" len="med"/>
                      <a:tailEnd type="none" w="med" len="med"/>
                    </a:lnB>
                  </a:tcPr>
                </a:tc>
                <a:tc>
                  <a:txBody>
                    <a:bodyPr/>
                    <a:lstStyle/>
                    <a:p>
                      <a:pPr marL="0" indent="0" algn="ctr">
                        <a:buNone/>
                      </a:pPr>
                      <a:r>
                        <a:rPr lang="en-US" sz="1100" b="1" dirty="0">
                          <a:solidFill>
                            <a:srgbClr val="10B981"/>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anchor="ctr">
                    <a:lnL w="6350" cap="flat" cmpd="sng" algn="ctr">
                      <a:solidFill>
                        <a:srgbClr val="C5D8D8"/>
                      </a:solidFill>
                      <a:prstDash val="solid"/>
                      <a:round/>
                      <a:headEnd type="none" w="med" len="med"/>
                      <a:tailEnd type="none" w="med" len="med"/>
                    </a:lnL>
                    <a:lnR w="6350" cap="flat" cmpd="sng" algn="ctr">
                      <a:solidFill>
                        <a:srgbClr val="C5D8D8"/>
                      </a:solidFill>
                      <a:prstDash val="solid"/>
                      <a:round/>
                      <a:headEnd type="none" w="med" len="med"/>
                      <a:tailEnd type="none" w="med" len="med"/>
                    </a:lnR>
                    <a:lnT w="6350" cap="flat" cmpd="sng" algn="ctr">
                      <a:solidFill>
                        <a:srgbClr val="C5D8D8"/>
                      </a:solidFill>
                      <a:prstDash val="solid"/>
                      <a:round/>
                      <a:headEnd type="none" w="med" len="med"/>
                      <a:tailEnd type="none" w="med" len="med"/>
                    </a:lnT>
                    <a:lnB w="6350" cap="flat" cmpd="sng" algn="ctr">
                      <a:solidFill>
                        <a:srgbClr val="C5D8D8"/>
                      </a:solidFill>
                      <a:prstDash val="solid"/>
                      <a:round/>
                      <a:headEnd type="none" w="med" len="med"/>
                      <a:tailEnd type="none" w="med" len="med"/>
                    </a:lnB>
                  </a:tcPr>
                </a:tc>
                <a:tc>
                  <a:txBody>
                    <a:bodyPr/>
                    <a:lstStyle/>
                    <a:p>
                      <a:pPr marL="0" indent="0" algn="ctr">
                        <a:buNone/>
                      </a:pPr>
                      <a:r>
                        <a:rPr lang="en-US" sz="1100" b="1" dirty="0">
                          <a:solidFill>
                            <a:srgbClr val="10B981"/>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anchor="ctr">
                    <a:lnL w="6350" cap="flat" cmpd="sng" algn="ctr">
                      <a:solidFill>
                        <a:srgbClr val="C5D8D8"/>
                      </a:solidFill>
                      <a:prstDash val="solid"/>
                      <a:round/>
                      <a:headEnd type="none" w="med" len="med"/>
                      <a:tailEnd type="none" w="med" len="med"/>
                    </a:lnL>
                    <a:lnR w="6350" cap="flat" cmpd="sng" algn="ctr">
                      <a:solidFill>
                        <a:srgbClr val="C5D8D8"/>
                      </a:solidFill>
                      <a:prstDash val="solid"/>
                      <a:round/>
                      <a:headEnd type="none" w="med" len="med"/>
                      <a:tailEnd type="none" w="med" len="med"/>
                    </a:lnR>
                    <a:lnT w="6350" cap="flat" cmpd="sng" algn="ctr">
                      <a:solidFill>
                        <a:srgbClr val="C5D8D8"/>
                      </a:solidFill>
                      <a:prstDash val="solid"/>
                      <a:round/>
                      <a:headEnd type="none" w="med" len="med"/>
                      <a:tailEnd type="none" w="med" len="med"/>
                    </a:lnT>
                    <a:lnB w="6350" cap="flat" cmpd="sng" algn="ctr">
                      <a:solidFill>
                        <a:srgbClr val="C5D8D8"/>
                      </a:solidFill>
                      <a:prstDash val="solid"/>
                      <a:round/>
                      <a:headEnd type="none" w="med" len="med"/>
                      <a:tailEnd type="none" w="med" len="med"/>
                    </a:lnB>
                  </a:tcPr>
                </a:tc>
                <a:extLst>
                  <a:ext uri="{0D108BD9-81ED-4DB2-BD59-A6C34878D82A}">
                    <a16:rowId xmlns:a16="http://schemas.microsoft.com/office/drawing/2014/main" val="10010"/>
                  </a:ext>
                </a:extLst>
              </a:tr>
              <a:tr h="0">
                <a:tc>
                  <a:txBody>
                    <a:bodyPr/>
                    <a:lstStyle/>
                    <a:p>
                      <a:pPr marL="0" indent="0">
                        <a:buNone/>
                      </a:pPr>
                      <a:r>
                        <a:rPr lang="en-US" sz="850" dirty="0">
                          <a:solidFill>
                            <a:srgbClr val="334155"/>
                          </a:solidFill>
                          <a:latin typeface="Calibri" pitchFamily="34" charset="0"/>
                          <a:ea typeface="Calibri" pitchFamily="34" charset="-122"/>
                          <a:cs typeface="Calibri" pitchFamily="34" charset="-120"/>
                        </a:rPr>
                        <a:t>Hourly Load Shape</a:t>
                      </a:r>
                      <a:endParaRPr lang="en-US" sz="850" dirty="0">
                        <a:latin typeface="Calibri" charset="0"/>
                        <a:ea typeface="Calibri" charset="0"/>
                        <a:cs typeface="Calibri" charset="0"/>
                      </a:endParaRPr>
                    </a:p>
                  </a:txBody>
                  <a:tcPr anchor="ctr">
                    <a:lnL w="6350" cap="flat" cmpd="sng" algn="ctr">
                      <a:solidFill>
                        <a:srgbClr val="C5D8D8"/>
                      </a:solidFill>
                      <a:prstDash val="solid"/>
                      <a:round/>
                      <a:headEnd type="none" w="med" len="med"/>
                      <a:tailEnd type="none" w="med" len="med"/>
                    </a:lnL>
                    <a:lnR w="6350" cap="flat" cmpd="sng" algn="ctr">
                      <a:solidFill>
                        <a:srgbClr val="C5D8D8"/>
                      </a:solidFill>
                      <a:prstDash val="solid"/>
                      <a:round/>
                      <a:headEnd type="none" w="med" len="med"/>
                      <a:tailEnd type="none" w="med" len="med"/>
                    </a:lnR>
                    <a:lnT w="6350" cap="flat" cmpd="sng" algn="ctr">
                      <a:solidFill>
                        <a:srgbClr val="C5D8D8"/>
                      </a:solidFill>
                      <a:prstDash val="solid"/>
                      <a:round/>
                      <a:headEnd type="none" w="med" len="med"/>
                      <a:tailEnd type="none" w="med" len="med"/>
                    </a:lnT>
                    <a:lnB w="6350" cap="flat" cmpd="sng" algn="ctr">
                      <a:solidFill>
                        <a:srgbClr val="C5D8D8"/>
                      </a:solidFill>
                      <a:prstDash val="solid"/>
                      <a:round/>
                      <a:headEnd type="none" w="med" len="med"/>
                      <a:tailEnd type="none" w="med" len="med"/>
                    </a:lnB>
                  </a:tcPr>
                </a:tc>
                <a:tc>
                  <a:txBody>
                    <a:bodyPr/>
                    <a:lstStyle/>
                    <a:p>
                      <a:pPr marL="0" indent="0" algn="ctr">
                        <a:buNone/>
                      </a:pPr>
                      <a:r>
                        <a:rPr lang="en-US" sz="1100" b="1" dirty="0">
                          <a:solidFill>
                            <a:srgbClr val="10B981"/>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anchor="ctr">
                    <a:lnL w="6350" cap="flat" cmpd="sng" algn="ctr">
                      <a:solidFill>
                        <a:srgbClr val="C5D8D8"/>
                      </a:solidFill>
                      <a:prstDash val="solid"/>
                      <a:round/>
                      <a:headEnd type="none" w="med" len="med"/>
                      <a:tailEnd type="none" w="med" len="med"/>
                    </a:lnL>
                    <a:lnR w="6350" cap="flat" cmpd="sng" algn="ctr">
                      <a:solidFill>
                        <a:srgbClr val="C5D8D8"/>
                      </a:solidFill>
                      <a:prstDash val="solid"/>
                      <a:round/>
                      <a:headEnd type="none" w="med" len="med"/>
                      <a:tailEnd type="none" w="med" len="med"/>
                    </a:lnR>
                    <a:lnT w="6350" cap="flat" cmpd="sng" algn="ctr">
                      <a:solidFill>
                        <a:srgbClr val="C5D8D8"/>
                      </a:solidFill>
                      <a:prstDash val="solid"/>
                      <a:round/>
                      <a:headEnd type="none" w="med" len="med"/>
                      <a:tailEnd type="none" w="med" len="med"/>
                    </a:lnT>
                    <a:lnB w="6350" cap="flat" cmpd="sng" algn="ctr">
                      <a:solidFill>
                        <a:srgbClr val="C5D8D8"/>
                      </a:solidFill>
                      <a:prstDash val="solid"/>
                      <a:round/>
                      <a:headEnd type="none" w="med" len="med"/>
                      <a:tailEnd type="none" w="med" len="med"/>
                    </a:lnB>
                  </a:tcPr>
                </a:tc>
                <a:tc>
                  <a:txBody>
                    <a:bodyPr/>
                    <a:lstStyle/>
                    <a:p>
                      <a:pPr marL="0" indent="0" algn="ctr">
                        <a:buNone/>
                      </a:pPr>
                      <a:r>
                        <a:rPr lang="en-US" sz="1100" b="1" dirty="0">
                          <a:solidFill>
                            <a:srgbClr val="10B981"/>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anchor="ctr">
                    <a:lnL w="6350" cap="flat" cmpd="sng" algn="ctr">
                      <a:solidFill>
                        <a:srgbClr val="C5D8D8"/>
                      </a:solidFill>
                      <a:prstDash val="solid"/>
                      <a:round/>
                      <a:headEnd type="none" w="med" len="med"/>
                      <a:tailEnd type="none" w="med" len="med"/>
                    </a:lnL>
                    <a:lnR w="6350" cap="flat" cmpd="sng" algn="ctr">
                      <a:solidFill>
                        <a:srgbClr val="C5D8D8"/>
                      </a:solidFill>
                      <a:prstDash val="solid"/>
                      <a:round/>
                      <a:headEnd type="none" w="med" len="med"/>
                      <a:tailEnd type="none" w="med" len="med"/>
                    </a:lnR>
                    <a:lnT w="6350" cap="flat" cmpd="sng" algn="ctr">
                      <a:solidFill>
                        <a:srgbClr val="C5D8D8"/>
                      </a:solidFill>
                      <a:prstDash val="solid"/>
                      <a:round/>
                      <a:headEnd type="none" w="med" len="med"/>
                      <a:tailEnd type="none" w="med" len="med"/>
                    </a:lnT>
                    <a:lnB w="6350" cap="flat" cmpd="sng" algn="ctr">
                      <a:solidFill>
                        <a:srgbClr val="C5D8D8"/>
                      </a:solidFill>
                      <a:prstDash val="solid"/>
                      <a:round/>
                      <a:headEnd type="none" w="med" len="med"/>
                      <a:tailEnd type="none" w="med" len="med"/>
                    </a:lnB>
                  </a:tcPr>
                </a:tc>
                <a:tc>
                  <a:txBody>
                    <a:bodyPr/>
                    <a:lstStyle/>
                    <a:p>
                      <a:pPr marL="0" indent="0" algn="ctr">
                        <a:buNone/>
                      </a:pPr>
                      <a:r>
                        <a:rPr lang="en-US" sz="1100" b="1" dirty="0">
                          <a:solidFill>
                            <a:srgbClr val="10B981"/>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anchor="ctr">
                    <a:lnL w="6350" cap="flat" cmpd="sng" algn="ctr">
                      <a:solidFill>
                        <a:srgbClr val="C5D8D8"/>
                      </a:solidFill>
                      <a:prstDash val="solid"/>
                      <a:round/>
                      <a:headEnd type="none" w="med" len="med"/>
                      <a:tailEnd type="none" w="med" len="med"/>
                    </a:lnL>
                    <a:lnR w="6350" cap="flat" cmpd="sng" algn="ctr">
                      <a:solidFill>
                        <a:srgbClr val="C5D8D8"/>
                      </a:solidFill>
                      <a:prstDash val="solid"/>
                      <a:round/>
                      <a:headEnd type="none" w="med" len="med"/>
                      <a:tailEnd type="none" w="med" len="med"/>
                    </a:lnR>
                    <a:lnT w="6350" cap="flat" cmpd="sng" algn="ctr">
                      <a:solidFill>
                        <a:srgbClr val="C5D8D8"/>
                      </a:solidFill>
                      <a:prstDash val="solid"/>
                      <a:round/>
                      <a:headEnd type="none" w="med" len="med"/>
                      <a:tailEnd type="none" w="med" len="med"/>
                    </a:lnT>
                    <a:lnB w="6350" cap="flat" cmpd="sng" algn="ctr">
                      <a:solidFill>
                        <a:srgbClr val="C5D8D8"/>
                      </a:solidFill>
                      <a:prstDash val="solid"/>
                      <a:round/>
                      <a:headEnd type="none" w="med" len="med"/>
                      <a:tailEnd type="none" w="med" len="med"/>
                    </a:lnB>
                  </a:tcPr>
                </a:tc>
                <a:tc>
                  <a:txBody>
                    <a:bodyPr/>
                    <a:lstStyle/>
                    <a:p>
                      <a:pPr marL="0" indent="0" algn="ctr">
                        <a:buNone/>
                      </a:pPr>
                      <a:r>
                        <a:rPr lang="en-US" sz="1100" b="1" dirty="0">
                          <a:solidFill>
                            <a:srgbClr val="EF4444"/>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anchor="ctr">
                    <a:lnL w="6350" cap="flat" cmpd="sng" algn="ctr">
                      <a:solidFill>
                        <a:srgbClr val="C5D8D8"/>
                      </a:solidFill>
                      <a:prstDash val="solid"/>
                      <a:round/>
                      <a:headEnd type="none" w="med" len="med"/>
                      <a:tailEnd type="none" w="med" len="med"/>
                    </a:lnL>
                    <a:lnR w="6350" cap="flat" cmpd="sng" algn="ctr">
                      <a:solidFill>
                        <a:srgbClr val="C5D8D8"/>
                      </a:solidFill>
                      <a:prstDash val="solid"/>
                      <a:round/>
                      <a:headEnd type="none" w="med" len="med"/>
                      <a:tailEnd type="none" w="med" len="med"/>
                    </a:lnR>
                    <a:lnT w="6350" cap="flat" cmpd="sng" algn="ctr">
                      <a:solidFill>
                        <a:srgbClr val="C5D8D8"/>
                      </a:solidFill>
                      <a:prstDash val="solid"/>
                      <a:round/>
                      <a:headEnd type="none" w="med" len="med"/>
                      <a:tailEnd type="none" w="med" len="med"/>
                    </a:lnT>
                    <a:lnB w="6350" cap="flat" cmpd="sng" algn="ctr">
                      <a:solidFill>
                        <a:srgbClr val="C5D8D8"/>
                      </a:solidFill>
                      <a:prstDash val="solid"/>
                      <a:round/>
                      <a:headEnd type="none" w="med" len="med"/>
                      <a:tailEnd type="none" w="med" len="med"/>
                    </a:lnB>
                  </a:tcPr>
                </a:tc>
                <a:tc>
                  <a:txBody>
                    <a:bodyPr/>
                    <a:lstStyle/>
                    <a:p>
                      <a:pPr marL="0" indent="0" algn="ctr">
                        <a:buNone/>
                      </a:pPr>
                      <a:r>
                        <a:rPr lang="en-US" sz="1100" b="1" dirty="0">
                          <a:solidFill>
                            <a:srgbClr val="10B981"/>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anchor="ctr">
                    <a:lnL w="6350" cap="flat" cmpd="sng" algn="ctr">
                      <a:solidFill>
                        <a:srgbClr val="C5D8D8"/>
                      </a:solidFill>
                      <a:prstDash val="solid"/>
                      <a:round/>
                      <a:headEnd type="none" w="med" len="med"/>
                      <a:tailEnd type="none" w="med" len="med"/>
                    </a:lnL>
                    <a:lnR w="6350" cap="flat" cmpd="sng" algn="ctr">
                      <a:solidFill>
                        <a:srgbClr val="C5D8D8"/>
                      </a:solidFill>
                      <a:prstDash val="solid"/>
                      <a:round/>
                      <a:headEnd type="none" w="med" len="med"/>
                      <a:tailEnd type="none" w="med" len="med"/>
                    </a:lnR>
                    <a:lnT w="6350" cap="flat" cmpd="sng" algn="ctr">
                      <a:solidFill>
                        <a:srgbClr val="C5D8D8"/>
                      </a:solidFill>
                      <a:prstDash val="solid"/>
                      <a:round/>
                      <a:headEnd type="none" w="med" len="med"/>
                      <a:tailEnd type="none" w="med" len="med"/>
                    </a:lnT>
                    <a:lnB w="6350" cap="flat" cmpd="sng" algn="ctr">
                      <a:solidFill>
                        <a:srgbClr val="C5D8D8"/>
                      </a:solidFill>
                      <a:prstDash val="solid"/>
                      <a:round/>
                      <a:headEnd type="none" w="med" len="med"/>
                      <a:tailEnd type="none" w="med" len="med"/>
                    </a:lnB>
                  </a:tcPr>
                </a:tc>
                <a:tc>
                  <a:txBody>
                    <a:bodyPr/>
                    <a:lstStyle/>
                    <a:p>
                      <a:pPr marL="0" indent="0" algn="ctr">
                        <a:buNone/>
                      </a:pPr>
                      <a:r>
                        <a:rPr lang="en-US" sz="1100" b="1" dirty="0">
                          <a:solidFill>
                            <a:srgbClr val="10B981"/>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anchor="ctr">
                    <a:lnL w="6350" cap="flat" cmpd="sng" algn="ctr">
                      <a:solidFill>
                        <a:srgbClr val="C5D8D8"/>
                      </a:solidFill>
                      <a:prstDash val="solid"/>
                      <a:round/>
                      <a:headEnd type="none" w="med" len="med"/>
                      <a:tailEnd type="none" w="med" len="med"/>
                    </a:lnL>
                    <a:lnR w="6350" cap="flat" cmpd="sng" algn="ctr">
                      <a:solidFill>
                        <a:srgbClr val="C5D8D8"/>
                      </a:solidFill>
                      <a:prstDash val="solid"/>
                      <a:round/>
                      <a:headEnd type="none" w="med" len="med"/>
                      <a:tailEnd type="none" w="med" len="med"/>
                    </a:lnR>
                    <a:lnT w="6350" cap="flat" cmpd="sng" algn="ctr">
                      <a:solidFill>
                        <a:srgbClr val="C5D8D8"/>
                      </a:solidFill>
                      <a:prstDash val="solid"/>
                      <a:round/>
                      <a:headEnd type="none" w="med" len="med"/>
                      <a:tailEnd type="none" w="med" len="med"/>
                    </a:lnT>
                    <a:lnB w="6350" cap="flat" cmpd="sng" algn="ctr">
                      <a:solidFill>
                        <a:srgbClr val="C5D8D8"/>
                      </a:solidFill>
                      <a:prstDash val="solid"/>
                      <a:round/>
                      <a:headEnd type="none" w="med" len="med"/>
                      <a:tailEnd type="none" w="med" len="med"/>
                    </a:lnB>
                  </a:tcPr>
                </a:tc>
                <a:extLst>
                  <a:ext uri="{0D108BD9-81ED-4DB2-BD59-A6C34878D82A}">
                    <a16:rowId xmlns:a16="http://schemas.microsoft.com/office/drawing/2014/main" val="10011"/>
                  </a:ext>
                </a:extLst>
              </a:tr>
            </a:tbl>
          </a:graphicData>
        </a:graphic>
      </p:graphicFrame>
      <p:sp>
        <p:nvSpPr>
          <p:cNvPr id="10" name="Text 7"/>
          <p:cNvSpPr/>
          <p:nvPr/>
        </p:nvSpPr>
        <p:spPr>
          <a:xfrm>
            <a:off x="457200" y="4389120"/>
            <a:ext cx="8229600" cy="228600"/>
          </a:xfrm>
          <a:prstGeom prst="rect">
            <a:avLst/>
          </a:prstGeom>
          <a:noFill/>
          <a:ln/>
        </p:spPr>
        <p:txBody>
          <a:bodyPr wrap="square" lIns="0" tIns="0" rIns="0" bIns="0" rtlCol="0" anchor="ctr"/>
          <a:lstStyle/>
          <a:p>
            <a:r>
              <a:rPr lang="en-US" sz="900" i="1" dirty="0"/>
              <a:t>66 data points</a:t>
            </a:r>
            <a:r>
              <a:rPr lang="en-US" sz="900" i="1"/>
              <a:t>: 58 </a:t>
            </a:r>
            <a:r>
              <a:rPr lang="en-US" sz="900" i="1" dirty="0"/>
              <a:t>complete, 5 partial, 2 gaps, 1 N/A — Maldives is the only country with outstanding gaps</a:t>
            </a:r>
          </a:p>
        </p:txBody>
      </p:sp>
      <p:sp>
        <p:nvSpPr>
          <p:cNvPr id="11" name="Shape 8"/>
          <p:cNvSpPr/>
          <p:nvPr/>
        </p:nvSpPr>
        <p:spPr>
          <a:xfrm>
            <a:off x="0" y="4709160"/>
            <a:ext cx="9144000" cy="434340"/>
          </a:xfrm>
          <a:prstGeom prst="rect">
            <a:avLst/>
          </a:prstGeom>
          <a:solidFill>
            <a:srgbClr val="00414D"/>
          </a:solidFill>
          <a:ln/>
        </p:spPr>
        <p:txBody>
          <a:bodyPr/>
          <a:lstStyle/>
          <a:p>
            <a:endParaRPr lang="LID4096"/>
          </a:p>
        </p:txBody>
      </p:sp>
      <p:sp>
        <p:nvSpPr>
          <p:cNvPr id="12" name="Text 9"/>
          <p:cNvSpPr/>
          <p:nvPr/>
        </p:nvSpPr>
        <p:spPr>
          <a:xfrm>
            <a:off x="457200" y="4727448"/>
            <a:ext cx="8229600" cy="393192"/>
          </a:xfrm>
          <a:prstGeom prst="rect">
            <a:avLst/>
          </a:prstGeom>
          <a:noFill/>
          <a:ln/>
        </p:spPr>
        <p:txBody>
          <a:bodyPr wrap="square" rtlCol="0" anchor="ctr"/>
          <a:lstStyle/>
          <a:p>
            <a:pPr marL="0" indent="0">
              <a:buNone/>
            </a:pPr>
            <a:r>
              <a:rPr lang="en-US" sz="800" dirty="0">
                <a:solidFill>
                  <a:srgbClr val="64748B"/>
                </a:solidFill>
                <a:latin typeface="Calibri" pitchFamily="34" charset="0"/>
                <a:ea typeface="Calibri" pitchFamily="34" charset="-122"/>
                <a:cs typeface="Calibri" pitchFamily="34" charset="-120"/>
              </a:rPr>
              <a:t>OSTRAM — Data Package v1.0  |  UN ESCAP Energy Division  |  March 2026</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0F5F5"/>
        </a:solidFill>
        <a:effectLst/>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lIns="0" tIns="0" rIns="0" bIns="0" rtlCol="0" anchor="ctr"/>
          <a:lstStyle/>
          <a:p>
            <a:pPr marL="0" indent="0">
              <a:buNone/>
            </a:pPr>
            <a:r>
              <a:rPr lang="en-US" sz="2600" b="1" dirty="0">
                <a:solidFill>
                  <a:srgbClr val="00414D"/>
                </a:solidFill>
                <a:latin typeface="Georgia" pitchFamily="34" charset="0"/>
                <a:ea typeface="Georgia" pitchFamily="34" charset="-122"/>
                <a:cs typeface="Georgia" pitchFamily="34" charset="-120"/>
              </a:rPr>
              <a:t>Outstanding Gaps</a:t>
            </a:r>
            <a:endParaRPr lang="en-US" sz="2600" dirty="0"/>
          </a:p>
        </p:txBody>
      </p:sp>
      <p:sp>
        <p:nvSpPr>
          <p:cNvPr id="3" name="Shape 1"/>
          <p:cNvSpPr/>
          <p:nvPr/>
        </p:nvSpPr>
        <p:spPr>
          <a:xfrm>
            <a:off x="457200" y="960120"/>
            <a:ext cx="8229600" cy="402336"/>
          </a:xfrm>
          <a:prstGeom prst="rect">
            <a:avLst/>
          </a:prstGeom>
          <a:solidFill>
            <a:srgbClr val="FFFFFF"/>
          </a:solidFill>
          <a:ln/>
          <a:effectLst>
            <a:outerShdw blurRad="38100" dist="12700" dir="8100000" algn="bl" rotWithShape="0">
              <a:srgbClr val="000000">
                <a:alpha val="4000"/>
              </a:srgbClr>
            </a:outerShdw>
          </a:effectLst>
        </p:spPr>
        <p:txBody>
          <a:bodyPr/>
          <a:lstStyle/>
          <a:p>
            <a:endParaRPr lang="LID4096"/>
          </a:p>
        </p:txBody>
      </p:sp>
      <p:sp>
        <p:nvSpPr>
          <p:cNvPr id="4" name="Shape 2"/>
          <p:cNvSpPr/>
          <p:nvPr/>
        </p:nvSpPr>
        <p:spPr>
          <a:xfrm>
            <a:off x="457200" y="960120"/>
            <a:ext cx="54864" cy="402336"/>
          </a:xfrm>
          <a:prstGeom prst="rect">
            <a:avLst/>
          </a:prstGeom>
          <a:solidFill>
            <a:srgbClr val="EF4444"/>
          </a:solidFill>
          <a:ln/>
        </p:spPr>
        <p:txBody>
          <a:bodyPr/>
          <a:lstStyle/>
          <a:p>
            <a:endParaRPr lang="LID4096"/>
          </a:p>
        </p:txBody>
      </p:sp>
      <p:sp>
        <p:nvSpPr>
          <p:cNvPr id="5" name="Text 3"/>
          <p:cNvSpPr/>
          <p:nvPr/>
        </p:nvSpPr>
        <p:spPr>
          <a:xfrm>
            <a:off x="640080" y="960120"/>
            <a:ext cx="548640" cy="402336"/>
          </a:xfrm>
          <a:prstGeom prst="rect">
            <a:avLst/>
          </a:prstGeom>
          <a:noFill/>
          <a:ln/>
        </p:spPr>
        <p:txBody>
          <a:bodyPr wrap="square" lIns="0" tIns="0" rIns="0" bIns="0" rtlCol="0" anchor="ctr"/>
          <a:lstStyle/>
          <a:p>
            <a:pPr marL="0" indent="0">
              <a:buNone/>
            </a:pPr>
            <a:r>
              <a:rPr lang="en-US" sz="850" b="1" dirty="0">
                <a:solidFill>
                  <a:srgbClr val="EF4444"/>
                </a:solidFill>
                <a:latin typeface="Calibri" pitchFamily="34" charset="0"/>
                <a:ea typeface="Calibri" pitchFamily="34" charset="-122"/>
                <a:cs typeface="Calibri" pitchFamily="34" charset="-120"/>
              </a:rPr>
              <a:t>HIGH</a:t>
            </a:r>
            <a:endParaRPr lang="en-US" sz="850" dirty="0"/>
          </a:p>
        </p:txBody>
      </p:sp>
      <p:sp>
        <p:nvSpPr>
          <p:cNvPr id="6" name="Text 4"/>
          <p:cNvSpPr/>
          <p:nvPr/>
        </p:nvSpPr>
        <p:spPr>
          <a:xfrm>
            <a:off x="1234440" y="960120"/>
            <a:ext cx="7315200" cy="402336"/>
          </a:xfrm>
          <a:prstGeom prst="rect">
            <a:avLst/>
          </a:prstGeom>
          <a:noFill/>
          <a:ln/>
        </p:spPr>
        <p:txBody>
          <a:bodyPr wrap="square" lIns="0" tIns="0" rIns="0" bIns="0" rtlCol="0" anchor="ctr"/>
          <a:lstStyle/>
          <a:p>
            <a:pPr marL="0" indent="0">
              <a:buNone/>
            </a:pPr>
            <a:r>
              <a:rPr lang="en-US" sz="1000" dirty="0">
                <a:solidFill>
                  <a:srgbClr val="334155"/>
                </a:solidFill>
                <a:latin typeface="Calibri" pitchFamily="34" charset="0"/>
                <a:ea typeface="Calibri" pitchFamily="34" charset="-122"/>
                <a:cs typeface="Calibri" pitchFamily="34" charset="-120"/>
              </a:rPr>
              <a:t>Demand profiles: MDV missing timeslice fractions — derive from hourly load data</a:t>
            </a:r>
            <a:endParaRPr lang="en-US" sz="1000" dirty="0"/>
          </a:p>
        </p:txBody>
      </p:sp>
      <p:sp>
        <p:nvSpPr>
          <p:cNvPr id="7" name="Shape 5"/>
          <p:cNvSpPr/>
          <p:nvPr/>
        </p:nvSpPr>
        <p:spPr>
          <a:xfrm>
            <a:off x="457200" y="1435608"/>
            <a:ext cx="8229600" cy="402336"/>
          </a:xfrm>
          <a:prstGeom prst="rect">
            <a:avLst/>
          </a:prstGeom>
          <a:solidFill>
            <a:srgbClr val="FFFFFF"/>
          </a:solidFill>
          <a:ln/>
          <a:effectLst>
            <a:outerShdw blurRad="38100" dist="12700" dir="8100000" algn="bl" rotWithShape="0">
              <a:srgbClr val="000000">
                <a:alpha val="4000"/>
              </a:srgbClr>
            </a:outerShdw>
          </a:effectLst>
        </p:spPr>
        <p:txBody>
          <a:bodyPr/>
          <a:lstStyle/>
          <a:p>
            <a:endParaRPr lang="LID4096"/>
          </a:p>
        </p:txBody>
      </p:sp>
      <p:sp>
        <p:nvSpPr>
          <p:cNvPr id="8" name="Shape 6"/>
          <p:cNvSpPr/>
          <p:nvPr/>
        </p:nvSpPr>
        <p:spPr>
          <a:xfrm>
            <a:off x="457200" y="1435608"/>
            <a:ext cx="54864" cy="402336"/>
          </a:xfrm>
          <a:prstGeom prst="rect">
            <a:avLst/>
          </a:prstGeom>
          <a:solidFill>
            <a:srgbClr val="EF4444"/>
          </a:solidFill>
          <a:ln/>
        </p:spPr>
        <p:txBody>
          <a:bodyPr/>
          <a:lstStyle/>
          <a:p>
            <a:endParaRPr lang="LID4096"/>
          </a:p>
        </p:txBody>
      </p:sp>
      <p:sp>
        <p:nvSpPr>
          <p:cNvPr id="9" name="Text 7"/>
          <p:cNvSpPr/>
          <p:nvPr/>
        </p:nvSpPr>
        <p:spPr>
          <a:xfrm>
            <a:off x="640080" y="1435608"/>
            <a:ext cx="548640" cy="402336"/>
          </a:xfrm>
          <a:prstGeom prst="rect">
            <a:avLst/>
          </a:prstGeom>
          <a:noFill/>
          <a:ln/>
        </p:spPr>
        <p:txBody>
          <a:bodyPr wrap="square" lIns="0" tIns="0" rIns="0" bIns="0" rtlCol="0" anchor="ctr"/>
          <a:lstStyle/>
          <a:p>
            <a:pPr marL="0" indent="0">
              <a:buNone/>
            </a:pPr>
            <a:r>
              <a:rPr lang="en-US" sz="850" b="1" dirty="0">
                <a:solidFill>
                  <a:srgbClr val="EF4444"/>
                </a:solidFill>
                <a:latin typeface="Calibri" pitchFamily="34" charset="0"/>
                <a:ea typeface="Calibri" pitchFamily="34" charset="-122"/>
                <a:cs typeface="Calibri" pitchFamily="34" charset="-120"/>
              </a:rPr>
              <a:t>HIGH</a:t>
            </a:r>
            <a:endParaRPr lang="en-US" sz="850" dirty="0"/>
          </a:p>
        </p:txBody>
      </p:sp>
      <p:sp>
        <p:nvSpPr>
          <p:cNvPr id="10" name="Text 8"/>
          <p:cNvSpPr/>
          <p:nvPr/>
        </p:nvSpPr>
        <p:spPr>
          <a:xfrm>
            <a:off x="1234440" y="1435608"/>
            <a:ext cx="7315200" cy="402336"/>
          </a:xfrm>
          <a:prstGeom prst="rect">
            <a:avLst/>
          </a:prstGeom>
          <a:noFill/>
          <a:ln/>
        </p:spPr>
        <p:txBody>
          <a:bodyPr wrap="square" lIns="0" tIns="0" rIns="0" bIns="0" rtlCol="0" anchor="ctr"/>
          <a:lstStyle/>
          <a:p>
            <a:pPr marL="0" indent="0">
              <a:buNone/>
            </a:pPr>
            <a:r>
              <a:rPr lang="en-US" sz="1000" dirty="0">
                <a:solidFill>
                  <a:srgbClr val="334155"/>
                </a:solidFill>
                <a:latin typeface="Calibri" pitchFamily="34" charset="0"/>
                <a:ea typeface="Calibri" pitchFamily="34" charset="-122"/>
                <a:cs typeface="Calibri" pitchFamily="34" charset="-120"/>
              </a:rPr>
              <a:t>Fuel cost subsidies per country — collect from national energy ministries</a:t>
            </a:r>
            <a:endParaRPr lang="en-US" sz="1000" dirty="0"/>
          </a:p>
        </p:txBody>
      </p:sp>
      <p:sp>
        <p:nvSpPr>
          <p:cNvPr id="11" name="Shape 9"/>
          <p:cNvSpPr/>
          <p:nvPr/>
        </p:nvSpPr>
        <p:spPr>
          <a:xfrm>
            <a:off x="457200" y="1911096"/>
            <a:ext cx="8229600" cy="402336"/>
          </a:xfrm>
          <a:prstGeom prst="rect">
            <a:avLst/>
          </a:prstGeom>
          <a:solidFill>
            <a:srgbClr val="FFFFFF"/>
          </a:solidFill>
          <a:ln/>
          <a:effectLst>
            <a:outerShdw blurRad="38100" dist="12700" dir="8100000" algn="bl" rotWithShape="0">
              <a:srgbClr val="000000">
                <a:alpha val="4000"/>
              </a:srgbClr>
            </a:outerShdw>
          </a:effectLst>
        </p:spPr>
        <p:txBody>
          <a:bodyPr/>
          <a:lstStyle/>
          <a:p>
            <a:endParaRPr lang="LID4096"/>
          </a:p>
        </p:txBody>
      </p:sp>
      <p:sp>
        <p:nvSpPr>
          <p:cNvPr id="12" name="Shape 10"/>
          <p:cNvSpPr/>
          <p:nvPr/>
        </p:nvSpPr>
        <p:spPr>
          <a:xfrm>
            <a:off x="457200" y="1911096"/>
            <a:ext cx="54864" cy="402336"/>
          </a:xfrm>
          <a:prstGeom prst="rect">
            <a:avLst/>
          </a:prstGeom>
          <a:solidFill>
            <a:srgbClr val="EF4444"/>
          </a:solidFill>
          <a:ln/>
        </p:spPr>
        <p:txBody>
          <a:bodyPr/>
          <a:lstStyle/>
          <a:p>
            <a:endParaRPr lang="LID4096"/>
          </a:p>
        </p:txBody>
      </p:sp>
      <p:sp>
        <p:nvSpPr>
          <p:cNvPr id="13" name="Text 11"/>
          <p:cNvSpPr/>
          <p:nvPr/>
        </p:nvSpPr>
        <p:spPr>
          <a:xfrm>
            <a:off x="640080" y="1911096"/>
            <a:ext cx="548640" cy="402336"/>
          </a:xfrm>
          <a:prstGeom prst="rect">
            <a:avLst/>
          </a:prstGeom>
          <a:noFill/>
          <a:ln/>
        </p:spPr>
        <p:txBody>
          <a:bodyPr wrap="square" lIns="0" tIns="0" rIns="0" bIns="0" rtlCol="0" anchor="ctr"/>
          <a:lstStyle/>
          <a:p>
            <a:pPr marL="0" indent="0">
              <a:buNone/>
            </a:pPr>
            <a:r>
              <a:rPr lang="en-US" sz="850" b="1" dirty="0">
                <a:solidFill>
                  <a:srgbClr val="EF4444"/>
                </a:solidFill>
                <a:latin typeface="Calibri" pitchFamily="34" charset="0"/>
                <a:ea typeface="Calibri" pitchFamily="34" charset="-122"/>
                <a:cs typeface="Calibri" pitchFamily="34" charset="-120"/>
              </a:rPr>
              <a:t>HIGH</a:t>
            </a:r>
            <a:endParaRPr lang="en-US" sz="850" dirty="0"/>
          </a:p>
        </p:txBody>
      </p:sp>
      <p:sp>
        <p:nvSpPr>
          <p:cNvPr id="14" name="Text 12"/>
          <p:cNvSpPr/>
          <p:nvPr/>
        </p:nvSpPr>
        <p:spPr>
          <a:xfrm>
            <a:off x="1234440" y="1911096"/>
            <a:ext cx="7315200" cy="402336"/>
          </a:xfrm>
          <a:prstGeom prst="rect">
            <a:avLst/>
          </a:prstGeom>
          <a:noFill/>
          <a:ln/>
        </p:spPr>
        <p:txBody>
          <a:bodyPr wrap="square" lIns="0" tIns="0" rIns="0" bIns="0" rtlCol="0" anchor="ctr"/>
          <a:lstStyle/>
          <a:p>
            <a:pPr marL="0" indent="0">
              <a:buNone/>
            </a:pPr>
            <a:r>
              <a:rPr lang="en-US" sz="1000" dirty="0">
                <a:solidFill>
                  <a:srgbClr val="334155"/>
                </a:solidFill>
                <a:latin typeface="Calibri" pitchFamily="34" charset="0"/>
                <a:ea typeface="Calibri" pitchFamily="34" charset="-122"/>
                <a:cs typeface="Calibri" pitchFamily="34" charset="-120"/>
              </a:rPr>
              <a:t>India demand forecast post-2037 — need CEA 20th EPS or NITI Aayog long-term scenarios</a:t>
            </a:r>
            <a:endParaRPr lang="en-US" sz="1000" dirty="0"/>
          </a:p>
        </p:txBody>
      </p:sp>
      <p:sp>
        <p:nvSpPr>
          <p:cNvPr id="15" name="Shape 13"/>
          <p:cNvSpPr/>
          <p:nvPr/>
        </p:nvSpPr>
        <p:spPr>
          <a:xfrm>
            <a:off x="457200" y="2386584"/>
            <a:ext cx="8229600" cy="402336"/>
          </a:xfrm>
          <a:prstGeom prst="rect">
            <a:avLst/>
          </a:prstGeom>
          <a:solidFill>
            <a:srgbClr val="FFFFFF"/>
          </a:solidFill>
          <a:ln/>
          <a:effectLst>
            <a:outerShdw blurRad="38100" dist="12700" dir="8100000" algn="bl" rotWithShape="0">
              <a:srgbClr val="000000">
                <a:alpha val="4000"/>
              </a:srgbClr>
            </a:outerShdw>
          </a:effectLst>
        </p:spPr>
        <p:txBody>
          <a:bodyPr/>
          <a:lstStyle/>
          <a:p>
            <a:endParaRPr lang="LID4096"/>
          </a:p>
        </p:txBody>
      </p:sp>
      <p:sp>
        <p:nvSpPr>
          <p:cNvPr id="16" name="Shape 14"/>
          <p:cNvSpPr/>
          <p:nvPr/>
        </p:nvSpPr>
        <p:spPr>
          <a:xfrm>
            <a:off x="457200" y="2386584"/>
            <a:ext cx="54864" cy="402336"/>
          </a:xfrm>
          <a:prstGeom prst="rect">
            <a:avLst/>
          </a:prstGeom>
          <a:solidFill>
            <a:srgbClr val="F59E0B"/>
          </a:solidFill>
          <a:ln/>
        </p:spPr>
        <p:txBody>
          <a:bodyPr/>
          <a:lstStyle/>
          <a:p>
            <a:endParaRPr lang="LID4096"/>
          </a:p>
        </p:txBody>
      </p:sp>
      <p:sp>
        <p:nvSpPr>
          <p:cNvPr id="17" name="Text 15"/>
          <p:cNvSpPr/>
          <p:nvPr/>
        </p:nvSpPr>
        <p:spPr>
          <a:xfrm>
            <a:off x="640080" y="2386584"/>
            <a:ext cx="548640" cy="402336"/>
          </a:xfrm>
          <a:prstGeom prst="rect">
            <a:avLst/>
          </a:prstGeom>
          <a:noFill/>
          <a:ln/>
        </p:spPr>
        <p:txBody>
          <a:bodyPr wrap="square" lIns="0" tIns="0" rIns="0" bIns="0" rtlCol="0" anchor="ctr"/>
          <a:lstStyle/>
          <a:p>
            <a:pPr marL="0" indent="0">
              <a:buNone/>
            </a:pPr>
            <a:r>
              <a:rPr lang="en-US" sz="850" b="1" dirty="0">
                <a:solidFill>
                  <a:srgbClr val="F59E0B"/>
                </a:solidFill>
                <a:latin typeface="Calibri" pitchFamily="34" charset="0"/>
                <a:ea typeface="Calibri" pitchFamily="34" charset="-122"/>
                <a:cs typeface="Calibri" pitchFamily="34" charset="-120"/>
              </a:rPr>
              <a:t>MED</a:t>
            </a:r>
            <a:endParaRPr lang="en-US" sz="850" dirty="0"/>
          </a:p>
        </p:txBody>
      </p:sp>
      <p:sp>
        <p:nvSpPr>
          <p:cNvPr id="18" name="Text 16"/>
          <p:cNvSpPr/>
          <p:nvPr/>
        </p:nvSpPr>
        <p:spPr>
          <a:xfrm>
            <a:off x="1234440" y="2386584"/>
            <a:ext cx="7315200" cy="402336"/>
          </a:xfrm>
          <a:prstGeom prst="rect">
            <a:avLst/>
          </a:prstGeom>
          <a:noFill/>
          <a:ln/>
        </p:spPr>
        <p:txBody>
          <a:bodyPr wrap="square" lIns="0" tIns="0" rIns="0" bIns="0" rtlCol="0" anchor="ctr"/>
          <a:lstStyle/>
          <a:p>
            <a:pPr marL="0" indent="0">
              <a:buNone/>
            </a:pPr>
            <a:r>
              <a:rPr lang="en-US" sz="1000" dirty="0">
                <a:solidFill>
                  <a:srgbClr val="334155"/>
                </a:solidFill>
                <a:latin typeface="Calibri" pitchFamily="34" charset="0"/>
                <a:ea typeface="Calibri" pitchFamily="34" charset="-122"/>
                <a:cs typeface="Calibri" pitchFamily="34" charset="-120"/>
              </a:rPr>
              <a:t>15 country multiplier cells flagged as assumptions — source from national utilities / ADB data</a:t>
            </a:r>
            <a:endParaRPr lang="en-US" sz="1000" dirty="0"/>
          </a:p>
        </p:txBody>
      </p:sp>
      <p:sp>
        <p:nvSpPr>
          <p:cNvPr id="19" name="Shape 17"/>
          <p:cNvSpPr/>
          <p:nvPr/>
        </p:nvSpPr>
        <p:spPr>
          <a:xfrm>
            <a:off x="457200" y="2862072"/>
            <a:ext cx="8229600" cy="402336"/>
          </a:xfrm>
          <a:prstGeom prst="rect">
            <a:avLst/>
          </a:prstGeom>
          <a:solidFill>
            <a:srgbClr val="FFFFFF"/>
          </a:solidFill>
          <a:ln/>
          <a:effectLst>
            <a:outerShdw blurRad="38100" dist="12700" dir="8100000" algn="bl" rotWithShape="0">
              <a:srgbClr val="000000">
                <a:alpha val="4000"/>
              </a:srgbClr>
            </a:outerShdw>
          </a:effectLst>
        </p:spPr>
        <p:txBody>
          <a:bodyPr/>
          <a:lstStyle/>
          <a:p>
            <a:endParaRPr lang="LID4096"/>
          </a:p>
        </p:txBody>
      </p:sp>
      <p:sp>
        <p:nvSpPr>
          <p:cNvPr id="20" name="Shape 18"/>
          <p:cNvSpPr/>
          <p:nvPr/>
        </p:nvSpPr>
        <p:spPr>
          <a:xfrm>
            <a:off x="457200" y="2862072"/>
            <a:ext cx="54864" cy="402336"/>
          </a:xfrm>
          <a:prstGeom prst="rect">
            <a:avLst/>
          </a:prstGeom>
          <a:solidFill>
            <a:srgbClr val="F59E0B"/>
          </a:solidFill>
          <a:ln/>
        </p:spPr>
        <p:txBody>
          <a:bodyPr/>
          <a:lstStyle/>
          <a:p>
            <a:endParaRPr lang="LID4096"/>
          </a:p>
        </p:txBody>
      </p:sp>
      <p:sp>
        <p:nvSpPr>
          <p:cNvPr id="21" name="Text 19"/>
          <p:cNvSpPr/>
          <p:nvPr/>
        </p:nvSpPr>
        <p:spPr>
          <a:xfrm>
            <a:off x="640080" y="2862072"/>
            <a:ext cx="548640" cy="402336"/>
          </a:xfrm>
          <a:prstGeom prst="rect">
            <a:avLst/>
          </a:prstGeom>
          <a:noFill/>
          <a:ln/>
        </p:spPr>
        <p:txBody>
          <a:bodyPr wrap="square" lIns="0" tIns="0" rIns="0" bIns="0" rtlCol="0" anchor="ctr"/>
          <a:lstStyle/>
          <a:p>
            <a:pPr marL="0" indent="0">
              <a:buNone/>
            </a:pPr>
            <a:r>
              <a:rPr lang="en-US" sz="850" b="1" dirty="0">
                <a:solidFill>
                  <a:srgbClr val="F59E0B"/>
                </a:solidFill>
                <a:latin typeface="Calibri" pitchFamily="34" charset="0"/>
                <a:ea typeface="Calibri" pitchFamily="34" charset="-122"/>
                <a:cs typeface="Calibri" pitchFamily="34" charset="-120"/>
              </a:rPr>
              <a:t>MED</a:t>
            </a:r>
            <a:endParaRPr lang="en-US" sz="850" dirty="0"/>
          </a:p>
        </p:txBody>
      </p:sp>
      <p:sp>
        <p:nvSpPr>
          <p:cNvPr id="22" name="Text 20"/>
          <p:cNvSpPr/>
          <p:nvPr/>
        </p:nvSpPr>
        <p:spPr>
          <a:xfrm>
            <a:off x="1234440" y="2862072"/>
            <a:ext cx="7315200" cy="402336"/>
          </a:xfrm>
          <a:prstGeom prst="rect">
            <a:avLst/>
          </a:prstGeom>
          <a:noFill/>
          <a:ln/>
        </p:spPr>
        <p:txBody>
          <a:bodyPr wrap="square" lIns="0" tIns="0" rIns="0" bIns="0" rtlCol="0" anchor="ctr"/>
          <a:lstStyle/>
          <a:p>
            <a:pPr marL="0" indent="0">
              <a:buNone/>
            </a:pPr>
            <a:r>
              <a:rPr lang="en-US" sz="1000" dirty="0">
                <a:solidFill>
                  <a:srgbClr val="334155"/>
                </a:solidFill>
                <a:latin typeface="Calibri" pitchFamily="34" charset="0"/>
                <a:ea typeface="Calibri" pitchFamily="34" charset="-122"/>
                <a:cs typeface="Calibri" pitchFamily="34" charset="-120"/>
              </a:rPr>
              <a:t>Maldives outer island electrification plan — MEE/STELCO island-by-island capacity data</a:t>
            </a:r>
            <a:endParaRPr lang="en-US" sz="1000" dirty="0"/>
          </a:p>
        </p:txBody>
      </p:sp>
      <p:sp>
        <p:nvSpPr>
          <p:cNvPr id="23" name="Shape 21"/>
          <p:cNvSpPr/>
          <p:nvPr/>
        </p:nvSpPr>
        <p:spPr>
          <a:xfrm>
            <a:off x="457200" y="3337560"/>
            <a:ext cx="8229600" cy="402336"/>
          </a:xfrm>
          <a:prstGeom prst="rect">
            <a:avLst/>
          </a:prstGeom>
          <a:solidFill>
            <a:srgbClr val="FFFFFF"/>
          </a:solidFill>
          <a:ln/>
          <a:effectLst>
            <a:outerShdw blurRad="38100" dist="12700" dir="8100000" algn="bl" rotWithShape="0">
              <a:srgbClr val="000000">
                <a:alpha val="4000"/>
              </a:srgbClr>
            </a:outerShdw>
          </a:effectLst>
        </p:spPr>
        <p:txBody>
          <a:bodyPr/>
          <a:lstStyle/>
          <a:p>
            <a:endParaRPr lang="LID4096"/>
          </a:p>
        </p:txBody>
      </p:sp>
      <p:sp>
        <p:nvSpPr>
          <p:cNvPr id="24" name="Shape 22"/>
          <p:cNvSpPr/>
          <p:nvPr/>
        </p:nvSpPr>
        <p:spPr>
          <a:xfrm>
            <a:off x="457200" y="3337560"/>
            <a:ext cx="54864" cy="402336"/>
          </a:xfrm>
          <a:prstGeom prst="rect">
            <a:avLst/>
          </a:prstGeom>
          <a:solidFill>
            <a:srgbClr val="F59E0B"/>
          </a:solidFill>
          <a:ln/>
        </p:spPr>
        <p:txBody>
          <a:bodyPr/>
          <a:lstStyle/>
          <a:p>
            <a:endParaRPr lang="LID4096"/>
          </a:p>
        </p:txBody>
      </p:sp>
      <p:sp>
        <p:nvSpPr>
          <p:cNvPr id="25" name="Text 23"/>
          <p:cNvSpPr/>
          <p:nvPr/>
        </p:nvSpPr>
        <p:spPr>
          <a:xfrm>
            <a:off x="640080" y="3337560"/>
            <a:ext cx="548640" cy="402336"/>
          </a:xfrm>
          <a:prstGeom prst="rect">
            <a:avLst/>
          </a:prstGeom>
          <a:noFill/>
          <a:ln/>
        </p:spPr>
        <p:txBody>
          <a:bodyPr wrap="square" lIns="0" tIns="0" rIns="0" bIns="0" rtlCol="0" anchor="ctr"/>
          <a:lstStyle/>
          <a:p>
            <a:pPr marL="0" indent="0">
              <a:buNone/>
            </a:pPr>
            <a:r>
              <a:rPr lang="en-US" sz="850" b="1" dirty="0">
                <a:solidFill>
                  <a:srgbClr val="F59E0B"/>
                </a:solidFill>
                <a:latin typeface="Calibri" pitchFamily="34" charset="0"/>
                <a:ea typeface="Calibri" pitchFamily="34" charset="-122"/>
                <a:cs typeface="Calibri" pitchFamily="34" charset="-120"/>
              </a:rPr>
              <a:t>MED</a:t>
            </a:r>
            <a:endParaRPr lang="en-US" sz="850" dirty="0"/>
          </a:p>
        </p:txBody>
      </p:sp>
      <p:sp>
        <p:nvSpPr>
          <p:cNvPr id="26" name="Text 24"/>
          <p:cNvSpPr/>
          <p:nvPr/>
        </p:nvSpPr>
        <p:spPr>
          <a:xfrm>
            <a:off x="1234440" y="3337560"/>
            <a:ext cx="7315200" cy="402336"/>
          </a:xfrm>
          <a:prstGeom prst="rect">
            <a:avLst/>
          </a:prstGeom>
          <a:noFill/>
          <a:ln/>
        </p:spPr>
        <p:txBody>
          <a:bodyPr wrap="square" lIns="0" tIns="0" rIns="0" bIns="0" rtlCol="0" anchor="ctr"/>
          <a:lstStyle/>
          <a:p>
            <a:pPr marL="0" indent="0">
              <a:buNone/>
            </a:pPr>
            <a:r>
              <a:rPr lang="en-US" sz="1000" dirty="0">
                <a:solidFill>
                  <a:srgbClr val="334155"/>
                </a:solidFill>
                <a:latin typeface="Calibri" pitchFamily="34" charset="0"/>
                <a:ea typeface="Calibri" pitchFamily="34" charset="-122"/>
                <a:cs typeface="Calibri" pitchFamily="34" charset="-120"/>
              </a:rPr>
              <a:t>Emission factors: country-specific values — from national communications &amp; UNFCCC reports</a:t>
            </a:r>
            <a:endParaRPr lang="en-US" sz="1000" dirty="0"/>
          </a:p>
        </p:txBody>
      </p:sp>
      <p:sp>
        <p:nvSpPr>
          <p:cNvPr id="27" name="Shape 25"/>
          <p:cNvSpPr/>
          <p:nvPr/>
        </p:nvSpPr>
        <p:spPr>
          <a:xfrm>
            <a:off x="457200" y="3813048"/>
            <a:ext cx="8229600" cy="402336"/>
          </a:xfrm>
          <a:prstGeom prst="rect">
            <a:avLst/>
          </a:prstGeom>
          <a:solidFill>
            <a:srgbClr val="FFFFFF"/>
          </a:solidFill>
          <a:ln/>
          <a:effectLst>
            <a:outerShdw blurRad="38100" dist="12700" dir="8100000" algn="bl" rotWithShape="0">
              <a:srgbClr val="000000">
                <a:alpha val="4000"/>
              </a:srgbClr>
            </a:outerShdw>
          </a:effectLst>
        </p:spPr>
        <p:txBody>
          <a:bodyPr/>
          <a:lstStyle/>
          <a:p>
            <a:endParaRPr lang="LID4096"/>
          </a:p>
        </p:txBody>
      </p:sp>
      <p:sp>
        <p:nvSpPr>
          <p:cNvPr id="28" name="Shape 26"/>
          <p:cNvSpPr/>
          <p:nvPr/>
        </p:nvSpPr>
        <p:spPr>
          <a:xfrm>
            <a:off x="457200" y="3813048"/>
            <a:ext cx="54864" cy="402336"/>
          </a:xfrm>
          <a:prstGeom prst="rect">
            <a:avLst/>
          </a:prstGeom>
          <a:solidFill>
            <a:srgbClr val="94A3B8"/>
          </a:solidFill>
          <a:ln/>
        </p:spPr>
        <p:txBody>
          <a:bodyPr/>
          <a:lstStyle/>
          <a:p>
            <a:endParaRPr lang="LID4096"/>
          </a:p>
        </p:txBody>
      </p:sp>
      <p:sp>
        <p:nvSpPr>
          <p:cNvPr id="29" name="Text 27"/>
          <p:cNvSpPr/>
          <p:nvPr/>
        </p:nvSpPr>
        <p:spPr>
          <a:xfrm>
            <a:off x="640080" y="3813048"/>
            <a:ext cx="548640" cy="402336"/>
          </a:xfrm>
          <a:prstGeom prst="rect">
            <a:avLst/>
          </a:prstGeom>
          <a:noFill/>
          <a:ln/>
        </p:spPr>
        <p:txBody>
          <a:bodyPr wrap="square" lIns="0" tIns="0" rIns="0" bIns="0" rtlCol="0" anchor="ctr"/>
          <a:lstStyle/>
          <a:p>
            <a:pPr marL="0" indent="0">
              <a:buNone/>
            </a:pPr>
            <a:r>
              <a:rPr lang="en-US" sz="850" b="1" dirty="0">
                <a:solidFill>
                  <a:srgbClr val="94A3B8"/>
                </a:solidFill>
                <a:latin typeface="Calibri" pitchFamily="34" charset="0"/>
                <a:ea typeface="Calibri" pitchFamily="34" charset="-122"/>
                <a:cs typeface="Calibri" pitchFamily="34" charset="-120"/>
              </a:rPr>
              <a:t>LOW</a:t>
            </a:r>
            <a:endParaRPr lang="en-US" sz="850" dirty="0"/>
          </a:p>
        </p:txBody>
      </p:sp>
      <p:sp>
        <p:nvSpPr>
          <p:cNvPr id="30" name="Text 28"/>
          <p:cNvSpPr/>
          <p:nvPr/>
        </p:nvSpPr>
        <p:spPr>
          <a:xfrm>
            <a:off x="1234440" y="3813048"/>
            <a:ext cx="7315200" cy="402336"/>
          </a:xfrm>
          <a:prstGeom prst="rect">
            <a:avLst/>
          </a:prstGeom>
          <a:noFill/>
          <a:ln/>
        </p:spPr>
        <p:txBody>
          <a:bodyPr wrap="square" lIns="0" tIns="0" rIns="0" bIns="0" rtlCol="0" anchor="ctr"/>
          <a:lstStyle/>
          <a:p>
            <a:pPr marL="0" indent="0">
              <a:buNone/>
            </a:pPr>
            <a:r>
              <a:rPr lang="en-US" sz="1000" dirty="0">
                <a:solidFill>
                  <a:srgbClr val="334155"/>
                </a:solidFill>
                <a:latin typeface="Calibri" pitchFamily="34" charset="0"/>
                <a:ea typeface="Calibri" pitchFamily="34" charset="-122"/>
                <a:cs typeface="Calibri" pitchFamily="34" charset="-120"/>
              </a:rPr>
              <a:t>Post-2044 Sri Lanka demand extrapolation — growth rate extension from LTGEP</a:t>
            </a:r>
            <a:endParaRPr lang="en-US" sz="1000" dirty="0"/>
          </a:p>
        </p:txBody>
      </p:sp>
      <p:sp>
        <p:nvSpPr>
          <p:cNvPr id="35" name="Shape 33"/>
          <p:cNvSpPr/>
          <p:nvPr/>
        </p:nvSpPr>
        <p:spPr>
          <a:xfrm>
            <a:off x="0" y="4709160"/>
            <a:ext cx="9144000" cy="434340"/>
          </a:xfrm>
          <a:prstGeom prst="rect">
            <a:avLst/>
          </a:prstGeom>
          <a:solidFill>
            <a:srgbClr val="00414D"/>
          </a:solidFill>
          <a:ln/>
        </p:spPr>
        <p:txBody>
          <a:bodyPr/>
          <a:lstStyle/>
          <a:p>
            <a:endParaRPr lang="LID4096"/>
          </a:p>
        </p:txBody>
      </p:sp>
      <p:sp>
        <p:nvSpPr>
          <p:cNvPr id="36" name="Text 34"/>
          <p:cNvSpPr/>
          <p:nvPr/>
        </p:nvSpPr>
        <p:spPr>
          <a:xfrm>
            <a:off x="457200" y="4727448"/>
            <a:ext cx="8229600" cy="393192"/>
          </a:xfrm>
          <a:prstGeom prst="rect">
            <a:avLst/>
          </a:prstGeom>
          <a:noFill/>
          <a:ln/>
        </p:spPr>
        <p:txBody>
          <a:bodyPr wrap="square" rtlCol="0" anchor="ctr"/>
          <a:lstStyle/>
          <a:p>
            <a:pPr marL="0" indent="0">
              <a:buNone/>
            </a:pPr>
            <a:r>
              <a:rPr lang="en-US" sz="800" dirty="0">
                <a:solidFill>
                  <a:srgbClr val="64748B"/>
                </a:solidFill>
                <a:latin typeface="Calibri" pitchFamily="34" charset="0"/>
                <a:ea typeface="Calibri" pitchFamily="34" charset="-122"/>
                <a:cs typeface="Calibri" pitchFamily="34" charset="-120"/>
              </a:rPr>
              <a:t>OSTRAM — Data Package v1.0  |  UN ESCAP Energy Division  |  March 2026</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0A595F"/>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23978E"/>
          </a:solidFill>
          <a:ln/>
        </p:spPr>
        <p:txBody>
          <a:bodyPr/>
          <a:lstStyle/>
          <a:p>
            <a:endParaRPr lang="LID4096"/>
          </a:p>
        </p:txBody>
      </p:sp>
      <p:pic>
        <p:nvPicPr>
          <p:cNvPr id="3" name="Image 0" descr="preencoded.png"/>
          <p:cNvPicPr>
            <a:picLocks noChangeAspect="1"/>
          </p:cNvPicPr>
          <p:nvPr/>
        </p:nvPicPr>
        <p:blipFill>
          <a:blip r:embed="rId3"/>
          <a:stretch>
            <a:fillRect/>
          </a:stretch>
        </p:blipFill>
        <p:spPr>
          <a:xfrm>
            <a:off x="640080" y="1280160"/>
            <a:ext cx="457200" cy="457200"/>
          </a:xfrm>
          <a:prstGeom prst="rect">
            <a:avLst/>
          </a:prstGeom>
        </p:spPr>
      </p:pic>
      <p:sp>
        <p:nvSpPr>
          <p:cNvPr id="4" name="Text 1"/>
          <p:cNvSpPr/>
          <p:nvPr/>
        </p:nvSpPr>
        <p:spPr>
          <a:xfrm>
            <a:off x="640080" y="1828800"/>
            <a:ext cx="7315200" cy="594360"/>
          </a:xfrm>
          <a:prstGeom prst="rect">
            <a:avLst/>
          </a:prstGeom>
          <a:noFill/>
          <a:ln/>
        </p:spPr>
        <p:txBody>
          <a:bodyPr wrap="square" lIns="0" tIns="0" rIns="0" bIns="0" rtlCol="0" anchor="ctr"/>
          <a:lstStyle/>
          <a:p>
            <a:pPr marL="0" indent="0">
              <a:buNone/>
            </a:pPr>
            <a:r>
              <a:rPr lang="en-US" sz="3600" b="1" dirty="0">
                <a:solidFill>
                  <a:srgbClr val="FFFFFF"/>
                </a:solidFill>
                <a:latin typeface="Georgia" pitchFamily="34" charset="0"/>
                <a:ea typeface="Georgia" pitchFamily="34" charset="-122"/>
                <a:cs typeface="Georgia" pitchFamily="34" charset="-120"/>
              </a:rPr>
              <a:t>Detailed View</a:t>
            </a:r>
            <a:endParaRPr lang="en-US" sz="3600" dirty="0"/>
          </a:p>
        </p:txBody>
      </p:sp>
      <p:sp>
        <p:nvSpPr>
          <p:cNvPr id="5" name="Text 2"/>
          <p:cNvSpPr/>
          <p:nvPr/>
        </p:nvSpPr>
        <p:spPr>
          <a:xfrm>
            <a:off x="640080" y="2468880"/>
            <a:ext cx="7315200" cy="365760"/>
          </a:xfrm>
          <a:prstGeom prst="rect">
            <a:avLst/>
          </a:prstGeom>
          <a:noFill/>
          <a:ln/>
        </p:spPr>
        <p:txBody>
          <a:bodyPr wrap="square" lIns="0" tIns="0" rIns="0" bIns="0" rtlCol="0" anchor="ctr"/>
          <a:lstStyle/>
          <a:p>
            <a:pPr marL="0" indent="0">
              <a:buNone/>
            </a:pPr>
            <a:r>
              <a:rPr lang="en-US" sz="1500" dirty="0">
                <a:solidFill>
                  <a:schemeClr val="bg1"/>
                </a:solidFill>
                <a:latin typeface="Calibri" pitchFamily="34" charset="0"/>
                <a:ea typeface="Calibri" pitchFamily="34" charset="-122"/>
                <a:cs typeface="Calibri" pitchFamily="34" charset="-120"/>
              </a:rPr>
              <a:t>File contents, data architecture, VRE profiles, and inventory detail</a:t>
            </a:r>
            <a:endParaRPr lang="en-US" sz="1500" dirty="0">
              <a:solidFill>
                <a:schemeClr val="bg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0F5F5"/>
        </a:solidFill>
        <a:effectLst/>
      </p:bgPr>
    </p:bg>
    <p:spTree>
      <p:nvGrpSpPr>
        <p:cNvPr id="1" name=""/>
        <p:cNvGrpSpPr/>
        <p:nvPr/>
      </p:nvGrpSpPr>
      <p:grpSpPr>
        <a:xfrm>
          <a:off x="0" y="0"/>
          <a:ext cx="0" cy="0"/>
          <a:chOff x="0" y="0"/>
          <a:chExt cx="0" cy="0"/>
        </a:xfrm>
      </p:grpSpPr>
      <p:sp>
        <p:nvSpPr>
          <p:cNvPr id="2" name="Text 0"/>
          <p:cNvSpPr/>
          <p:nvPr/>
        </p:nvSpPr>
        <p:spPr>
          <a:xfrm>
            <a:off x="457200" y="274320"/>
            <a:ext cx="6400800" cy="457200"/>
          </a:xfrm>
          <a:prstGeom prst="rect">
            <a:avLst/>
          </a:prstGeom>
          <a:noFill/>
          <a:ln/>
        </p:spPr>
        <p:txBody>
          <a:bodyPr wrap="square" lIns="0" tIns="0" rIns="0" bIns="0" rtlCol="0" anchor="ctr"/>
          <a:lstStyle/>
          <a:p>
            <a:pPr marL="0" indent="0">
              <a:buNone/>
            </a:pPr>
            <a:r>
              <a:rPr lang="en-US" sz="2400" b="1" dirty="0">
                <a:solidFill>
                  <a:srgbClr val="00414D"/>
                </a:solidFill>
                <a:latin typeface="Georgia" pitchFamily="34" charset="0"/>
                <a:ea typeface="Georgia" pitchFamily="34" charset="-122"/>
                <a:cs typeface="Georgia" pitchFamily="34" charset="-120"/>
              </a:rPr>
              <a:t>OSeMOSYS Template Workbook</a:t>
            </a:r>
            <a:endParaRPr lang="en-US" sz="2400" dirty="0"/>
          </a:p>
        </p:txBody>
      </p:sp>
      <p:sp>
        <p:nvSpPr>
          <p:cNvPr id="3" name="Text 1"/>
          <p:cNvSpPr/>
          <p:nvPr/>
        </p:nvSpPr>
        <p:spPr>
          <a:xfrm>
            <a:off x="457200" y="731520"/>
            <a:ext cx="8229600" cy="228600"/>
          </a:xfrm>
          <a:prstGeom prst="rect">
            <a:avLst/>
          </a:prstGeom>
          <a:noFill/>
          <a:ln/>
        </p:spPr>
        <p:txBody>
          <a:bodyPr wrap="square" lIns="0" tIns="0" rIns="0" bIns="0" rtlCol="0" anchor="ctr"/>
          <a:lstStyle/>
          <a:p>
            <a:pPr marL="0" indent="0">
              <a:buNone/>
            </a:pPr>
            <a:r>
              <a:rPr lang="en-US" sz="1100" i="1" dirty="0">
                <a:solidFill>
                  <a:srgbClr val="23978E"/>
                </a:solidFill>
                <a:latin typeface="Calibri" pitchFamily="34" charset="0"/>
                <a:ea typeface="Calibri" pitchFamily="34" charset="-122"/>
                <a:cs typeface="Calibri" pitchFamily="34" charset="-120"/>
              </a:rPr>
              <a:t>SOASIA_OSeMOSYS_Template_v6_filled.xlsx — 26 sheets</a:t>
            </a:r>
            <a:endParaRPr lang="en-US" sz="1100" dirty="0"/>
          </a:p>
        </p:txBody>
      </p:sp>
      <p:sp>
        <p:nvSpPr>
          <p:cNvPr id="4" name="Text 2"/>
          <p:cNvSpPr/>
          <p:nvPr/>
        </p:nvSpPr>
        <p:spPr>
          <a:xfrm>
            <a:off x="457200" y="1005840"/>
            <a:ext cx="8229600" cy="411480"/>
          </a:xfrm>
          <a:prstGeom prst="rect">
            <a:avLst/>
          </a:prstGeom>
          <a:noFill/>
          <a:ln/>
        </p:spPr>
        <p:txBody>
          <a:bodyPr wrap="square" lIns="0" tIns="0" rIns="0" bIns="0" rtlCol="0" anchor="ctr"/>
          <a:lstStyle/>
          <a:p>
            <a:pPr marL="0" indent="0">
              <a:buNone/>
            </a:pPr>
            <a:r>
              <a:rPr lang="en-US" sz="1050" dirty="0">
                <a:solidFill>
                  <a:srgbClr val="334155"/>
                </a:solidFill>
                <a:latin typeface="Calibri" pitchFamily="34" charset="0"/>
                <a:ea typeface="Calibri" pitchFamily="34" charset="-122"/>
                <a:cs typeface="Calibri" pitchFamily="34" charset="-120"/>
              </a:rPr>
              <a:t>This workbook is structured for direct ingestion by the otoole pipeline. Each sheet maps to specific OSeMOSYS parameters with year-by-year projections across the 2023–2050 horizon.</a:t>
            </a:r>
            <a:endParaRPr lang="en-US" sz="1050" dirty="0"/>
          </a:p>
        </p:txBody>
      </p:sp>
      <p:sp>
        <p:nvSpPr>
          <p:cNvPr id="5" name="Shape 3"/>
          <p:cNvSpPr/>
          <p:nvPr/>
        </p:nvSpPr>
        <p:spPr>
          <a:xfrm>
            <a:off x="457200" y="1508760"/>
            <a:ext cx="2606040" cy="1371600"/>
          </a:xfrm>
          <a:prstGeom prst="rect">
            <a:avLst/>
          </a:prstGeom>
          <a:solidFill>
            <a:srgbClr val="FFFFFF"/>
          </a:solidFill>
          <a:ln/>
          <a:effectLst>
            <a:outerShdw blurRad="50800" dist="12700" dir="8100000" algn="bl" rotWithShape="0">
              <a:srgbClr val="000000">
                <a:alpha val="6000"/>
              </a:srgbClr>
            </a:outerShdw>
          </a:effectLst>
        </p:spPr>
        <p:txBody>
          <a:bodyPr/>
          <a:lstStyle/>
          <a:p>
            <a:endParaRPr lang="LID4096"/>
          </a:p>
        </p:txBody>
      </p:sp>
      <p:sp>
        <p:nvSpPr>
          <p:cNvPr id="6" name="Shape 4"/>
          <p:cNvSpPr/>
          <p:nvPr/>
        </p:nvSpPr>
        <p:spPr>
          <a:xfrm>
            <a:off x="457200" y="1508760"/>
            <a:ext cx="2606040" cy="36576"/>
          </a:xfrm>
          <a:prstGeom prst="rect">
            <a:avLst/>
          </a:prstGeom>
          <a:solidFill>
            <a:srgbClr val="0A595F"/>
          </a:solidFill>
          <a:ln/>
        </p:spPr>
        <p:txBody>
          <a:bodyPr/>
          <a:lstStyle/>
          <a:p>
            <a:endParaRPr lang="LID4096"/>
          </a:p>
        </p:txBody>
      </p:sp>
      <p:sp>
        <p:nvSpPr>
          <p:cNvPr id="7" name="Text 5"/>
          <p:cNvSpPr/>
          <p:nvPr/>
        </p:nvSpPr>
        <p:spPr>
          <a:xfrm>
            <a:off x="594360" y="1600200"/>
            <a:ext cx="2331720" cy="201168"/>
          </a:xfrm>
          <a:prstGeom prst="rect">
            <a:avLst/>
          </a:prstGeom>
          <a:noFill/>
          <a:ln/>
        </p:spPr>
        <p:txBody>
          <a:bodyPr wrap="square" lIns="0" tIns="0" rIns="0" bIns="0" rtlCol="0" anchor="ctr"/>
          <a:lstStyle/>
          <a:p>
            <a:pPr marL="0" indent="0">
              <a:buNone/>
            </a:pPr>
            <a:r>
              <a:rPr lang="en-US" sz="1050" b="1" dirty="0">
                <a:solidFill>
                  <a:srgbClr val="0A595F"/>
                </a:solidFill>
                <a:latin typeface="Calibri" pitchFamily="34" charset="0"/>
                <a:ea typeface="Calibri" pitchFamily="34" charset="-122"/>
                <a:cs typeface="Calibri" pitchFamily="34" charset="-120"/>
              </a:rPr>
              <a:t>Model Structure</a:t>
            </a:r>
            <a:endParaRPr lang="en-US" sz="1050" dirty="0"/>
          </a:p>
        </p:txBody>
      </p:sp>
      <p:sp>
        <p:nvSpPr>
          <p:cNvPr id="8" name="Text 6"/>
          <p:cNvSpPr/>
          <p:nvPr/>
        </p:nvSpPr>
        <p:spPr>
          <a:xfrm>
            <a:off x="594360" y="1810512"/>
            <a:ext cx="2331720" cy="274320"/>
          </a:xfrm>
          <a:prstGeom prst="rect">
            <a:avLst/>
          </a:prstGeom>
          <a:noFill/>
          <a:ln/>
        </p:spPr>
        <p:txBody>
          <a:bodyPr wrap="square" lIns="0" tIns="0" rIns="0" bIns="0" rtlCol="0" anchor="ctr"/>
          <a:lstStyle/>
          <a:p>
            <a:pPr marL="0" indent="0">
              <a:buNone/>
            </a:pPr>
            <a:r>
              <a:rPr lang="en-US" sz="750" i="1" dirty="0">
                <a:solidFill>
                  <a:srgbClr val="64748B"/>
                </a:solidFill>
                <a:latin typeface="Calibri" pitchFamily="34" charset="0"/>
                <a:ea typeface="Calibri" pitchFamily="34" charset="-122"/>
                <a:cs typeface="Calibri" pitchFamily="34" charset="-120"/>
              </a:rPr>
              <a:t>README, Fixed_Horizon_Parameters, Primary_Techs, Secondary_Techs, Demand_Techs</a:t>
            </a:r>
            <a:endParaRPr lang="en-US" sz="750" dirty="0"/>
          </a:p>
        </p:txBody>
      </p:sp>
      <p:sp>
        <p:nvSpPr>
          <p:cNvPr id="9" name="Text 7"/>
          <p:cNvSpPr/>
          <p:nvPr/>
        </p:nvSpPr>
        <p:spPr>
          <a:xfrm>
            <a:off x="594360" y="2103120"/>
            <a:ext cx="2331720" cy="685800"/>
          </a:xfrm>
          <a:prstGeom prst="rect">
            <a:avLst/>
          </a:prstGeom>
          <a:noFill/>
          <a:ln/>
        </p:spPr>
        <p:txBody>
          <a:bodyPr wrap="square" lIns="0" tIns="0" rIns="0" bIns="0" rtlCol="0" anchor="ctr"/>
          <a:lstStyle/>
          <a:p>
            <a:pPr marL="0" indent="0">
              <a:buNone/>
            </a:pPr>
            <a:r>
              <a:rPr lang="en-US" sz="900" dirty="0">
                <a:solidFill>
                  <a:srgbClr val="334155"/>
                </a:solidFill>
                <a:latin typeface="Calibri" pitchFamily="34" charset="0"/>
                <a:ea typeface="Calibri" pitchFamily="34" charset="-122"/>
                <a:cs typeface="Calibri" pitchFamily="34" charset="-120"/>
              </a:rPr>
              <a:t>Technology definitions, operational lifetimes, capacityToActivity units. ~2,500 parameter rows across primary/secondary technologies.</a:t>
            </a:r>
            <a:endParaRPr lang="en-US" sz="900" dirty="0"/>
          </a:p>
        </p:txBody>
      </p:sp>
      <p:sp>
        <p:nvSpPr>
          <p:cNvPr id="10" name="Shape 8"/>
          <p:cNvSpPr/>
          <p:nvPr/>
        </p:nvSpPr>
        <p:spPr>
          <a:xfrm>
            <a:off x="3291840" y="1508760"/>
            <a:ext cx="2606040" cy="1371600"/>
          </a:xfrm>
          <a:prstGeom prst="rect">
            <a:avLst/>
          </a:prstGeom>
          <a:solidFill>
            <a:srgbClr val="FFFFFF"/>
          </a:solidFill>
          <a:ln/>
          <a:effectLst>
            <a:outerShdw blurRad="50800" dist="12700" dir="8100000" algn="bl" rotWithShape="0">
              <a:srgbClr val="000000">
                <a:alpha val="6000"/>
              </a:srgbClr>
            </a:outerShdw>
          </a:effectLst>
        </p:spPr>
        <p:txBody>
          <a:bodyPr/>
          <a:lstStyle/>
          <a:p>
            <a:endParaRPr lang="LID4096"/>
          </a:p>
        </p:txBody>
      </p:sp>
      <p:sp>
        <p:nvSpPr>
          <p:cNvPr id="11" name="Shape 9"/>
          <p:cNvSpPr/>
          <p:nvPr/>
        </p:nvSpPr>
        <p:spPr>
          <a:xfrm>
            <a:off x="3291840" y="1508760"/>
            <a:ext cx="2606040" cy="36576"/>
          </a:xfrm>
          <a:prstGeom prst="rect">
            <a:avLst/>
          </a:prstGeom>
          <a:solidFill>
            <a:srgbClr val="23978E"/>
          </a:solidFill>
          <a:ln/>
        </p:spPr>
        <p:txBody>
          <a:bodyPr/>
          <a:lstStyle/>
          <a:p>
            <a:endParaRPr lang="LID4096"/>
          </a:p>
        </p:txBody>
      </p:sp>
      <p:sp>
        <p:nvSpPr>
          <p:cNvPr id="12" name="Text 10"/>
          <p:cNvSpPr/>
          <p:nvPr/>
        </p:nvSpPr>
        <p:spPr>
          <a:xfrm>
            <a:off x="3429000" y="1600200"/>
            <a:ext cx="2331720" cy="201168"/>
          </a:xfrm>
          <a:prstGeom prst="rect">
            <a:avLst/>
          </a:prstGeom>
          <a:noFill/>
          <a:ln/>
        </p:spPr>
        <p:txBody>
          <a:bodyPr wrap="square" lIns="0" tIns="0" rIns="0" bIns="0" rtlCol="0" anchor="ctr"/>
          <a:lstStyle/>
          <a:p>
            <a:pPr marL="0" indent="0">
              <a:buNone/>
            </a:pPr>
            <a:r>
              <a:rPr lang="en-US" sz="1050" b="1" dirty="0">
                <a:solidFill>
                  <a:srgbClr val="23978E"/>
                </a:solidFill>
                <a:latin typeface="Calibri" pitchFamily="34" charset="0"/>
                <a:ea typeface="Calibri" pitchFamily="34" charset="-122"/>
                <a:cs typeface="Calibri" pitchFamily="34" charset="-120"/>
              </a:rPr>
              <a:t>Costs &amp; Economics</a:t>
            </a:r>
            <a:endParaRPr lang="en-US" sz="1050" dirty="0"/>
          </a:p>
        </p:txBody>
      </p:sp>
      <p:sp>
        <p:nvSpPr>
          <p:cNvPr id="13" name="Text 11"/>
          <p:cNvSpPr/>
          <p:nvPr/>
        </p:nvSpPr>
        <p:spPr>
          <a:xfrm>
            <a:off x="3429000" y="1810512"/>
            <a:ext cx="2331720" cy="274320"/>
          </a:xfrm>
          <a:prstGeom prst="rect">
            <a:avLst/>
          </a:prstGeom>
          <a:noFill/>
          <a:ln/>
        </p:spPr>
        <p:txBody>
          <a:bodyPr wrap="square" lIns="0" tIns="0" rIns="0" bIns="0" rtlCol="0" anchor="ctr"/>
          <a:lstStyle/>
          <a:p>
            <a:pPr marL="0" indent="0">
              <a:buNone/>
            </a:pPr>
            <a:r>
              <a:rPr lang="en-US" sz="750" i="1" dirty="0">
                <a:solidFill>
                  <a:srgbClr val="64748B"/>
                </a:solidFill>
                <a:latin typeface="Calibri" pitchFamily="34" charset="0"/>
                <a:ea typeface="Calibri" pitchFamily="34" charset="-122"/>
                <a:cs typeface="Calibri" pitchFamily="34" charset="-120"/>
              </a:rPr>
              <a:t>Technology_Costs, VariableCost, Emissions</a:t>
            </a:r>
            <a:endParaRPr lang="en-US" sz="750" dirty="0"/>
          </a:p>
        </p:txBody>
      </p:sp>
      <p:sp>
        <p:nvSpPr>
          <p:cNvPr id="14" name="Text 12"/>
          <p:cNvSpPr/>
          <p:nvPr/>
        </p:nvSpPr>
        <p:spPr>
          <a:xfrm>
            <a:off x="3429000" y="2103120"/>
            <a:ext cx="2331720" cy="685800"/>
          </a:xfrm>
          <a:prstGeom prst="rect">
            <a:avLst/>
          </a:prstGeom>
          <a:noFill/>
          <a:ln/>
        </p:spPr>
        <p:txBody>
          <a:bodyPr wrap="square" lIns="0" tIns="0" rIns="0" bIns="0" rtlCol="0" anchor="ctr"/>
          <a:lstStyle/>
          <a:p>
            <a:pPr marL="0" indent="0">
              <a:buNone/>
            </a:pPr>
            <a:r>
              <a:rPr lang="en-US" sz="900" dirty="0">
                <a:solidFill>
                  <a:srgbClr val="334155"/>
                </a:solidFill>
                <a:latin typeface="Calibri" pitchFamily="34" charset="0"/>
                <a:ea typeface="Calibri" pitchFamily="34" charset="-122"/>
                <a:cs typeface="Calibri" pitchFamily="34" charset="-120"/>
              </a:rPr>
              <a:t>CAPEX, fixed O&amp;M, variable costs, and emission activity ratios by technology. India-anchored with ATB cross-check.</a:t>
            </a:r>
            <a:endParaRPr lang="en-US" sz="900" dirty="0"/>
          </a:p>
        </p:txBody>
      </p:sp>
      <p:sp>
        <p:nvSpPr>
          <p:cNvPr id="15" name="Shape 13"/>
          <p:cNvSpPr/>
          <p:nvPr/>
        </p:nvSpPr>
        <p:spPr>
          <a:xfrm>
            <a:off x="6126480" y="1508760"/>
            <a:ext cx="2606040" cy="1371600"/>
          </a:xfrm>
          <a:prstGeom prst="rect">
            <a:avLst/>
          </a:prstGeom>
          <a:solidFill>
            <a:srgbClr val="FFFFFF"/>
          </a:solidFill>
          <a:ln/>
          <a:effectLst>
            <a:outerShdw blurRad="50800" dist="12700" dir="8100000" algn="bl" rotWithShape="0">
              <a:srgbClr val="000000">
                <a:alpha val="6000"/>
              </a:srgbClr>
            </a:outerShdw>
          </a:effectLst>
        </p:spPr>
        <p:txBody>
          <a:bodyPr/>
          <a:lstStyle/>
          <a:p>
            <a:endParaRPr lang="LID4096"/>
          </a:p>
        </p:txBody>
      </p:sp>
      <p:sp>
        <p:nvSpPr>
          <p:cNvPr id="16" name="Shape 14"/>
          <p:cNvSpPr/>
          <p:nvPr/>
        </p:nvSpPr>
        <p:spPr>
          <a:xfrm>
            <a:off x="6126480" y="1508760"/>
            <a:ext cx="2606040" cy="36576"/>
          </a:xfrm>
          <a:prstGeom prst="rect">
            <a:avLst/>
          </a:prstGeom>
          <a:solidFill>
            <a:srgbClr val="23978E"/>
          </a:solidFill>
          <a:ln/>
        </p:spPr>
        <p:txBody>
          <a:bodyPr/>
          <a:lstStyle/>
          <a:p>
            <a:endParaRPr lang="LID4096"/>
          </a:p>
        </p:txBody>
      </p:sp>
      <p:sp>
        <p:nvSpPr>
          <p:cNvPr id="17" name="Text 15"/>
          <p:cNvSpPr/>
          <p:nvPr/>
        </p:nvSpPr>
        <p:spPr>
          <a:xfrm>
            <a:off x="6263640" y="1600200"/>
            <a:ext cx="2331720" cy="201168"/>
          </a:xfrm>
          <a:prstGeom prst="rect">
            <a:avLst/>
          </a:prstGeom>
          <a:noFill/>
          <a:ln/>
        </p:spPr>
        <p:txBody>
          <a:bodyPr wrap="square" lIns="0" tIns="0" rIns="0" bIns="0" rtlCol="0" anchor="ctr"/>
          <a:lstStyle/>
          <a:p>
            <a:pPr marL="0" indent="0">
              <a:buNone/>
            </a:pPr>
            <a:r>
              <a:rPr lang="en-US" sz="1050" b="1" dirty="0">
                <a:solidFill>
                  <a:srgbClr val="23978E"/>
                </a:solidFill>
                <a:latin typeface="Calibri" pitchFamily="34" charset="0"/>
                <a:ea typeface="Calibri" pitchFamily="34" charset="-122"/>
                <a:cs typeface="Calibri" pitchFamily="34" charset="-120"/>
              </a:rPr>
              <a:t>Capacity &amp; Dispatch</a:t>
            </a:r>
            <a:endParaRPr lang="en-US" sz="1050" dirty="0"/>
          </a:p>
        </p:txBody>
      </p:sp>
      <p:sp>
        <p:nvSpPr>
          <p:cNvPr id="18" name="Text 16"/>
          <p:cNvSpPr/>
          <p:nvPr/>
        </p:nvSpPr>
        <p:spPr>
          <a:xfrm>
            <a:off x="6263640" y="1810512"/>
            <a:ext cx="2331720" cy="274320"/>
          </a:xfrm>
          <a:prstGeom prst="rect">
            <a:avLst/>
          </a:prstGeom>
          <a:noFill/>
          <a:ln/>
        </p:spPr>
        <p:txBody>
          <a:bodyPr wrap="square" lIns="0" tIns="0" rIns="0" bIns="0" rtlCol="0" anchor="ctr"/>
          <a:lstStyle/>
          <a:p>
            <a:pPr marL="0" indent="0">
              <a:buNone/>
            </a:pPr>
            <a:r>
              <a:rPr lang="en-US" sz="750" i="1" dirty="0">
                <a:solidFill>
                  <a:srgbClr val="64748B"/>
                </a:solidFill>
                <a:latin typeface="Calibri" pitchFamily="34" charset="0"/>
                <a:ea typeface="Calibri" pitchFamily="34" charset="-122"/>
                <a:cs typeface="Calibri" pitchFamily="34" charset="-120"/>
              </a:rPr>
              <a:t>Capacities_CF, Capacities_CF_Options, Yearsplit_Template, Yearsplit_ReNinja, DaySplit</a:t>
            </a:r>
            <a:endParaRPr lang="en-US" sz="750" dirty="0"/>
          </a:p>
        </p:txBody>
      </p:sp>
      <p:sp>
        <p:nvSpPr>
          <p:cNvPr id="19" name="Text 17"/>
          <p:cNvSpPr/>
          <p:nvPr/>
        </p:nvSpPr>
        <p:spPr>
          <a:xfrm>
            <a:off x="6263640" y="2103120"/>
            <a:ext cx="2331720" cy="685800"/>
          </a:xfrm>
          <a:prstGeom prst="rect">
            <a:avLst/>
          </a:prstGeom>
          <a:noFill/>
          <a:ln/>
        </p:spPr>
        <p:txBody>
          <a:bodyPr wrap="square" lIns="0" tIns="0" rIns="0" bIns="0" rtlCol="0" anchor="ctr"/>
          <a:lstStyle/>
          <a:p>
            <a:pPr marL="0" indent="0">
              <a:buNone/>
            </a:pPr>
            <a:r>
              <a:rPr lang="en-US" sz="900" dirty="0">
                <a:solidFill>
                  <a:srgbClr val="334155"/>
                </a:solidFill>
                <a:latin typeface="Calibri" pitchFamily="34" charset="0"/>
                <a:ea typeface="Calibri" pitchFamily="34" charset="-122"/>
                <a:cs typeface="Calibri" pitchFamily="34" charset="-120"/>
              </a:rPr>
              <a:t>Per-timeslice capacity factors with 3 source options (template, RE Ninja, country-verified). Year-split fractions for 12 timeslices.</a:t>
            </a:r>
            <a:endParaRPr lang="en-US" sz="900" dirty="0"/>
          </a:p>
        </p:txBody>
      </p:sp>
      <p:sp>
        <p:nvSpPr>
          <p:cNvPr id="20" name="Shape 18"/>
          <p:cNvSpPr/>
          <p:nvPr/>
        </p:nvSpPr>
        <p:spPr>
          <a:xfrm>
            <a:off x="457200" y="3063240"/>
            <a:ext cx="2606040" cy="1371600"/>
          </a:xfrm>
          <a:prstGeom prst="rect">
            <a:avLst/>
          </a:prstGeom>
          <a:solidFill>
            <a:srgbClr val="FFFFFF"/>
          </a:solidFill>
          <a:ln/>
          <a:effectLst>
            <a:outerShdw blurRad="50800" dist="12700" dir="8100000" algn="bl" rotWithShape="0">
              <a:srgbClr val="000000">
                <a:alpha val="6000"/>
              </a:srgbClr>
            </a:outerShdw>
          </a:effectLst>
        </p:spPr>
        <p:txBody>
          <a:bodyPr/>
          <a:lstStyle/>
          <a:p>
            <a:endParaRPr lang="LID4096"/>
          </a:p>
        </p:txBody>
      </p:sp>
      <p:sp>
        <p:nvSpPr>
          <p:cNvPr id="21" name="Shape 19"/>
          <p:cNvSpPr/>
          <p:nvPr/>
        </p:nvSpPr>
        <p:spPr>
          <a:xfrm>
            <a:off x="457200" y="3063240"/>
            <a:ext cx="2606040" cy="36576"/>
          </a:xfrm>
          <a:prstGeom prst="rect">
            <a:avLst/>
          </a:prstGeom>
          <a:solidFill>
            <a:srgbClr val="F4A940"/>
          </a:solidFill>
          <a:ln/>
        </p:spPr>
        <p:txBody>
          <a:bodyPr/>
          <a:lstStyle/>
          <a:p>
            <a:endParaRPr lang="LID4096"/>
          </a:p>
        </p:txBody>
      </p:sp>
      <p:sp>
        <p:nvSpPr>
          <p:cNvPr id="22" name="Text 20"/>
          <p:cNvSpPr/>
          <p:nvPr/>
        </p:nvSpPr>
        <p:spPr>
          <a:xfrm>
            <a:off x="594360" y="3154680"/>
            <a:ext cx="2331720" cy="201168"/>
          </a:xfrm>
          <a:prstGeom prst="rect">
            <a:avLst/>
          </a:prstGeom>
          <a:noFill/>
          <a:ln/>
        </p:spPr>
        <p:txBody>
          <a:bodyPr wrap="square" lIns="0" tIns="0" rIns="0" bIns="0" rtlCol="0" anchor="ctr"/>
          <a:lstStyle/>
          <a:p>
            <a:pPr marL="0" indent="0">
              <a:buNone/>
            </a:pPr>
            <a:r>
              <a:rPr lang="en-US" sz="1050" b="1" dirty="0">
                <a:solidFill>
                  <a:srgbClr val="F4A940"/>
                </a:solidFill>
                <a:latin typeface="Calibri" pitchFamily="34" charset="0"/>
                <a:ea typeface="Calibri" pitchFamily="34" charset="-122"/>
                <a:cs typeface="Calibri" pitchFamily="34" charset="-120"/>
              </a:rPr>
              <a:t>Demand &amp; Trade</a:t>
            </a:r>
            <a:endParaRPr lang="en-US" sz="1050" dirty="0"/>
          </a:p>
        </p:txBody>
      </p:sp>
      <p:sp>
        <p:nvSpPr>
          <p:cNvPr id="23" name="Text 21"/>
          <p:cNvSpPr/>
          <p:nvPr/>
        </p:nvSpPr>
        <p:spPr>
          <a:xfrm>
            <a:off x="594360" y="3364992"/>
            <a:ext cx="2331720" cy="274320"/>
          </a:xfrm>
          <a:prstGeom prst="rect">
            <a:avLst/>
          </a:prstGeom>
          <a:noFill/>
          <a:ln/>
        </p:spPr>
        <p:txBody>
          <a:bodyPr wrap="square" lIns="0" tIns="0" rIns="0" bIns="0" rtlCol="0" anchor="ctr"/>
          <a:lstStyle/>
          <a:p>
            <a:pPr marL="0" indent="0">
              <a:buNone/>
            </a:pPr>
            <a:r>
              <a:rPr lang="en-US" sz="750" i="1" dirty="0">
                <a:solidFill>
                  <a:srgbClr val="64748B"/>
                </a:solidFill>
                <a:latin typeface="Calibri" pitchFamily="34" charset="0"/>
                <a:ea typeface="Calibri" pitchFamily="34" charset="-122"/>
                <a:cs typeface="Calibri" pitchFamily="34" charset="-120"/>
              </a:rPr>
              <a:t>Demand_Projection, Demand_Profiles, Interconnectors, Interconnector_Params</a:t>
            </a:r>
            <a:endParaRPr lang="en-US" sz="750" dirty="0"/>
          </a:p>
        </p:txBody>
      </p:sp>
      <p:sp>
        <p:nvSpPr>
          <p:cNvPr id="24" name="Text 22"/>
          <p:cNvSpPr/>
          <p:nvPr/>
        </p:nvSpPr>
        <p:spPr>
          <a:xfrm>
            <a:off x="594360" y="3657600"/>
            <a:ext cx="2331720" cy="685800"/>
          </a:xfrm>
          <a:prstGeom prst="rect">
            <a:avLst/>
          </a:prstGeom>
          <a:noFill/>
          <a:ln/>
        </p:spPr>
        <p:txBody>
          <a:bodyPr wrap="square" lIns="0" tIns="0" rIns="0" bIns="0" rtlCol="0" anchor="ctr"/>
          <a:lstStyle/>
          <a:p>
            <a:pPr marL="0" indent="0">
              <a:buNone/>
            </a:pPr>
            <a:r>
              <a:rPr lang="en-US" sz="900" dirty="0">
                <a:solidFill>
                  <a:srgbClr val="334155"/>
                </a:solidFill>
                <a:latin typeface="Calibri" pitchFamily="34" charset="0"/>
                <a:ea typeface="Calibri" pitchFamily="34" charset="-122"/>
                <a:cs typeface="Calibri" pitchFamily="34" charset="-120"/>
              </a:rPr>
              <a:t>Annual demand by node (PJ), timeslice demand fractions, and 13 cross-border corridors with CAPEX/loss parameters.</a:t>
            </a:r>
            <a:endParaRPr lang="en-US" sz="900" dirty="0"/>
          </a:p>
        </p:txBody>
      </p:sp>
      <p:sp>
        <p:nvSpPr>
          <p:cNvPr id="25" name="Shape 23"/>
          <p:cNvSpPr/>
          <p:nvPr/>
        </p:nvSpPr>
        <p:spPr>
          <a:xfrm>
            <a:off x="3291840" y="3063240"/>
            <a:ext cx="2606040" cy="1371600"/>
          </a:xfrm>
          <a:prstGeom prst="rect">
            <a:avLst/>
          </a:prstGeom>
          <a:solidFill>
            <a:srgbClr val="FFFFFF"/>
          </a:solidFill>
          <a:ln/>
          <a:effectLst>
            <a:outerShdw blurRad="50800" dist="12700" dir="8100000" algn="bl" rotWithShape="0">
              <a:srgbClr val="000000">
                <a:alpha val="6000"/>
              </a:srgbClr>
            </a:outerShdw>
          </a:effectLst>
        </p:spPr>
        <p:txBody>
          <a:bodyPr/>
          <a:lstStyle/>
          <a:p>
            <a:endParaRPr lang="LID4096"/>
          </a:p>
        </p:txBody>
      </p:sp>
      <p:sp>
        <p:nvSpPr>
          <p:cNvPr id="26" name="Shape 24"/>
          <p:cNvSpPr/>
          <p:nvPr/>
        </p:nvSpPr>
        <p:spPr>
          <a:xfrm>
            <a:off x="3291840" y="3063240"/>
            <a:ext cx="2606040" cy="36576"/>
          </a:xfrm>
          <a:prstGeom prst="rect">
            <a:avLst/>
          </a:prstGeom>
          <a:solidFill>
            <a:srgbClr val="0A595F"/>
          </a:solidFill>
          <a:ln/>
        </p:spPr>
        <p:txBody>
          <a:bodyPr/>
          <a:lstStyle/>
          <a:p>
            <a:endParaRPr lang="LID4096"/>
          </a:p>
        </p:txBody>
      </p:sp>
      <p:sp>
        <p:nvSpPr>
          <p:cNvPr id="27" name="Text 25"/>
          <p:cNvSpPr/>
          <p:nvPr/>
        </p:nvSpPr>
        <p:spPr>
          <a:xfrm>
            <a:off x="3429000" y="3154680"/>
            <a:ext cx="2331720" cy="201168"/>
          </a:xfrm>
          <a:prstGeom prst="rect">
            <a:avLst/>
          </a:prstGeom>
          <a:noFill/>
          <a:ln/>
        </p:spPr>
        <p:txBody>
          <a:bodyPr wrap="square" lIns="0" tIns="0" rIns="0" bIns="0" rtlCol="0" anchor="ctr"/>
          <a:lstStyle/>
          <a:p>
            <a:pPr marL="0" indent="0">
              <a:buNone/>
            </a:pPr>
            <a:r>
              <a:rPr lang="en-US" sz="1050" b="1" dirty="0">
                <a:solidFill>
                  <a:srgbClr val="0A595F"/>
                </a:solidFill>
                <a:latin typeface="Calibri" pitchFamily="34" charset="0"/>
                <a:ea typeface="Calibri" pitchFamily="34" charset="-122"/>
                <a:cs typeface="Calibri" pitchFamily="34" charset="-120"/>
              </a:rPr>
              <a:t>Inventory &amp; QA</a:t>
            </a:r>
            <a:endParaRPr lang="en-US" sz="1050" dirty="0"/>
          </a:p>
        </p:txBody>
      </p:sp>
      <p:sp>
        <p:nvSpPr>
          <p:cNvPr id="28" name="Text 26"/>
          <p:cNvSpPr/>
          <p:nvPr/>
        </p:nvSpPr>
        <p:spPr>
          <a:xfrm>
            <a:off x="3429000" y="3364992"/>
            <a:ext cx="2331720" cy="274320"/>
          </a:xfrm>
          <a:prstGeom prst="rect">
            <a:avLst/>
          </a:prstGeom>
          <a:noFill/>
          <a:ln/>
        </p:spPr>
        <p:txBody>
          <a:bodyPr wrap="square" lIns="0" tIns="0" rIns="0" bIns="0" rtlCol="0" anchor="ctr"/>
          <a:lstStyle/>
          <a:p>
            <a:pPr marL="0" indent="0">
              <a:buNone/>
            </a:pPr>
            <a:r>
              <a:rPr lang="en-US" sz="750" i="1" dirty="0">
                <a:solidFill>
                  <a:srgbClr val="64748B"/>
                </a:solidFill>
                <a:latin typeface="Calibri" pitchFamily="34" charset="0"/>
                <a:ea typeface="Calibri" pitchFamily="34" charset="-122"/>
                <a:cs typeface="Calibri" pitchFamily="34" charset="-120"/>
              </a:rPr>
              <a:t>Existing_Generation (2,115), Planned_Generation (554), RE_Targets, RE_Potential_Ceilings</a:t>
            </a:r>
            <a:endParaRPr lang="en-US" sz="750" dirty="0"/>
          </a:p>
        </p:txBody>
      </p:sp>
      <p:sp>
        <p:nvSpPr>
          <p:cNvPr id="29" name="Text 27"/>
          <p:cNvSpPr/>
          <p:nvPr/>
        </p:nvSpPr>
        <p:spPr>
          <a:xfrm>
            <a:off x="3429000" y="3657600"/>
            <a:ext cx="2331720" cy="685800"/>
          </a:xfrm>
          <a:prstGeom prst="rect">
            <a:avLst/>
          </a:prstGeom>
          <a:noFill/>
          <a:ln/>
        </p:spPr>
        <p:txBody>
          <a:bodyPr wrap="square" lIns="0" tIns="0" rIns="0" bIns="0" rtlCol="0" anchor="ctr"/>
          <a:lstStyle/>
          <a:p>
            <a:pPr marL="0" indent="0">
              <a:buNone/>
            </a:pPr>
            <a:r>
              <a:rPr lang="en-US" sz="900" dirty="0">
                <a:solidFill>
                  <a:srgbClr val="334155"/>
                </a:solidFill>
                <a:latin typeface="Calibri" pitchFamily="34" charset="0"/>
                <a:ea typeface="Calibri" pitchFamily="34" charset="-122"/>
                <a:cs typeface="Calibri" pitchFamily="34" charset="-120"/>
              </a:rPr>
              <a:t>Plant-level inventories, national RE targets and NDC policies, physical RE potential limits for TotalAnnualMaxCapacity.</a:t>
            </a:r>
            <a:endParaRPr lang="en-US" sz="900" dirty="0"/>
          </a:p>
        </p:txBody>
      </p:sp>
      <p:sp>
        <p:nvSpPr>
          <p:cNvPr id="30" name="Shape 28"/>
          <p:cNvSpPr/>
          <p:nvPr/>
        </p:nvSpPr>
        <p:spPr>
          <a:xfrm>
            <a:off x="6126480" y="3063240"/>
            <a:ext cx="2606040" cy="1371600"/>
          </a:xfrm>
          <a:prstGeom prst="rect">
            <a:avLst/>
          </a:prstGeom>
          <a:solidFill>
            <a:srgbClr val="FFFFFF"/>
          </a:solidFill>
          <a:ln/>
          <a:effectLst>
            <a:outerShdw blurRad="50800" dist="12700" dir="8100000" algn="bl" rotWithShape="0">
              <a:srgbClr val="000000">
                <a:alpha val="6000"/>
              </a:srgbClr>
            </a:outerShdw>
          </a:effectLst>
        </p:spPr>
        <p:txBody>
          <a:bodyPr/>
          <a:lstStyle/>
          <a:p>
            <a:endParaRPr lang="LID4096"/>
          </a:p>
        </p:txBody>
      </p:sp>
      <p:sp>
        <p:nvSpPr>
          <p:cNvPr id="31" name="Shape 29"/>
          <p:cNvSpPr/>
          <p:nvPr/>
        </p:nvSpPr>
        <p:spPr>
          <a:xfrm>
            <a:off x="6126480" y="3063240"/>
            <a:ext cx="2606040" cy="36576"/>
          </a:xfrm>
          <a:prstGeom prst="rect">
            <a:avLst/>
          </a:prstGeom>
          <a:solidFill>
            <a:srgbClr val="64748B"/>
          </a:solidFill>
          <a:ln/>
        </p:spPr>
        <p:txBody>
          <a:bodyPr/>
          <a:lstStyle/>
          <a:p>
            <a:endParaRPr lang="LID4096"/>
          </a:p>
        </p:txBody>
      </p:sp>
      <p:sp>
        <p:nvSpPr>
          <p:cNvPr id="32" name="Text 30"/>
          <p:cNvSpPr/>
          <p:nvPr/>
        </p:nvSpPr>
        <p:spPr>
          <a:xfrm>
            <a:off x="6263640" y="3154680"/>
            <a:ext cx="2331720" cy="201168"/>
          </a:xfrm>
          <a:prstGeom prst="rect">
            <a:avLst/>
          </a:prstGeom>
          <a:noFill/>
          <a:ln/>
        </p:spPr>
        <p:txBody>
          <a:bodyPr wrap="square" lIns="0" tIns="0" rIns="0" bIns="0" rtlCol="0" anchor="ctr"/>
          <a:lstStyle/>
          <a:p>
            <a:pPr marL="0" indent="0">
              <a:buNone/>
            </a:pPr>
            <a:r>
              <a:rPr lang="en-US" sz="1050" b="1" dirty="0">
                <a:solidFill>
                  <a:srgbClr val="64748B"/>
                </a:solidFill>
                <a:latin typeface="Calibri" pitchFamily="34" charset="0"/>
                <a:ea typeface="Calibri" pitchFamily="34" charset="-122"/>
                <a:cs typeface="Calibri" pitchFamily="34" charset="-120"/>
              </a:rPr>
              <a:t>Validation &amp; Provenance</a:t>
            </a:r>
            <a:endParaRPr lang="en-US" sz="1050" dirty="0"/>
          </a:p>
        </p:txBody>
      </p:sp>
      <p:sp>
        <p:nvSpPr>
          <p:cNvPr id="33" name="Text 31"/>
          <p:cNvSpPr/>
          <p:nvPr/>
        </p:nvSpPr>
        <p:spPr>
          <a:xfrm>
            <a:off x="6263640" y="3364992"/>
            <a:ext cx="2331720" cy="274320"/>
          </a:xfrm>
          <a:prstGeom prst="rect">
            <a:avLst/>
          </a:prstGeom>
          <a:noFill/>
          <a:ln/>
        </p:spPr>
        <p:txBody>
          <a:bodyPr wrap="square" lIns="0" tIns="0" rIns="0" bIns="0" rtlCol="0" anchor="ctr"/>
          <a:lstStyle/>
          <a:p>
            <a:pPr marL="0" indent="0">
              <a:buNone/>
            </a:pPr>
            <a:r>
              <a:rPr lang="en-US" sz="750" i="1" dirty="0">
                <a:solidFill>
                  <a:srgbClr val="64748B"/>
                </a:solidFill>
                <a:latin typeface="Calibri" pitchFamily="34" charset="0"/>
                <a:ea typeface="Calibri" pitchFamily="34" charset="-122"/>
                <a:cs typeface="Calibri" pitchFamily="34" charset="-120"/>
              </a:rPr>
              <a:t>Integration_Log, Provenance_Matrix, ATB_Comparison, Cross_Validation_Log, Validation_ThermalDispatch</a:t>
            </a:r>
            <a:endParaRPr lang="en-US" sz="750" dirty="0"/>
          </a:p>
        </p:txBody>
      </p:sp>
      <p:sp>
        <p:nvSpPr>
          <p:cNvPr id="34" name="Text 32"/>
          <p:cNvSpPr/>
          <p:nvPr/>
        </p:nvSpPr>
        <p:spPr>
          <a:xfrm>
            <a:off x="6263640" y="3657600"/>
            <a:ext cx="2331720" cy="685800"/>
          </a:xfrm>
          <a:prstGeom prst="rect">
            <a:avLst/>
          </a:prstGeom>
          <a:noFill/>
          <a:ln/>
        </p:spPr>
        <p:txBody>
          <a:bodyPr wrap="square" lIns="0" tIns="0" rIns="0" bIns="0" rtlCol="0" anchor="ctr"/>
          <a:lstStyle/>
          <a:p>
            <a:pPr marL="0" indent="0">
              <a:buNone/>
            </a:pPr>
            <a:r>
              <a:rPr lang="en-US" sz="900" dirty="0">
                <a:solidFill>
                  <a:srgbClr val="334155"/>
                </a:solidFill>
                <a:latin typeface="Calibri" pitchFamily="34" charset="0"/>
                <a:ea typeface="Calibri" pitchFamily="34" charset="-122"/>
                <a:cs typeface="Calibri" pitchFamily="34" charset="-120"/>
              </a:rPr>
              <a:t>Cell-level source tracking, 172 cross-validation entries, ATB cost benchmarks, and thermal dispatch CF validation data.</a:t>
            </a:r>
            <a:endParaRPr lang="en-US" sz="900" dirty="0"/>
          </a:p>
        </p:txBody>
      </p:sp>
      <p:sp>
        <p:nvSpPr>
          <p:cNvPr id="35" name="Shape 33"/>
          <p:cNvSpPr/>
          <p:nvPr/>
        </p:nvSpPr>
        <p:spPr>
          <a:xfrm>
            <a:off x="0" y="4709160"/>
            <a:ext cx="9144000" cy="434340"/>
          </a:xfrm>
          <a:prstGeom prst="rect">
            <a:avLst/>
          </a:prstGeom>
          <a:solidFill>
            <a:srgbClr val="00414D"/>
          </a:solidFill>
          <a:ln/>
        </p:spPr>
        <p:txBody>
          <a:bodyPr/>
          <a:lstStyle/>
          <a:p>
            <a:endParaRPr lang="LID4096"/>
          </a:p>
        </p:txBody>
      </p:sp>
      <p:sp>
        <p:nvSpPr>
          <p:cNvPr id="36" name="Text 34"/>
          <p:cNvSpPr/>
          <p:nvPr/>
        </p:nvSpPr>
        <p:spPr>
          <a:xfrm>
            <a:off x="457200" y="4727448"/>
            <a:ext cx="8229600" cy="393192"/>
          </a:xfrm>
          <a:prstGeom prst="rect">
            <a:avLst/>
          </a:prstGeom>
          <a:noFill/>
          <a:ln/>
        </p:spPr>
        <p:txBody>
          <a:bodyPr wrap="square" rtlCol="0" anchor="ctr"/>
          <a:lstStyle/>
          <a:p>
            <a:pPr marL="0" indent="0">
              <a:buNone/>
            </a:pPr>
            <a:r>
              <a:rPr lang="en-US" sz="800" dirty="0">
                <a:solidFill>
                  <a:srgbClr val="64748B"/>
                </a:solidFill>
                <a:latin typeface="Calibri" pitchFamily="34" charset="0"/>
                <a:ea typeface="Calibri" pitchFamily="34" charset="-122"/>
                <a:cs typeface="Calibri" pitchFamily="34" charset="-120"/>
              </a:rPr>
              <a:t>OSTRAM — Data Package v1.0  |  UN ESCAP Energy Division  |  March 2026</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F0F5F5"/>
        </a:solidFill>
        <a:effectLst/>
      </p:bgPr>
    </p:bg>
    <p:spTree>
      <p:nvGrpSpPr>
        <p:cNvPr id="1" name=""/>
        <p:cNvGrpSpPr/>
        <p:nvPr/>
      </p:nvGrpSpPr>
      <p:grpSpPr>
        <a:xfrm>
          <a:off x="0" y="0"/>
          <a:ext cx="0" cy="0"/>
          <a:chOff x="0" y="0"/>
          <a:chExt cx="0" cy="0"/>
        </a:xfrm>
      </p:grpSpPr>
      <p:sp>
        <p:nvSpPr>
          <p:cNvPr id="2" name="Text 0"/>
          <p:cNvSpPr/>
          <p:nvPr/>
        </p:nvSpPr>
        <p:spPr>
          <a:xfrm>
            <a:off x="457200" y="274320"/>
            <a:ext cx="7315200" cy="457200"/>
          </a:xfrm>
          <a:prstGeom prst="rect">
            <a:avLst/>
          </a:prstGeom>
          <a:noFill/>
          <a:ln/>
        </p:spPr>
        <p:txBody>
          <a:bodyPr wrap="square" lIns="0" tIns="0" rIns="0" bIns="0" rtlCol="0" anchor="ctr"/>
          <a:lstStyle/>
          <a:p>
            <a:pPr marL="0" indent="0">
              <a:buNone/>
            </a:pPr>
            <a:r>
              <a:rPr lang="en-US" sz="2400" b="1" dirty="0">
                <a:solidFill>
                  <a:srgbClr val="00414D"/>
                </a:solidFill>
                <a:latin typeface="Georgia" pitchFamily="34" charset="0"/>
                <a:ea typeface="Georgia" pitchFamily="34" charset="-122"/>
                <a:cs typeface="Georgia" pitchFamily="34" charset="-120"/>
              </a:rPr>
              <a:t>Consolidated Data Inventory</a:t>
            </a:r>
            <a:endParaRPr lang="en-US" sz="2400" dirty="0"/>
          </a:p>
        </p:txBody>
      </p:sp>
      <p:sp>
        <p:nvSpPr>
          <p:cNvPr id="3" name="Text 1"/>
          <p:cNvSpPr/>
          <p:nvPr/>
        </p:nvSpPr>
        <p:spPr>
          <a:xfrm>
            <a:off x="457200" y="731520"/>
            <a:ext cx="8229600" cy="228600"/>
          </a:xfrm>
          <a:prstGeom prst="rect">
            <a:avLst/>
          </a:prstGeom>
          <a:noFill/>
          <a:ln/>
        </p:spPr>
        <p:txBody>
          <a:bodyPr wrap="square" lIns="0" tIns="0" rIns="0" bIns="0" rtlCol="0" anchor="ctr"/>
          <a:lstStyle/>
          <a:p>
            <a:pPr marL="0" indent="0">
              <a:buNone/>
            </a:pPr>
            <a:r>
              <a:rPr lang="en-US" sz="1100" i="1" dirty="0">
                <a:solidFill>
                  <a:srgbClr val="23978E"/>
                </a:solidFill>
                <a:latin typeface="Calibri" pitchFamily="34" charset="0"/>
                <a:ea typeface="Calibri" pitchFamily="34" charset="-122"/>
                <a:cs typeface="Calibri" pitchFamily="34" charset="-120"/>
              </a:rPr>
              <a:t>OSTRAM_Consolidated_Data_Inventory_v4.xlsx — 13 sheets</a:t>
            </a:r>
            <a:endParaRPr lang="en-US" sz="1100" dirty="0"/>
          </a:p>
        </p:txBody>
      </p:sp>
      <p:sp>
        <p:nvSpPr>
          <p:cNvPr id="4" name="Text 2"/>
          <p:cNvSpPr/>
          <p:nvPr/>
        </p:nvSpPr>
        <p:spPr>
          <a:xfrm>
            <a:off x="457200" y="1005840"/>
            <a:ext cx="8229600" cy="365760"/>
          </a:xfrm>
          <a:prstGeom prst="rect">
            <a:avLst/>
          </a:prstGeom>
          <a:noFill/>
          <a:ln/>
        </p:spPr>
        <p:txBody>
          <a:bodyPr wrap="square" lIns="0" tIns="0" rIns="0" bIns="0" rtlCol="0" anchor="ctr"/>
          <a:lstStyle/>
          <a:p>
            <a:pPr marL="0" indent="0">
              <a:buNone/>
            </a:pPr>
            <a:r>
              <a:rPr lang="en-US" sz="1050" dirty="0">
                <a:solidFill>
                  <a:srgbClr val="334155"/>
                </a:solidFill>
                <a:latin typeface="Calibri" pitchFamily="34" charset="0"/>
                <a:ea typeface="Calibri" pitchFamily="34" charset="-122"/>
                <a:cs typeface="Calibri" pitchFamily="34" charset="-120"/>
              </a:rPr>
              <a:t>This workbook documents what was found, where it came from, and what still needs attention. It is the evidence base behind the template and supports the 20 disaggregated country workbooks.</a:t>
            </a:r>
            <a:endParaRPr lang="en-US" sz="105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57200" y="1463040"/>
          <a:ext cx="8229600" cy="2999232"/>
        </p:xfrm>
        <a:graphic>
          <a:graphicData uri="http://schemas.openxmlformats.org/drawingml/2006/table">
            <a:tbl>
              <a:tblPr/>
              <a:tblGrid>
                <a:gridCol w="2103120">
                  <a:extLst>
                    <a:ext uri="{9D8B030D-6E8A-4147-A177-3AD203B41FA5}">
                      <a16:colId xmlns:a16="http://schemas.microsoft.com/office/drawing/2014/main" val="20000"/>
                    </a:ext>
                  </a:extLst>
                </a:gridCol>
                <a:gridCol w="640080">
                  <a:extLst>
                    <a:ext uri="{9D8B030D-6E8A-4147-A177-3AD203B41FA5}">
                      <a16:colId xmlns:a16="http://schemas.microsoft.com/office/drawing/2014/main" val="20001"/>
                    </a:ext>
                  </a:extLst>
                </a:gridCol>
                <a:gridCol w="5486400">
                  <a:extLst>
                    <a:ext uri="{9D8B030D-6E8A-4147-A177-3AD203B41FA5}">
                      <a16:colId xmlns:a16="http://schemas.microsoft.com/office/drawing/2014/main" val="20002"/>
                    </a:ext>
                  </a:extLst>
                </a:gridCol>
              </a:tblGrid>
              <a:tr h="256032">
                <a:tc>
                  <a:txBody>
                    <a:bodyPr/>
                    <a:lstStyle/>
                    <a:p>
                      <a:pPr marL="0" indent="0">
                        <a:buNone/>
                      </a:pPr>
                      <a:r>
                        <a:rPr lang="en-US" sz="900" b="1" dirty="0">
                          <a:solidFill>
                            <a:srgbClr val="FFFFFF"/>
                          </a:solidFill>
                          <a:latin typeface="Calibri" pitchFamily="34" charset="0"/>
                          <a:ea typeface="Calibri" pitchFamily="34" charset="-122"/>
                          <a:cs typeface="Calibri" pitchFamily="34" charset="-120"/>
                        </a:rPr>
                        <a:t>Sheet</a:t>
                      </a:r>
                      <a:endParaRPr lang="en-US" sz="900" dirty="0">
                        <a:latin typeface="Calibri" charset="0"/>
                        <a:ea typeface="Calibri" charset="0"/>
                        <a:cs typeface="Calibri" charset="0"/>
                      </a:endParaRPr>
                    </a:p>
                  </a:txBody>
                  <a:tcPr>
                    <a:lnL w="6350" cap="flat" cmpd="sng" algn="ctr">
                      <a:solidFill>
                        <a:srgbClr val="C5D8D8"/>
                      </a:solidFill>
                      <a:prstDash val="solid"/>
                      <a:round/>
                      <a:headEnd type="none" w="med" len="med"/>
                      <a:tailEnd type="none" w="med" len="med"/>
                    </a:lnL>
                    <a:lnR w="6350" cap="flat" cmpd="sng" algn="ctr">
                      <a:solidFill>
                        <a:srgbClr val="C5D8D8"/>
                      </a:solidFill>
                      <a:prstDash val="solid"/>
                      <a:round/>
                      <a:headEnd type="none" w="med" len="med"/>
                      <a:tailEnd type="none" w="med" len="med"/>
                    </a:lnR>
                    <a:lnT w="6350" cap="flat" cmpd="sng" algn="ctr">
                      <a:solidFill>
                        <a:srgbClr val="C5D8D8"/>
                      </a:solidFill>
                      <a:prstDash val="solid"/>
                      <a:round/>
                      <a:headEnd type="none" w="med" len="med"/>
                      <a:tailEnd type="none" w="med" len="med"/>
                    </a:lnT>
                    <a:lnB w="6350" cap="flat" cmpd="sng" algn="ctr">
                      <a:solidFill>
                        <a:srgbClr val="C5D8D8"/>
                      </a:solidFill>
                      <a:prstDash val="solid"/>
                      <a:round/>
                      <a:headEnd type="none" w="med" len="med"/>
                      <a:tailEnd type="none" w="med" len="med"/>
                    </a:lnB>
                    <a:solidFill>
                      <a:srgbClr val="0A595F"/>
                    </a:solidFill>
                  </a:tcPr>
                </a:tc>
                <a:tc>
                  <a:txBody>
                    <a:bodyPr/>
                    <a:lstStyle/>
                    <a:p>
                      <a:pPr marL="0" indent="0" algn="r">
                        <a:buNone/>
                      </a:pPr>
                      <a:r>
                        <a:rPr lang="en-US" sz="900" b="1" dirty="0">
                          <a:solidFill>
                            <a:srgbClr val="FFFFFF"/>
                          </a:solidFill>
                          <a:latin typeface="Calibri" pitchFamily="34" charset="0"/>
                          <a:ea typeface="Calibri" pitchFamily="34" charset="-122"/>
                          <a:cs typeface="Calibri" pitchFamily="34" charset="-120"/>
                        </a:rPr>
                        <a:t>Rows</a:t>
                      </a:r>
                      <a:endParaRPr lang="en-US" sz="900" dirty="0">
                        <a:latin typeface="Calibri" charset="0"/>
                        <a:ea typeface="Calibri" charset="0"/>
                        <a:cs typeface="Calibri" charset="0"/>
                      </a:endParaRPr>
                    </a:p>
                  </a:txBody>
                  <a:tcPr>
                    <a:lnL w="6350" cap="flat" cmpd="sng" algn="ctr">
                      <a:solidFill>
                        <a:srgbClr val="C5D8D8"/>
                      </a:solidFill>
                      <a:prstDash val="solid"/>
                      <a:round/>
                      <a:headEnd type="none" w="med" len="med"/>
                      <a:tailEnd type="none" w="med" len="med"/>
                    </a:lnL>
                    <a:lnR w="6350" cap="flat" cmpd="sng" algn="ctr">
                      <a:solidFill>
                        <a:srgbClr val="C5D8D8"/>
                      </a:solidFill>
                      <a:prstDash val="solid"/>
                      <a:round/>
                      <a:headEnd type="none" w="med" len="med"/>
                      <a:tailEnd type="none" w="med" len="med"/>
                    </a:lnR>
                    <a:lnT w="6350" cap="flat" cmpd="sng" algn="ctr">
                      <a:solidFill>
                        <a:srgbClr val="C5D8D8"/>
                      </a:solidFill>
                      <a:prstDash val="solid"/>
                      <a:round/>
                      <a:headEnd type="none" w="med" len="med"/>
                      <a:tailEnd type="none" w="med" len="med"/>
                    </a:lnT>
                    <a:lnB w="6350" cap="flat" cmpd="sng" algn="ctr">
                      <a:solidFill>
                        <a:srgbClr val="C5D8D8"/>
                      </a:solidFill>
                      <a:prstDash val="solid"/>
                      <a:round/>
                      <a:headEnd type="none" w="med" len="med"/>
                      <a:tailEnd type="none" w="med" len="med"/>
                    </a:lnB>
                    <a:solidFill>
                      <a:srgbClr val="0A595F"/>
                    </a:solidFill>
                  </a:tcPr>
                </a:tc>
                <a:tc>
                  <a:txBody>
                    <a:bodyPr/>
                    <a:lstStyle/>
                    <a:p>
                      <a:pPr marL="0" indent="0">
                        <a:buNone/>
                      </a:pPr>
                      <a:r>
                        <a:rPr lang="en-US" sz="900" b="1" dirty="0">
                          <a:solidFill>
                            <a:srgbClr val="FFFFFF"/>
                          </a:solidFill>
                          <a:latin typeface="Calibri" pitchFamily="34" charset="0"/>
                          <a:ea typeface="Calibri" pitchFamily="34" charset="-122"/>
                          <a:cs typeface="Calibri" pitchFamily="34" charset="-120"/>
                        </a:rPr>
                        <a:t>Contents</a:t>
                      </a:r>
                      <a:endParaRPr lang="en-US" sz="900" dirty="0">
                        <a:latin typeface="Calibri" charset="0"/>
                        <a:ea typeface="Calibri" charset="0"/>
                        <a:cs typeface="Calibri" charset="0"/>
                      </a:endParaRPr>
                    </a:p>
                  </a:txBody>
                  <a:tcPr>
                    <a:lnL w="6350" cap="flat" cmpd="sng" algn="ctr">
                      <a:solidFill>
                        <a:srgbClr val="C5D8D8"/>
                      </a:solidFill>
                      <a:prstDash val="solid"/>
                      <a:round/>
                      <a:headEnd type="none" w="med" len="med"/>
                      <a:tailEnd type="none" w="med" len="med"/>
                    </a:lnL>
                    <a:lnR w="6350" cap="flat" cmpd="sng" algn="ctr">
                      <a:solidFill>
                        <a:srgbClr val="C5D8D8"/>
                      </a:solidFill>
                      <a:prstDash val="solid"/>
                      <a:round/>
                      <a:headEnd type="none" w="med" len="med"/>
                      <a:tailEnd type="none" w="med" len="med"/>
                    </a:lnR>
                    <a:lnT w="6350" cap="flat" cmpd="sng" algn="ctr">
                      <a:solidFill>
                        <a:srgbClr val="C5D8D8"/>
                      </a:solidFill>
                      <a:prstDash val="solid"/>
                      <a:round/>
                      <a:headEnd type="none" w="med" len="med"/>
                      <a:tailEnd type="none" w="med" len="med"/>
                    </a:lnT>
                    <a:lnB w="6350" cap="flat" cmpd="sng" algn="ctr">
                      <a:solidFill>
                        <a:srgbClr val="C5D8D8"/>
                      </a:solidFill>
                      <a:prstDash val="solid"/>
                      <a:round/>
                      <a:headEnd type="none" w="med" len="med"/>
                      <a:tailEnd type="none" w="med" len="med"/>
                    </a:lnB>
                    <a:solidFill>
                      <a:srgbClr val="0A595F"/>
                    </a:solidFill>
                  </a:tcPr>
                </a:tc>
                <a:extLst>
                  <a:ext uri="{0D108BD9-81ED-4DB2-BD59-A6C34878D82A}">
                    <a16:rowId xmlns:a16="http://schemas.microsoft.com/office/drawing/2014/main" val="10000"/>
                  </a:ext>
                </a:extLst>
              </a:tr>
              <a:tr h="228600">
                <a:tc>
                  <a:txBody>
                    <a:bodyPr/>
                    <a:lstStyle/>
                    <a:p>
                      <a:pPr marL="0" indent="0">
                        <a:buNone/>
                      </a:pPr>
                      <a:r>
                        <a:rPr lang="en-US" sz="850" b="1" dirty="0">
                          <a:solidFill>
                            <a:srgbClr val="0A595F"/>
                          </a:solidFill>
                          <a:latin typeface="Calibri" pitchFamily="34" charset="0"/>
                          <a:ea typeface="Calibri" pitchFamily="34" charset="-122"/>
                          <a:cs typeface="Calibri" pitchFamily="34" charset="-120"/>
                        </a:rPr>
                        <a:t>Existing_Generation</a:t>
                      </a:r>
                      <a:endParaRPr lang="en-US" sz="850" dirty="0">
                        <a:latin typeface="Calibri" charset="0"/>
                        <a:ea typeface="Calibri" charset="0"/>
                        <a:cs typeface="Calibri" charset="0"/>
                      </a:endParaRPr>
                    </a:p>
                  </a:txBody>
                  <a:tcPr>
                    <a:lnL w="6350" cap="flat" cmpd="sng" algn="ctr">
                      <a:solidFill>
                        <a:srgbClr val="C5D8D8"/>
                      </a:solidFill>
                      <a:prstDash val="solid"/>
                      <a:round/>
                      <a:headEnd type="none" w="med" len="med"/>
                      <a:tailEnd type="none" w="med" len="med"/>
                    </a:lnL>
                    <a:lnR w="6350" cap="flat" cmpd="sng" algn="ctr">
                      <a:solidFill>
                        <a:srgbClr val="C5D8D8"/>
                      </a:solidFill>
                      <a:prstDash val="solid"/>
                      <a:round/>
                      <a:headEnd type="none" w="med" len="med"/>
                      <a:tailEnd type="none" w="med" len="med"/>
                    </a:lnR>
                    <a:lnT w="6350" cap="flat" cmpd="sng" algn="ctr">
                      <a:solidFill>
                        <a:srgbClr val="C5D8D8"/>
                      </a:solidFill>
                      <a:prstDash val="solid"/>
                      <a:round/>
                      <a:headEnd type="none" w="med" len="med"/>
                      <a:tailEnd type="none" w="med" len="med"/>
                    </a:lnT>
                    <a:lnB w="6350" cap="flat" cmpd="sng" algn="ctr">
                      <a:solidFill>
                        <a:srgbClr val="C5D8D8"/>
                      </a:solidFill>
                      <a:prstDash val="solid"/>
                      <a:round/>
                      <a:headEnd type="none" w="med" len="med"/>
                      <a:tailEnd type="none" w="med" len="med"/>
                    </a:lnB>
                  </a:tcPr>
                </a:tc>
                <a:tc>
                  <a:txBody>
                    <a:bodyPr/>
                    <a:lstStyle/>
                    <a:p>
                      <a:pPr marL="0" indent="0" algn="r">
                        <a:buNone/>
                      </a:pPr>
                      <a:r>
                        <a:rPr lang="en-US" sz="850" dirty="0">
                          <a:solidFill>
                            <a:srgbClr val="334155"/>
                          </a:solidFill>
                          <a:latin typeface="Calibri" pitchFamily="34" charset="0"/>
                          <a:ea typeface="Calibri" pitchFamily="34" charset="-122"/>
                          <a:cs typeface="Calibri" pitchFamily="34" charset="-120"/>
                        </a:rPr>
                        <a:t>2,125</a:t>
                      </a:r>
                      <a:endParaRPr lang="en-US" sz="850" dirty="0">
                        <a:latin typeface="Calibri" charset="0"/>
                        <a:ea typeface="Calibri" charset="0"/>
                        <a:cs typeface="Calibri" charset="0"/>
                      </a:endParaRPr>
                    </a:p>
                  </a:txBody>
                  <a:tcPr>
                    <a:lnL w="6350" cap="flat" cmpd="sng" algn="ctr">
                      <a:solidFill>
                        <a:srgbClr val="C5D8D8"/>
                      </a:solidFill>
                      <a:prstDash val="solid"/>
                      <a:round/>
                      <a:headEnd type="none" w="med" len="med"/>
                      <a:tailEnd type="none" w="med" len="med"/>
                    </a:lnL>
                    <a:lnR w="6350" cap="flat" cmpd="sng" algn="ctr">
                      <a:solidFill>
                        <a:srgbClr val="C5D8D8"/>
                      </a:solidFill>
                      <a:prstDash val="solid"/>
                      <a:round/>
                      <a:headEnd type="none" w="med" len="med"/>
                      <a:tailEnd type="none" w="med" len="med"/>
                    </a:lnR>
                    <a:lnT w="6350" cap="flat" cmpd="sng" algn="ctr">
                      <a:solidFill>
                        <a:srgbClr val="C5D8D8"/>
                      </a:solidFill>
                      <a:prstDash val="solid"/>
                      <a:round/>
                      <a:headEnd type="none" w="med" len="med"/>
                      <a:tailEnd type="none" w="med" len="med"/>
                    </a:lnT>
                    <a:lnB w="6350" cap="flat" cmpd="sng" algn="ctr">
                      <a:solidFill>
                        <a:srgbClr val="C5D8D8"/>
                      </a:solidFill>
                      <a:prstDash val="solid"/>
                      <a:round/>
                      <a:headEnd type="none" w="med" len="med"/>
                      <a:tailEnd type="none" w="med" len="med"/>
                    </a:lnB>
                  </a:tcPr>
                </a:tc>
                <a:tc>
                  <a:txBody>
                    <a:bodyPr/>
                    <a:lstStyle/>
                    <a:p>
                      <a:pPr marL="0" indent="0">
                        <a:buNone/>
                      </a:pPr>
                      <a:r>
                        <a:rPr lang="en-US" sz="850" dirty="0">
                          <a:solidFill>
                            <a:srgbClr val="334155"/>
                          </a:solidFill>
                          <a:latin typeface="Calibri" pitchFamily="34" charset="0"/>
                          <a:ea typeface="Calibri" pitchFamily="34" charset="-122"/>
                          <a:cs typeface="Calibri" pitchFamily="34" charset="-120"/>
                        </a:rPr>
                        <a:t>Plant-level inventory: country, node, fuel, capacity, owner</a:t>
                      </a:r>
                      <a:endParaRPr lang="en-US" sz="850" dirty="0">
                        <a:latin typeface="Calibri" charset="0"/>
                        <a:ea typeface="Calibri" charset="0"/>
                        <a:cs typeface="Calibri" charset="0"/>
                      </a:endParaRPr>
                    </a:p>
                  </a:txBody>
                  <a:tcPr>
                    <a:lnL w="6350" cap="flat" cmpd="sng" algn="ctr">
                      <a:solidFill>
                        <a:srgbClr val="C5D8D8"/>
                      </a:solidFill>
                      <a:prstDash val="solid"/>
                      <a:round/>
                      <a:headEnd type="none" w="med" len="med"/>
                      <a:tailEnd type="none" w="med" len="med"/>
                    </a:lnL>
                    <a:lnR w="6350" cap="flat" cmpd="sng" algn="ctr">
                      <a:solidFill>
                        <a:srgbClr val="C5D8D8"/>
                      </a:solidFill>
                      <a:prstDash val="solid"/>
                      <a:round/>
                      <a:headEnd type="none" w="med" len="med"/>
                      <a:tailEnd type="none" w="med" len="med"/>
                    </a:lnR>
                    <a:lnT w="6350" cap="flat" cmpd="sng" algn="ctr">
                      <a:solidFill>
                        <a:srgbClr val="C5D8D8"/>
                      </a:solidFill>
                      <a:prstDash val="solid"/>
                      <a:round/>
                      <a:headEnd type="none" w="med" len="med"/>
                      <a:tailEnd type="none" w="med" len="med"/>
                    </a:lnT>
                    <a:lnB w="6350" cap="flat" cmpd="sng" algn="ctr">
                      <a:solidFill>
                        <a:srgbClr val="C5D8D8"/>
                      </a:solidFill>
                      <a:prstDash val="solid"/>
                      <a:round/>
                      <a:headEnd type="none" w="med" len="med"/>
                      <a:tailEnd type="none" w="med" len="med"/>
                    </a:lnB>
                  </a:tcPr>
                </a:tc>
                <a:extLst>
                  <a:ext uri="{0D108BD9-81ED-4DB2-BD59-A6C34878D82A}">
                    <a16:rowId xmlns:a16="http://schemas.microsoft.com/office/drawing/2014/main" val="10001"/>
                  </a:ext>
                </a:extLst>
              </a:tr>
              <a:tr h="228600">
                <a:tc>
                  <a:txBody>
                    <a:bodyPr/>
                    <a:lstStyle/>
                    <a:p>
                      <a:pPr marL="0" indent="0">
                        <a:buNone/>
                      </a:pPr>
                      <a:r>
                        <a:rPr lang="en-US" sz="850" b="1" dirty="0">
                          <a:solidFill>
                            <a:srgbClr val="0A595F"/>
                          </a:solidFill>
                          <a:latin typeface="Calibri" pitchFamily="34" charset="0"/>
                          <a:ea typeface="Calibri" pitchFamily="34" charset="-122"/>
                          <a:cs typeface="Calibri" pitchFamily="34" charset="-120"/>
                        </a:rPr>
                        <a:t>Planned_Generation</a:t>
                      </a:r>
                      <a:endParaRPr lang="en-US" sz="850" dirty="0">
                        <a:latin typeface="Calibri" charset="0"/>
                        <a:ea typeface="Calibri" charset="0"/>
                        <a:cs typeface="Calibri" charset="0"/>
                      </a:endParaRPr>
                    </a:p>
                  </a:txBody>
                  <a:tcPr>
                    <a:lnL w="6350" cap="flat" cmpd="sng" algn="ctr">
                      <a:solidFill>
                        <a:srgbClr val="C5D8D8"/>
                      </a:solidFill>
                      <a:prstDash val="solid"/>
                      <a:round/>
                      <a:headEnd type="none" w="med" len="med"/>
                      <a:tailEnd type="none" w="med" len="med"/>
                    </a:lnL>
                    <a:lnR w="6350" cap="flat" cmpd="sng" algn="ctr">
                      <a:solidFill>
                        <a:srgbClr val="C5D8D8"/>
                      </a:solidFill>
                      <a:prstDash val="solid"/>
                      <a:round/>
                      <a:headEnd type="none" w="med" len="med"/>
                      <a:tailEnd type="none" w="med" len="med"/>
                    </a:lnR>
                    <a:lnT w="6350" cap="flat" cmpd="sng" algn="ctr">
                      <a:solidFill>
                        <a:srgbClr val="C5D8D8"/>
                      </a:solidFill>
                      <a:prstDash val="solid"/>
                      <a:round/>
                      <a:headEnd type="none" w="med" len="med"/>
                      <a:tailEnd type="none" w="med" len="med"/>
                    </a:lnT>
                    <a:lnB w="6350" cap="flat" cmpd="sng" algn="ctr">
                      <a:solidFill>
                        <a:srgbClr val="C5D8D8"/>
                      </a:solidFill>
                      <a:prstDash val="solid"/>
                      <a:round/>
                      <a:headEnd type="none" w="med" len="med"/>
                      <a:tailEnd type="none" w="med" len="med"/>
                    </a:lnB>
                  </a:tcPr>
                </a:tc>
                <a:tc>
                  <a:txBody>
                    <a:bodyPr/>
                    <a:lstStyle/>
                    <a:p>
                      <a:pPr marL="0" indent="0" algn="r">
                        <a:buNone/>
                      </a:pPr>
                      <a:r>
                        <a:rPr lang="en-US" sz="850" dirty="0">
                          <a:solidFill>
                            <a:srgbClr val="334155"/>
                          </a:solidFill>
                          <a:latin typeface="Calibri" pitchFamily="34" charset="0"/>
                          <a:ea typeface="Calibri" pitchFamily="34" charset="-122"/>
                          <a:cs typeface="Calibri" pitchFamily="34" charset="-120"/>
                        </a:rPr>
                        <a:t>560</a:t>
                      </a:r>
                      <a:endParaRPr lang="en-US" sz="850" dirty="0">
                        <a:latin typeface="Calibri" charset="0"/>
                        <a:ea typeface="Calibri" charset="0"/>
                        <a:cs typeface="Calibri" charset="0"/>
                      </a:endParaRPr>
                    </a:p>
                  </a:txBody>
                  <a:tcPr>
                    <a:lnL w="6350" cap="flat" cmpd="sng" algn="ctr">
                      <a:solidFill>
                        <a:srgbClr val="C5D8D8"/>
                      </a:solidFill>
                      <a:prstDash val="solid"/>
                      <a:round/>
                      <a:headEnd type="none" w="med" len="med"/>
                      <a:tailEnd type="none" w="med" len="med"/>
                    </a:lnL>
                    <a:lnR w="6350" cap="flat" cmpd="sng" algn="ctr">
                      <a:solidFill>
                        <a:srgbClr val="C5D8D8"/>
                      </a:solidFill>
                      <a:prstDash val="solid"/>
                      <a:round/>
                      <a:headEnd type="none" w="med" len="med"/>
                      <a:tailEnd type="none" w="med" len="med"/>
                    </a:lnR>
                    <a:lnT w="6350" cap="flat" cmpd="sng" algn="ctr">
                      <a:solidFill>
                        <a:srgbClr val="C5D8D8"/>
                      </a:solidFill>
                      <a:prstDash val="solid"/>
                      <a:round/>
                      <a:headEnd type="none" w="med" len="med"/>
                      <a:tailEnd type="none" w="med" len="med"/>
                    </a:lnT>
                    <a:lnB w="6350" cap="flat" cmpd="sng" algn="ctr">
                      <a:solidFill>
                        <a:srgbClr val="C5D8D8"/>
                      </a:solidFill>
                      <a:prstDash val="solid"/>
                      <a:round/>
                      <a:headEnd type="none" w="med" len="med"/>
                      <a:tailEnd type="none" w="med" len="med"/>
                    </a:lnB>
                  </a:tcPr>
                </a:tc>
                <a:tc>
                  <a:txBody>
                    <a:bodyPr/>
                    <a:lstStyle/>
                    <a:p>
                      <a:pPr marL="0" indent="0">
                        <a:buNone/>
                      </a:pPr>
                      <a:r>
                        <a:rPr lang="en-US" sz="850" dirty="0">
                          <a:solidFill>
                            <a:srgbClr val="334155"/>
                          </a:solidFill>
                          <a:latin typeface="Calibri" pitchFamily="34" charset="0"/>
                          <a:ea typeface="Calibri" pitchFamily="34" charset="-122"/>
                          <a:cs typeface="Calibri" pitchFamily="34" charset="-120"/>
                        </a:rPr>
                        <a:t>Project pipeline with expected COD and status</a:t>
                      </a:r>
                      <a:endParaRPr lang="en-US" sz="850" dirty="0">
                        <a:latin typeface="Calibri" charset="0"/>
                        <a:ea typeface="Calibri" charset="0"/>
                        <a:cs typeface="Calibri" charset="0"/>
                      </a:endParaRPr>
                    </a:p>
                  </a:txBody>
                  <a:tcPr>
                    <a:lnL w="6350" cap="flat" cmpd="sng" algn="ctr">
                      <a:solidFill>
                        <a:srgbClr val="C5D8D8"/>
                      </a:solidFill>
                      <a:prstDash val="solid"/>
                      <a:round/>
                      <a:headEnd type="none" w="med" len="med"/>
                      <a:tailEnd type="none" w="med" len="med"/>
                    </a:lnL>
                    <a:lnR w="6350" cap="flat" cmpd="sng" algn="ctr">
                      <a:solidFill>
                        <a:srgbClr val="C5D8D8"/>
                      </a:solidFill>
                      <a:prstDash val="solid"/>
                      <a:round/>
                      <a:headEnd type="none" w="med" len="med"/>
                      <a:tailEnd type="none" w="med" len="med"/>
                    </a:lnR>
                    <a:lnT w="6350" cap="flat" cmpd="sng" algn="ctr">
                      <a:solidFill>
                        <a:srgbClr val="C5D8D8"/>
                      </a:solidFill>
                      <a:prstDash val="solid"/>
                      <a:round/>
                      <a:headEnd type="none" w="med" len="med"/>
                      <a:tailEnd type="none" w="med" len="med"/>
                    </a:lnT>
                    <a:lnB w="6350" cap="flat" cmpd="sng" algn="ctr">
                      <a:solidFill>
                        <a:srgbClr val="C5D8D8"/>
                      </a:solidFill>
                      <a:prstDash val="solid"/>
                      <a:round/>
                      <a:headEnd type="none" w="med" len="med"/>
                      <a:tailEnd type="none" w="med" len="med"/>
                    </a:lnB>
                  </a:tcPr>
                </a:tc>
                <a:extLst>
                  <a:ext uri="{0D108BD9-81ED-4DB2-BD59-A6C34878D82A}">
                    <a16:rowId xmlns:a16="http://schemas.microsoft.com/office/drawing/2014/main" val="10002"/>
                  </a:ext>
                </a:extLst>
              </a:tr>
              <a:tr h="228600">
                <a:tc>
                  <a:txBody>
                    <a:bodyPr/>
                    <a:lstStyle/>
                    <a:p>
                      <a:pPr marL="0" indent="0">
                        <a:buNone/>
                      </a:pPr>
                      <a:r>
                        <a:rPr lang="en-US" sz="850" b="1" dirty="0">
                          <a:solidFill>
                            <a:srgbClr val="0A595F"/>
                          </a:solidFill>
                          <a:latin typeface="Calibri" pitchFamily="34" charset="0"/>
                          <a:ea typeface="Calibri" pitchFamily="34" charset="-122"/>
                          <a:cs typeface="Calibri" pitchFamily="34" charset="-120"/>
                        </a:rPr>
                        <a:t>Technology_Costs</a:t>
                      </a:r>
                      <a:endParaRPr lang="en-US" sz="850" dirty="0">
                        <a:latin typeface="Calibri" charset="0"/>
                        <a:ea typeface="Calibri" charset="0"/>
                        <a:cs typeface="Calibri" charset="0"/>
                      </a:endParaRPr>
                    </a:p>
                  </a:txBody>
                  <a:tcPr>
                    <a:lnL w="6350" cap="flat" cmpd="sng" algn="ctr">
                      <a:solidFill>
                        <a:srgbClr val="C5D8D8"/>
                      </a:solidFill>
                      <a:prstDash val="solid"/>
                      <a:round/>
                      <a:headEnd type="none" w="med" len="med"/>
                      <a:tailEnd type="none" w="med" len="med"/>
                    </a:lnL>
                    <a:lnR w="6350" cap="flat" cmpd="sng" algn="ctr">
                      <a:solidFill>
                        <a:srgbClr val="C5D8D8"/>
                      </a:solidFill>
                      <a:prstDash val="solid"/>
                      <a:round/>
                      <a:headEnd type="none" w="med" len="med"/>
                      <a:tailEnd type="none" w="med" len="med"/>
                    </a:lnR>
                    <a:lnT w="6350" cap="flat" cmpd="sng" algn="ctr">
                      <a:solidFill>
                        <a:srgbClr val="C5D8D8"/>
                      </a:solidFill>
                      <a:prstDash val="solid"/>
                      <a:round/>
                      <a:headEnd type="none" w="med" len="med"/>
                      <a:tailEnd type="none" w="med" len="med"/>
                    </a:lnT>
                    <a:lnB w="6350" cap="flat" cmpd="sng" algn="ctr">
                      <a:solidFill>
                        <a:srgbClr val="C5D8D8"/>
                      </a:solidFill>
                      <a:prstDash val="solid"/>
                      <a:round/>
                      <a:headEnd type="none" w="med" len="med"/>
                      <a:tailEnd type="none" w="med" len="med"/>
                    </a:lnB>
                  </a:tcPr>
                </a:tc>
                <a:tc>
                  <a:txBody>
                    <a:bodyPr/>
                    <a:lstStyle/>
                    <a:p>
                      <a:pPr marL="0" indent="0" algn="r">
                        <a:buNone/>
                      </a:pPr>
                      <a:r>
                        <a:rPr lang="en-US" sz="850" dirty="0">
                          <a:solidFill>
                            <a:srgbClr val="334155"/>
                          </a:solidFill>
                          <a:latin typeface="Calibri" pitchFamily="34" charset="0"/>
                          <a:ea typeface="Calibri" pitchFamily="34" charset="-122"/>
                          <a:cs typeface="Calibri" pitchFamily="34" charset="-120"/>
                        </a:rPr>
                        <a:t>182</a:t>
                      </a:r>
                      <a:endParaRPr lang="en-US" sz="850" dirty="0">
                        <a:latin typeface="Calibri" charset="0"/>
                        <a:ea typeface="Calibri" charset="0"/>
                        <a:cs typeface="Calibri" charset="0"/>
                      </a:endParaRPr>
                    </a:p>
                  </a:txBody>
                  <a:tcPr>
                    <a:lnL w="6350" cap="flat" cmpd="sng" algn="ctr">
                      <a:solidFill>
                        <a:srgbClr val="C5D8D8"/>
                      </a:solidFill>
                      <a:prstDash val="solid"/>
                      <a:round/>
                      <a:headEnd type="none" w="med" len="med"/>
                      <a:tailEnd type="none" w="med" len="med"/>
                    </a:lnL>
                    <a:lnR w="6350" cap="flat" cmpd="sng" algn="ctr">
                      <a:solidFill>
                        <a:srgbClr val="C5D8D8"/>
                      </a:solidFill>
                      <a:prstDash val="solid"/>
                      <a:round/>
                      <a:headEnd type="none" w="med" len="med"/>
                      <a:tailEnd type="none" w="med" len="med"/>
                    </a:lnR>
                    <a:lnT w="6350" cap="flat" cmpd="sng" algn="ctr">
                      <a:solidFill>
                        <a:srgbClr val="C5D8D8"/>
                      </a:solidFill>
                      <a:prstDash val="solid"/>
                      <a:round/>
                      <a:headEnd type="none" w="med" len="med"/>
                      <a:tailEnd type="none" w="med" len="med"/>
                    </a:lnT>
                    <a:lnB w="6350" cap="flat" cmpd="sng" algn="ctr">
                      <a:solidFill>
                        <a:srgbClr val="C5D8D8"/>
                      </a:solidFill>
                      <a:prstDash val="solid"/>
                      <a:round/>
                      <a:headEnd type="none" w="med" len="med"/>
                      <a:tailEnd type="none" w="med" len="med"/>
                    </a:lnB>
                  </a:tcPr>
                </a:tc>
                <a:tc>
                  <a:txBody>
                    <a:bodyPr/>
                    <a:lstStyle/>
                    <a:p>
                      <a:pPr marL="0" indent="0">
                        <a:buNone/>
                      </a:pPr>
                      <a:r>
                        <a:rPr lang="en-US" sz="850" dirty="0">
                          <a:solidFill>
                            <a:srgbClr val="334155"/>
                          </a:solidFill>
                          <a:latin typeface="Calibri" pitchFamily="34" charset="0"/>
                          <a:ea typeface="Calibri" pitchFamily="34" charset="-122"/>
                          <a:cs typeface="Calibri" pitchFamily="34" charset="-120"/>
                        </a:rPr>
                        <a:t>3 cost scenarios × 7 milestone years (2023–2050)</a:t>
                      </a:r>
                      <a:endParaRPr lang="en-US" sz="850" dirty="0">
                        <a:latin typeface="Calibri" charset="0"/>
                        <a:ea typeface="Calibri" charset="0"/>
                        <a:cs typeface="Calibri" charset="0"/>
                      </a:endParaRPr>
                    </a:p>
                  </a:txBody>
                  <a:tcPr>
                    <a:lnL w="6350" cap="flat" cmpd="sng" algn="ctr">
                      <a:solidFill>
                        <a:srgbClr val="C5D8D8"/>
                      </a:solidFill>
                      <a:prstDash val="solid"/>
                      <a:round/>
                      <a:headEnd type="none" w="med" len="med"/>
                      <a:tailEnd type="none" w="med" len="med"/>
                    </a:lnL>
                    <a:lnR w="6350" cap="flat" cmpd="sng" algn="ctr">
                      <a:solidFill>
                        <a:srgbClr val="C5D8D8"/>
                      </a:solidFill>
                      <a:prstDash val="solid"/>
                      <a:round/>
                      <a:headEnd type="none" w="med" len="med"/>
                      <a:tailEnd type="none" w="med" len="med"/>
                    </a:lnR>
                    <a:lnT w="6350" cap="flat" cmpd="sng" algn="ctr">
                      <a:solidFill>
                        <a:srgbClr val="C5D8D8"/>
                      </a:solidFill>
                      <a:prstDash val="solid"/>
                      <a:round/>
                      <a:headEnd type="none" w="med" len="med"/>
                      <a:tailEnd type="none" w="med" len="med"/>
                    </a:lnT>
                    <a:lnB w="6350" cap="flat" cmpd="sng" algn="ctr">
                      <a:solidFill>
                        <a:srgbClr val="C5D8D8"/>
                      </a:solidFill>
                      <a:prstDash val="solid"/>
                      <a:round/>
                      <a:headEnd type="none" w="med" len="med"/>
                      <a:tailEnd type="none" w="med" len="med"/>
                    </a:lnB>
                  </a:tcPr>
                </a:tc>
                <a:extLst>
                  <a:ext uri="{0D108BD9-81ED-4DB2-BD59-A6C34878D82A}">
                    <a16:rowId xmlns:a16="http://schemas.microsoft.com/office/drawing/2014/main" val="10003"/>
                  </a:ext>
                </a:extLst>
              </a:tr>
              <a:tr h="228600">
                <a:tc>
                  <a:txBody>
                    <a:bodyPr/>
                    <a:lstStyle/>
                    <a:p>
                      <a:pPr marL="0" indent="0">
                        <a:buNone/>
                      </a:pPr>
                      <a:r>
                        <a:rPr lang="en-US" sz="850" b="1" dirty="0">
                          <a:solidFill>
                            <a:srgbClr val="0A595F"/>
                          </a:solidFill>
                          <a:latin typeface="Calibri" pitchFamily="34" charset="0"/>
                          <a:ea typeface="Calibri" pitchFamily="34" charset="-122"/>
                          <a:cs typeface="Calibri" pitchFamily="34" charset="-120"/>
                        </a:rPr>
                        <a:t>Fuel_Costs</a:t>
                      </a:r>
                      <a:endParaRPr lang="en-US" sz="850" dirty="0">
                        <a:latin typeface="Calibri" charset="0"/>
                        <a:ea typeface="Calibri" charset="0"/>
                        <a:cs typeface="Calibri" charset="0"/>
                      </a:endParaRPr>
                    </a:p>
                  </a:txBody>
                  <a:tcPr>
                    <a:lnL w="6350" cap="flat" cmpd="sng" algn="ctr">
                      <a:solidFill>
                        <a:srgbClr val="C5D8D8"/>
                      </a:solidFill>
                      <a:prstDash val="solid"/>
                      <a:round/>
                      <a:headEnd type="none" w="med" len="med"/>
                      <a:tailEnd type="none" w="med" len="med"/>
                    </a:lnL>
                    <a:lnR w="6350" cap="flat" cmpd="sng" algn="ctr">
                      <a:solidFill>
                        <a:srgbClr val="C5D8D8"/>
                      </a:solidFill>
                      <a:prstDash val="solid"/>
                      <a:round/>
                      <a:headEnd type="none" w="med" len="med"/>
                      <a:tailEnd type="none" w="med" len="med"/>
                    </a:lnR>
                    <a:lnT w="6350" cap="flat" cmpd="sng" algn="ctr">
                      <a:solidFill>
                        <a:srgbClr val="C5D8D8"/>
                      </a:solidFill>
                      <a:prstDash val="solid"/>
                      <a:round/>
                      <a:headEnd type="none" w="med" len="med"/>
                      <a:tailEnd type="none" w="med" len="med"/>
                    </a:lnT>
                    <a:lnB w="6350" cap="flat" cmpd="sng" algn="ctr">
                      <a:solidFill>
                        <a:srgbClr val="C5D8D8"/>
                      </a:solidFill>
                      <a:prstDash val="solid"/>
                      <a:round/>
                      <a:headEnd type="none" w="med" len="med"/>
                      <a:tailEnd type="none" w="med" len="med"/>
                    </a:lnB>
                  </a:tcPr>
                </a:tc>
                <a:tc>
                  <a:txBody>
                    <a:bodyPr/>
                    <a:lstStyle/>
                    <a:p>
                      <a:pPr marL="0" indent="0" algn="r">
                        <a:buNone/>
                      </a:pPr>
                      <a:r>
                        <a:rPr lang="en-US" sz="850" dirty="0">
                          <a:solidFill>
                            <a:srgbClr val="334155"/>
                          </a:solidFill>
                          <a:latin typeface="Calibri" pitchFamily="34" charset="0"/>
                          <a:ea typeface="Calibri" pitchFamily="34" charset="-122"/>
                          <a:cs typeface="Calibri" pitchFamily="34" charset="-120"/>
                        </a:rPr>
                        <a:t>27</a:t>
                      </a:r>
                      <a:endParaRPr lang="en-US" sz="850" dirty="0">
                        <a:latin typeface="Calibri" charset="0"/>
                        <a:ea typeface="Calibri" charset="0"/>
                        <a:cs typeface="Calibri" charset="0"/>
                      </a:endParaRPr>
                    </a:p>
                  </a:txBody>
                  <a:tcPr>
                    <a:lnL w="6350" cap="flat" cmpd="sng" algn="ctr">
                      <a:solidFill>
                        <a:srgbClr val="C5D8D8"/>
                      </a:solidFill>
                      <a:prstDash val="solid"/>
                      <a:round/>
                      <a:headEnd type="none" w="med" len="med"/>
                      <a:tailEnd type="none" w="med" len="med"/>
                    </a:lnL>
                    <a:lnR w="6350" cap="flat" cmpd="sng" algn="ctr">
                      <a:solidFill>
                        <a:srgbClr val="C5D8D8"/>
                      </a:solidFill>
                      <a:prstDash val="solid"/>
                      <a:round/>
                      <a:headEnd type="none" w="med" len="med"/>
                      <a:tailEnd type="none" w="med" len="med"/>
                    </a:lnR>
                    <a:lnT w="6350" cap="flat" cmpd="sng" algn="ctr">
                      <a:solidFill>
                        <a:srgbClr val="C5D8D8"/>
                      </a:solidFill>
                      <a:prstDash val="solid"/>
                      <a:round/>
                      <a:headEnd type="none" w="med" len="med"/>
                      <a:tailEnd type="none" w="med" len="med"/>
                    </a:lnT>
                    <a:lnB w="6350" cap="flat" cmpd="sng" algn="ctr">
                      <a:solidFill>
                        <a:srgbClr val="C5D8D8"/>
                      </a:solidFill>
                      <a:prstDash val="solid"/>
                      <a:round/>
                      <a:headEnd type="none" w="med" len="med"/>
                      <a:tailEnd type="none" w="med" len="med"/>
                    </a:lnB>
                  </a:tcPr>
                </a:tc>
                <a:tc>
                  <a:txBody>
                    <a:bodyPr/>
                    <a:lstStyle/>
                    <a:p>
                      <a:pPr marL="0" indent="0">
                        <a:buNone/>
                      </a:pPr>
                      <a:r>
                        <a:rPr lang="en-US" sz="850" dirty="0">
                          <a:solidFill>
                            <a:srgbClr val="334155"/>
                          </a:solidFill>
                          <a:latin typeface="Calibri" pitchFamily="34" charset="0"/>
                          <a:ea typeface="Calibri" pitchFamily="34" charset="-122"/>
                          <a:cs typeface="Calibri" pitchFamily="34" charset="-120"/>
                        </a:rPr>
                        <a:t>Crude, coal, LNG, diesel — 3 scenario trajectories</a:t>
                      </a:r>
                      <a:endParaRPr lang="en-US" sz="850" dirty="0">
                        <a:latin typeface="Calibri" charset="0"/>
                        <a:ea typeface="Calibri" charset="0"/>
                        <a:cs typeface="Calibri" charset="0"/>
                      </a:endParaRPr>
                    </a:p>
                  </a:txBody>
                  <a:tcPr>
                    <a:lnL w="6350" cap="flat" cmpd="sng" algn="ctr">
                      <a:solidFill>
                        <a:srgbClr val="C5D8D8"/>
                      </a:solidFill>
                      <a:prstDash val="solid"/>
                      <a:round/>
                      <a:headEnd type="none" w="med" len="med"/>
                      <a:tailEnd type="none" w="med" len="med"/>
                    </a:lnL>
                    <a:lnR w="6350" cap="flat" cmpd="sng" algn="ctr">
                      <a:solidFill>
                        <a:srgbClr val="C5D8D8"/>
                      </a:solidFill>
                      <a:prstDash val="solid"/>
                      <a:round/>
                      <a:headEnd type="none" w="med" len="med"/>
                      <a:tailEnd type="none" w="med" len="med"/>
                    </a:lnR>
                    <a:lnT w="6350" cap="flat" cmpd="sng" algn="ctr">
                      <a:solidFill>
                        <a:srgbClr val="C5D8D8"/>
                      </a:solidFill>
                      <a:prstDash val="solid"/>
                      <a:round/>
                      <a:headEnd type="none" w="med" len="med"/>
                      <a:tailEnd type="none" w="med" len="med"/>
                    </a:lnT>
                    <a:lnB w="6350" cap="flat" cmpd="sng" algn="ctr">
                      <a:solidFill>
                        <a:srgbClr val="C5D8D8"/>
                      </a:solidFill>
                      <a:prstDash val="solid"/>
                      <a:round/>
                      <a:headEnd type="none" w="med" len="med"/>
                      <a:tailEnd type="none" w="med" len="med"/>
                    </a:lnB>
                  </a:tcPr>
                </a:tc>
                <a:extLst>
                  <a:ext uri="{0D108BD9-81ED-4DB2-BD59-A6C34878D82A}">
                    <a16:rowId xmlns:a16="http://schemas.microsoft.com/office/drawing/2014/main" val="10004"/>
                  </a:ext>
                </a:extLst>
              </a:tr>
              <a:tr h="228600">
                <a:tc>
                  <a:txBody>
                    <a:bodyPr/>
                    <a:lstStyle/>
                    <a:p>
                      <a:pPr marL="0" indent="0">
                        <a:buNone/>
                      </a:pPr>
                      <a:r>
                        <a:rPr lang="en-US" sz="850" b="1" dirty="0">
                          <a:solidFill>
                            <a:srgbClr val="0A595F"/>
                          </a:solidFill>
                          <a:latin typeface="Calibri" pitchFamily="34" charset="0"/>
                          <a:ea typeface="Calibri" pitchFamily="34" charset="-122"/>
                          <a:cs typeface="Calibri" pitchFamily="34" charset="-120"/>
                        </a:rPr>
                        <a:t>Country_Multipliers</a:t>
                      </a:r>
                      <a:endParaRPr lang="en-US" sz="850" dirty="0">
                        <a:latin typeface="Calibri" charset="0"/>
                        <a:ea typeface="Calibri" charset="0"/>
                        <a:cs typeface="Calibri" charset="0"/>
                      </a:endParaRPr>
                    </a:p>
                  </a:txBody>
                  <a:tcPr>
                    <a:lnL w="6350" cap="flat" cmpd="sng" algn="ctr">
                      <a:solidFill>
                        <a:srgbClr val="C5D8D8"/>
                      </a:solidFill>
                      <a:prstDash val="solid"/>
                      <a:round/>
                      <a:headEnd type="none" w="med" len="med"/>
                      <a:tailEnd type="none" w="med" len="med"/>
                    </a:lnL>
                    <a:lnR w="6350" cap="flat" cmpd="sng" algn="ctr">
                      <a:solidFill>
                        <a:srgbClr val="C5D8D8"/>
                      </a:solidFill>
                      <a:prstDash val="solid"/>
                      <a:round/>
                      <a:headEnd type="none" w="med" len="med"/>
                      <a:tailEnd type="none" w="med" len="med"/>
                    </a:lnR>
                    <a:lnT w="6350" cap="flat" cmpd="sng" algn="ctr">
                      <a:solidFill>
                        <a:srgbClr val="C5D8D8"/>
                      </a:solidFill>
                      <a:prstDash val="solid"/>
                      <a:round/>
                      <a:headEnd type="none" w="med" len="med"/>
                      <a:tailEnd type="none" w="med" len="med"/>
                    </a:lnT>
                    <a:lnB w="6350" cap="flat" cmpd="sng" algn="ctr">
                      <a:solidFill>
                        <a:srgbClr val="C5D8D8"/>
                      </a:solidFill>
                      <a:prstDash val="solid"/>
                      <a:round/>
                      <a:headEnd type="none" w="med" len="med"/>
                      <a:tailEnd type="none" w="med" len="med"/>
                    </a:lnB>
                  </a:tcPr>
                </a:tc>
                <a:tc>
                  <a:txBody>
                    <a:bodyPr/>
                    <a:lstStyle/>
                    <a:p>
                      <a:pPr marL="0" indent="0" algn="r">
                        <a:buNone/>
                      </a:pPr>
                      <a:r>
                        <a:rPr lang="en-US" sz="850" dirty="0">
                          <a:solidFill>
                            <a:srgbClr val="334155"/>
                          </a:solidFill>
                          <a:latin typeface="Calibri" pitchFamily="34" charset="0"/>
                          <a:ea typeface="Calibri" pitchFamily="34" charset="-122"/>
                          <a:cs typeface="Calibri" pitchFamily="34" charset="-120"/>
                        </a:rPr>
                        <a:t>15</a:t>
                      </a:r>
                      <a:endParaRPr lang="en-US" sz="850" dirty="0">
                        <a:latin typeface="Calibri" charset="0"/>
                        <a:ea typeface="Calibri" charset="0"/>
                        <a:cs typeface="Calibri" charset="0"/>
                      </a:endParaRPr>
                    </a:p>
                  </a:txBody>
                  <a:tcPr>
                    <a:lnL w="6350" cap="flat" cmpd="sng" algn="ctr">
                      <a:solidFill>
                        <a:srgbClr val="C5D8D8"/>
                      </a:solidFill>
                      <a:prstDash val="solid"/>
                      <a:round/>
                      <a:headEnd type="none" w="med" len="med"/>
                      <a:tailEnd type="none" w="med" len="med"/>
                    </a:lnL>
                    <a:lnR w="6350" cap="flat" cmpd="sng" algn="ctr">
                      <a:solidFill>
                        <a:srgbClr val="C5D8D8"/>
                      </a:solidFill>
                      <a:prstDash val="solid"/>
                      <a:round/>
                      <a:headEnd type="none" w="med" len="med"/>
                      <a:tailEnd type="none" w="med" len="med"/>
                    </a:lnR>
                    <a:lnT w="6350" cap="flat" cmpd="sng" algn="ctr">
                      <a:solidFill>
                        <a:srgbClr val="C5D8D8"/>
                      </a:solidFill>
                      <a:prstDash val="solid"/>
                      <a:round/>
                      <a:headEnd type="none" w="med" len="med"/>
                      <a:tailEnd type="none" w="med" len="med"/>
                    </a:lnT>
                    <a:lnB w="6350" cap="flat" cmpd="sng" algn="ctr">
                      <a:solidFill>
                        <a:srgbClr val="C5D8D8"/>
                      </a:solidFill>
                      <a:prstDash val="solid"/>
                      <a:round/>
                      <a:headEnd type="none" w="med" len="med"/>
                      <a:tailEnd type="none" w="med" len="med"/>
                    </a:lnB>
                  </a:tcPr>
                </a:tc>
                <a:tc>
                  <a:txBody>
                    <a:bodyPr/>
                    <a:lstStyle/>
                    <a:p>
                      <a:pPr marL="0" indent="0">
                        <a:buNone/>
                      </a:pPr>
                      <a:r>
                        <a:rPr lang="en-US" sz="850" dirty="0">
                          <a:solidFill>
                            <a:srgbClr val="334155"/>
                          </a:solidFill>
                          <a:latin typeface="Calibri" pitchFamily="34" charset="0"/>
                          <a:ea typeface="Calibri" pitchFamily="34" charset="-122"/>
                          <a:cs typeface="Calibri" pitchFamily="34" charset="-120"/>
                        </a:rPr>
                        <a:t>India-anchored cost adjustments with source/flag per cell</a:t>
                      </a:r>
                      <a:endParaRPr lang="en-US" sz="850" dirty="0">
                        <a:latin typeface="Calibri" charset="0"/>
                        <a:ea typeface="Calibri" charset="0"/>
                        <a:cs typeface="Calibri" charset="0"/>
                      </a:endParaRPr>
                    </a:p>
                  </a:txBody>
                  <a:tcPr>
                    <a:lnL w="6350" cap="flat" cmpd="sng" algn="ctr">
                      <a:solidFill>
                        <a:srgbClr val="C5D8D8"/>
                      </a:solidFill>
                      <a:prstDash val="solid"/>
                      <a:round/>
                      <a:headEnd type="none" w="med" len="med"/>
                      <a:tailEnd type="none" w="med" len="med"/>
                    </a:lnL>
                    <a:lnR w="6350" cap="flat" cmpd="sng" algn="ctr">
                      <a:solidFill>
                        <a:srgbClr val="C5D8D8"/>
                      </a:solidFill>
                      <a:prstDash val="solid"/>
                      <a:round/>
                      <a:headEnd type="none" w="med" len="med"/>
                      <a:tailEnd type="none" w="med" len="med"/>
                    </a:lnR>
                    <a:lnT w="6350" cap="flat" cmpd="sng" algn="ctr">
                      <a:solidFill>
                        <a:srgbClr val="C5D8D8"/>
                      </a:solidFill>
                      <a:prstDash val="solid"/>
                      <a:round/>
                      <a:headEnd type="none" w="med" len="med"/>
                      <a:tailEnd type="none" w="med" len="med"/>
                    </a:lnT>
                    <a:lnB w="6350" cap="flat" cmpd="sng" algn="ctr">
                      <a:solidFill>
                        <a:srgbClr val="C5D8D8"/>
                      </a:solidFill>
                      <a:prstDash val="solid"/>
                      <a:round/>
                      <a:headEnd type="none" w="med" len="med"/>
                      <a:tailEnd type="none" w="med" len="med"/>
                    </a:lnB>
                  </a:tcPr>
                </a:tc>
                <a:extLst>
                  <a:ext uri="{0D108BD9-81ED-4DB2-BD59-A6C34878D82A}">
                    <a16:rowId xmlns:a16="http://schemas.microsoft.com/office/drawing/2014/main" val="10005"/>
                  </a:ext>
                </a:extLst>
              </a:tr>
              <a:tr h="228600">
                <a:tc>
                  <a:txBody>
                    <a:bodyPr/>
                    <a:lstStyle/>
                    <a:p>
                      <a:pPr marL="0" indent="0">
                        <a:buNone/>
                      </a:pPr>
                      <a:r>
                        <a:rPr lang="en-US" sz="850" b="1" dirty="0">
                          <a:solidFill>
                            <a:srgbClr val="0A595F"/>
                          </a:solidFill>
                          <a:latin typeface="Calibri" pitchFamily="34" charset="0"/>
                          <a:ea typeface="Calibri" pitchFamily="34" charset="-122"/>
                          <a:cs typeface="Calibri" pitchFamily="34" charset="-120"/>
                        </a:rPr>
                        <a:t>Interconnectors</a:t>
                      </a:r>
                      <a:endParaRPr lang="en-US" sz="850" dirty="0">
                        <a:latin typeface="Calibri" charset="0"/>
                        <a:ea typeface="Calibri" charset="0"/>
                        <a:cs typeface="Calibri" charset="0"/>
                      </a:endParaRPr>
                    </a:p>
                  </a:txBody>
                  <a:tcPr>
                    <a:lnL w="6350" cap="flat" cmpd="sng" algn="ctr">
                      <a:solidFill>
                        <a:srgbClr val="C5D8D8"/>
                      </a:solidFill>
                      <a:prstDash val="solid"/>
                      <a:round/>
                      <a:headEnd type="none" w="med" len="med"/>
                      <a:tailEnd type="none" w="med" len="med"/>
                    </a:lnL>
                    <a:lnR w="6350" cap="flat" cmpd="sng" algn="ctr">
                      <a:solidFill>
                        <a:srgbClr val="C5D8D8"/>
                      </a:solidFill>
                      <a:prstDash val="solid"/>
                      <a:round/>
                      <a:headEnd type="none" w="med" len="med"/>
                      <a:tailEnd type="none" w="med" len="med"/>
                    </a:lnR>
                    <a:lnT w="6350" cap="flat" cmpd="sng" algn="ctr">
                      <a:solidFill>
                        <a:srgbClr val="C5D8D8"/>
                      </a:solidFill>
                      <a:prstDash val="solid"/>
                      <a:round/>
                      <a:headEnd type="none" w="med" len="med"/>
                      <a:tailEnd type="none" w="med" len="med"/>
                    </a:lnT>
                    <a:lnB w="6350" cap="flat" cmpd="sng" algn="ctr">
                      <a:solidFill>
                        <a:srgbClr val="C5D8D8"/>
                      </a:solidFill>
                      <a:prstDash val="solid"/>
                      <a:round/>
                      <a:headEnd type="none" w="med" len="med"/>
                      <a:tailEnd type="none" w="med" len="med"/>
                    </a:lnB>
                  </a:tcPr>
                </a:tc>
                <a:tc>
                  <a:txBody>
                    <a:bodyPr/>
                    <a:lstStyle/>
                    <a:p>
                      <a:pPr marL="0" indent="0" algn="r">
                        <a:buNone/>
                      </a:pPr>
                      <a:r>
                        <a:rPr lang="en-US" sz="850" dirty="0">
                          <a:solidFill>
                            <a:srgbClr val="334155"/>
                          </a:solidFill>
                          <a:latin typeface="Calibri" pitchFamily="34" charset="0"/>
                          <a:ea typeface="Calibri" pitchFamily="34" charset="-122"/>
                          <a:cs typeface="Calibri" pitchFamily="34" charset="-120"/>
                        </a:rPr>
                        <a:t>14</a:t>
                      </a:r>
                      <a:endParaRPr lang="en-US" sz="850" dirty="0">
                        <a:latin typeface="Calibri" charset="0"/>
                        <a:ea typeface="Calibri" charset="0"/>
                        <a:cs typeface="Calibri" charset="0"/>
                      </a:endParaRPr>
                    </a:p>
                  </a:txBody>
                  <a:tcPr>
                    <a:lnL w="6350" cap="flat" cmpd="sng" algn="ctr">
                      <a:solidFill>
                        <a:srgbClr val="C5D8D8"/>
                      </a:solidFill>
                      <a:prstDash val="solid"/>
                      <a:round/>
                      <a:headEnd type="none" w="med" len="med"/>
                      <a:tailEnd type="none" w="med" len="med"/>
                    </a:lnL>
                    <a:lnR w="6350" cap="flat" cmpd="sng" algn="ctr">
                      <a:solidFill>
                        <a:srgbClr val="C5D8D8"/>
                      </a:solidFill>
                      <a:prstDash val="solid"/>
                      <a:round/>
                      <a:headEnd type="none" w="med" len="med"/>
                      <a:tailEnd type="none" w="med" len="med"/>
                    </a:lnR>
                    <a:lnT w="6350" cap="flat" cmpd="sng" algn="ctr">
                      <a:solidFill>
                        <a:srgbClr val="C5D8D8"/>
                      </a:solidFill>
                      <a:prstDash val="solid"/>
                      <a:round/>
                      <a:headEnd type="none" w="med" len="med"/>
                      <a:tailEnd type="none" w="med" len="med"/>
                    </a:lnT>
                    <a:lnB w="6350" cap="flat" cmpd="sng" algn="ctr">
                      <a:solidFill>
                        <a:srgbClr val="C5D8D8"/>
                      </a:solidFill>
                      <a:prstDash val="solid"/>
                      <a:round/>
                      <a:headEnd type="none" w="med" len="med"/>
                      <a:tailEnd type="none" w="med" len="med"/>
                    </a:lnB>
                  </a:tcPr>
                </a:tc>
                <a:tc>
                  <a:txBody>
                    <a:bodyPr/>
                    <a:lstStyle/>
                    <a:p>
                      <a:pPr marL="0" indent="0">
                        <a:buNone/>
                      </a:pPr>
                      <a:r>
                        <a:rPr lang="en-US" sz="850" dirty="0">
                          <a:solidFill>
                            <a:srgbClr val="334155"/>
                          </a:solidFill>
                          <a:latin typeface="Calibri" pitchFamily="34" charset="0"/>
                          <a:ea typeface="Calibri" pitchFamily="34" charset="-122"/>
                          <a:cs typeface="Calibri" pitchFamily="34" charset="-120"/>
                        </a:rPr>
                        <a:t>13 cross-border corridors: CAPEX, loss %, lifetime</a:t>
                      </a:r>
                      <a:endParaRPr lang="en-US" sz="850" dirty="0">
                        <a:latin typeface="Calibri" charset="0"/>
                        <a:ea typeface="Calibri" charset="0"/>
                        <a:cs typeface="Calibri" charset="0"/>
                      </a:endParaRPr>
                    </a:p>
                  </a:txBody>
                  <a:tcPr>
                    <a:lnL w="6350" cap="flat" cmpd="sng" algn="ctr">
                      <a:solidFill>
                        <a:srgbClr val="C5D8D8"/>
                      </a:solidFill>
                      <a:prstDash val="solid"/>
                      <a:round/>
                      <a:headEnd type="none" w="med" len="med"/>
                      <a:tailEnd type="none" w="med" len="med"/>
                    </a:lnL>
                    <a:lnR w="6350" cap="flat" cmpd="sng" algn="ctr">
                      <a:solidFill>
                        <a:srgbClr val="C5D8D8"/>
                      </a:solidFill>
                      <a:prstDash val="solid"/>
                      <a:round/>
                      <a:headEnd type="none" w="med" len="med"/>
                      <a:tailEnd type="none" w="med" len="med"/>
                    </a:lnR>
                    <a:lnT w="6350" cap="flat" cmpd="sng" algn="ctr">
                      <a:solidFill>
                        <a:srgbClr val="C5D8D8"/>
                      </a:solidFill>
                      <a:prstDash val="solid"/>
                      <a:round/>
                      <a:headEnd type="none" w="med" len="med"/>
                      <a:tailEnd type="none" w="med" len="med"/>
                    </a:lnT>
                    <a:lnB w="6350" cap="flat" cmpd="sng" algn="ctr">
                      <a:solidFill>
                        <a:srgbClr val="C5D8D8"/>
                      </a:solidFill>
                      <a:prstDash val="solid"/>
                      <a:round/>
                      <a:headEnd type="none" w="med" len="med"/>
                      <a:tailEnd type="none" w="med" len="med"/>
                    </a:lnB>
                  </a:tcPr>
                </a:tc>
                <a:extLst>
                  <a:ext uri="{0D108BD9-81ED-4DB2-BD59-A6C34878D82A}">
                    <a16:rowId xmlns:a16="http://schemas.microsoft.com/office/drawing/2014/main" val="10006"/>
                  </a:ext>
                </a:extLst>
              </a:tr>
              <a:tr h="228600">
                <a:tc>
                  <a:txBody>
                    <a:bodyPr/>
                    <a:lstStyle/>
                    <a:p>
                      <a:pPr marL="0" indent="0">
                        <a:buNone/>
                      </a:pPr>
                      <a:r>
                        <a:rPr lang="en-US" sz="850" b="1" dirty="0">
                          <a:solidFill>
                            <a:srgbClr val="0A595F"/>
                          </a:solidFill>
                          <a:latin typeface="Calibri" pitchFamily="34" charset="0"/>
                          <a:ea typeface="Calibri" pitchFamily="34" charset="-122"/>
                          <a:cs typeface="Calibri" pitchFamily="34" charset="-120"/>
                        </a:rPr>
                        <a:t>Demand_Forecasts</a:t>
                      </a:r>
                      <a:endParaRPr lang="en-US" sz="850" dirty="0">
                        <a:latin typeface="Calibri" charset="0"/>
                        <a:ea typeface="Calibri" charset="0"/>
                        <a:cs typeface="Calibri" charset="0"/>
                      </a:endParaRPr>
                    </a:p>
                  </a:txBody>
                  <a:tcPr>
                    <a:lnL w="6350" cap="flat" cmpd="sng" algn="ctr">
                      <a:solidFill>
                        <a:srgbClr val="C5D8D8"/>
                      </a:solidFill>
                      <a:prstDash val="solid"/>
                      <a:round/>
                      <a:headEnd type="none" w="med" len="med"/>
                      <a:tailEnd type="none" w="med" len="med"/>
                    </a:lnL>
                    <a:lnR w="6350" cap="flat" cmpd="sng" algn="ctr">
                      <a:solidFill>
                        <a:srgbClr val="C5D8D8"/>
                      </a:solidFill>
                      <a:prstDash val="solid"/>
                      <a:round/>
                      <a:headEnd type="none" w="med" len="med"/>
                      <a:tailEnd type="none" w="med" len="med"/>
                    </a:lnR>
                    <a:lnT w="6350" cap="flat" cmpd="sng" algn="ctr">
                      <a:solidFill>
                        <a:srgbClr val="C5D8D8"/>
                      </a:solidFill>
                      <a:prstDash val="solid"/>
                      <a:round/>
                      <a:headEnd type="none" w="med" len="med"/>
                      <a:tailEnd type="none" w="med" len="med"/>
                    </a:lnT>
                    <a:lnB w="6350" cap="flat" cmpd="sng" algn="ctr">
                      <a:solidFill>
                        <a:srgbClr val="C5D8D8"/>
                      </a:solidFill>
                      <a:prstDash val="solid"/>
                      <a:round/>
                      <a:headEnd type="none" w="med" len="med"/>
                      <a:tailEnd type="none" w="med" len="med"/>
                    </a:lnB>
                  </a:tcPr>
                </a:tc>
                <a:tc>
                  <a:txBody>
                    <a:bodyPr/>
                    <a:lstStyle/>
                    <a:p>
                      <a:pPr marL="0" indent="0" algn="r">
                        <a:buNone/>
                      </a:pPr>
                      <a:r>
                        <a:rPr lang="en-US" sz="850" dirty="0">
                          <a:solidFill>
                            <a:srgbClr val="334155"/>
                          </a:solidFill>
                          <a:latin typeface="Calibri" pitchFamily="34" charset="0"/>
                          <a:ea typeface="Calibri" pitchFamily="34" charset="-122"/>
                          <a:cs typeface="Calibri" pitchFamily="34" charset="-120"/>
                        </a:rPr>
                        <a:t>185</a:t>
                      </a:r>
                      <a:endParaRPr lang="en-US" sz="850" dirty="0">
                        <a:latin typeface="Calibri" charset="0"/>
                        <a:ea typeface="Calibri" charset="0"/>
                        <a:cs typeface="Calibri" charset="0"/>
                      </a:endParaRPr>
                    </a:p>
                  </a:txBody>
                  <a:tcPr>
                    <a:lnL w="6350" cap="flat" cmpd="sng" algn="ctr">
                      <a:solidFill>
                        <a:srgbClr val="C5D8D8"/>
                      </a:solidFill>
                      <a:prstDash val="solid"/>
                      <a:round/>
                      <a:headEnd type="none" w="med" len="med"/>
                      <a:tailEnd type="none" w="med" len="med"/>
                    </a:lnL>
                    <a:lnR w="6350" cap="flat" cmpd="sng" algn="ctr">
                      <a:solidFill>
                        <a:srgbClr val="C5D8D8"/>
                      </a:solidFill>
                      <a:prstDash val="solid"/>
                      <a:round/>
                      <a:headEnd type="none" w="med" len="med"/>
                      <a:tailEnd type="none" w="med" len="med"/>
                    </a:lnR>
                    <a:lnT w="6350" cap="flat" cmpd="sng" algn="ctr">
                      <a:solidFill>
                        <a:srgbClr val="C5D8D8"/>
                      </a:solidFill>
                      <a:prstDash val="solid"/>
                      <a:round/>
                      <a:headEnd type="none" w="med" len="med"/>
                      <a:tailEnd type="none" w="med" len="med"/>
                    </a:lnT>
                    <a:lnB w="6350" cap="flat" cmpd="sng" algn="ctr">
                      <a:solidFill>
                        <a:srgbClr val="C5D8D8"/>
                      </a:solidFill>
                      <a:prstDash val="solid"/>
                      <a:round/>
                      <a:headEnd type="none" w="med" len="med"/>
                      <a:tailEnd type="none" w="med" len="med"/>
                    </a:lnB>
                  </a:tcPr>
                </a:tc>
                <a:tc>
                  <a:txBody>
                    <a:bodyPr/>
                    <a:lstStyle/>
                    <a:p>
                      <a:pPr marL="0" indent="0">
                        <a:buNone/>
                      </a:pPr>
                      <a:r>
                        <a:rPr lang="en-US" sz="850" dirty="0">
                          <a:solidFill>
                            <a:srgbClr val="334155"/>
                          </a:solidFill>
                          <a:latin typeface="Calibri" pitchFamily="34" charset="0"/>
                          <a:ea typeface="Calibri" pitchFamily="34" charset="-122"/>
                          <a:cs typeface="Calibri" pitchFamily="34" charset="-120"/>
                        </a:rPr>
                        <a:t>Historical + projected demand per country to 2050</a:t>
                      </a:r>
                      <a:endParaRPr lang="en-US" sz="850" dirty="0">
                        <a:latin typeface="Calibri" charset="0"/>
                        <a:ea typeface="Calibri" charset="0"/>
                        <a:cs typeface="Calibri" charset="0"/>
                      </a:endParaRPr>
                    </a:p>
                  </a:txBody>
                  <a:tcPr>
                    <a:lnL w="6350" cap="flat" cmpd="sng" algn="ctr">
                      <a:solidFill>
                        <a:srgbClr val="C5D8D8"/>
                      </a:solidFill>
                      <a:prstDash val="solid"/>
                      <a:round/>
                      <a:headEnd type="none" w="med" len="med"/>
                      <a:tailEnd type="none" w="med" len="med"/>
                    </a:lnL>
                    <a:lnR w="6350" cap="flat" cmpd="sng" algn="ctr">
                      <a:solidFill>
                        <a:srgbClr val="C5D8D8"/>
                      </a:solidFill>
                      <a:prstDash val="solid"/>
                      <a:round/>
                      <a:headEnd type="none" w="med" len="med"/>
                      <a:tailEnd type="none" w="med" len="med"/>
                    </a:lnR>
                    <a:lnT w="6350" cap="flat" cmpd="sng" algn="ctr">
                      <a:solidFill>
                        <a:srgbClr val="C5D8D8"/>
                      </a:solidFill>
                      <a:prstDash val="solid"/>
                      <a:round/>
                      <a:headEnd type="none" w="med" len="med"/>
                      <a:tailEnd type="none" w="med" len="med"/>
                    </a:lnT>
                    <a:lnB w="6350" cap="flat" cmpd="sng" algn="ctr">
                      <a:solidFill>
                        <a:srgbClr val="C5D8D8"/>
                      </a:solidFill>
                      <a:prstDash val="solid"/>
                      <a:round/>
                      <a:headEnd type="none" w="med" len="med"/>
                      <a:tailEnd type="none" w="med" len="med"/>
                    </a:lnB>
                  </a:tcPr>
                </a:tc>
                <a:extLst>
                  <a:ext uri="{0D108BD9-81ED-4DB2-BD59-A6C34878D82A}">
                    <a16:rowId xmlns:a16="http://schemas.microsoft.com/office/drawing/2014/main" val="10007"/>
                  </a:ext>
                </a:extLst>
              </a:tr>
              <a:tr h="228600">
                <a:tc>
                  <a:txBody>
                    <a:bodyPr/>
                    <a:lstStyle/>
                    <a:p>
                      <a:pPr marL="0" indent="0">
                        <a:buNone/>
                      </a:pPr>
                      <a:r>
                        <a:rPr lang="en-US" sz="850" b="1" dirty="0">
                          <a:solidFill>
                            <a:srgbClr val="0A595F"/>
                          </a:solidFill>
                          <a:latin typeface="Calibri" pitchFamily="34" charset="0"/>
                          <a:ea typeface="Calibri" pitchFamily="34" charset="-122"/>
                          <a:cs typeface="Calibri" pitchFamily="34" charset="-120"/>
                        </a:rPr>
                        <a:t>Capacity_Factors_TS</a:t>
                      </a:r>
                      <a:endParaRPr lang="en-US" sz="850" dirty="0">
                        <a:latin typeface="Calibri" charset="0"/>
                        <a:ea typeface="Calibri" charset="0"/>
                        <a:cs typeface="Calibri" charset="0"/>
                      </a:endParaRPr>
                    </a:p>
                  </a:txBody>
                  <a:tcPr>
                    <a:lnL w="6350" cap="flat" cmpd="sng" algn="ctr">
                      <a:solidFill>
                        <a:srgbClr val="C5D8D8"/>
                      </a:solidFill>
                      <a:prstDash val="solid"/>
                      <a:round/>
                      <a:headEnd type="none" w="med" len="med"/>
                      <a:tailEnd type="none" w="med" len="med"/>
                    </a:lnL>
                    <a:lnR w="6350" cap="flat" cmpd="sng" algn="ctr">
                      <a:solidFill>
                        <a:srgbClr val="C5D8D8"/>
                      </a:solidFill>
                      <a:prstDash val="solid"/>
                      <a:round/>
                      <a:headEnd type="none" w="med" len="med"/>
                      <a:tailEnd type="none" w="med" len="med"/>
                    </a:lnR>
                    <a:lnT w="6350" cap="flat" cmpd="sng" algn="ctr">
                      <a:solidFill>
                        <a:srgbClr val="C5D8D8"/>
                      </a:solidFill>
                      <a:prstDash val="solid"/>
                      <a:round/>
                      <a:headEnd type="none" w="med" len="med"/>
                      <a:tailEnd type="none" w="med" len="med"/>
                    </a:lnT>
                    <a:lnB w="6350" cap="flat" cmpd="sng" algn="ctr">
                      <a:solidFill>
                        <a:srgbClr val="C5D8D8"/>
                      </a:solidFill>
                      <a:prstDash val="solid"/>
                      <a:round/>
                      <a:headEnd type="none" w="med" len="med"/>
                      <a:tailEnd type="none" w="med" len="med"/>
                    </a:lnB>
                  </a:tcPr>
                </a:tc>
                <a:tc>
                  <a:txBody>
                    <a:bodyPr/>
                    <a:lstStyle/>
                    <a:p>
                      <a:pPr marL="0" indent="0" algn="r">
                        <a:buNone/>
                      </a:pPr>
                      <a:r>
                        <a:rPr lang="en-US" sz="850" dirty="0">
                          <a:solidFill>
                            <a:srgbClr val="334155"/>
                          </a:solidFill>
                          <a:latin typeface="Calibri" pitchFamily="34" charset="0"/>
                          <a:ea typeface="Calibri" pitchFamily="34" charset="-122"/>
                          <a:cs typeface="Calibri" pitchFamily="34" charset="-120"/>
                        </a:rPr>
                        <a:t>2,461</a:t>
                      </a:r>
                      <a:endParaRPr lang="en-US" sz="850" dirty="0">
                        <a:latin typeface="Calibri" charset="0"/>
                        <a:ea typeface="Calibri" charset="0"/>
                        <a:cs typeface="Calibri" charset="0"/>
                      </a:endParaRPr>
                    </a:p>
                  </a:txBody>
                  <a:tcPr>
                    <a:lnL w="6350" cap="flat" cmpd="sng" algn="ctr">
                      <a:solidFill>
                        <a:srgbClr val="C5D8D8"/>
                      </a:solidFill>
                      <a:prstDash val="solid"/>
                      <a:round/>
                      <a:headEnd type="none" w="med" len="med"/>
                      <a:tailEnd type="none" w="med" len="med"/>
                    </a:lnL>
                    <a:lnR w="6350" cap="flat" cmpd="sng" algn="ctr">
                      <a:solidFill>
                        <a:srgbClr val="C5D8D8"/>
                      </a:solidFill>
                      <a:prstDash val="solid"/>
                      <a:round/>
                      <a:headEnd type="none" w="med" len="med"/>
                      <a:tailEnd type="none" w="med" len="med"/>
                    </a:lnR>
                    <a:lnT w="6350" cap="flat" cmpd="sng" algn="ctr">
                      <a:solidFill>
                        <a:srgbClr val="C5D8D8"/>
                      </a:solidFill>
                      <a:prstDash val="solid"/>
                      <a:round/>
                      <a:headEnd type="none" w="med" len="med"/>
                      <a:tailEnd type="none" w="med" len="med"/>
                    </a:lnT>
                    <a:lnB w="6350" cap="flat" cmpd="sng" algn="ctr">
                      <a:solidFill>
                        <a:srgbClr val="C5D8D8"/>
                      </a:solidFill>
                      <a:prstDash val="solid"/>
                      <a:round/>
                      <a:headEnd type="none" w="med" len="med"/>
                      <a:tailEnd type="none" w="med" len="med"/>
                    </a:lnB>
                  </a:tcPr>
                </a:tc>
                <a:tc>
                  <a:txBody>
                    <a:bodyPr/>
                    <a:lstStyle/>
                    <a:p>
                      <a:pPr marL="0" indent="0">
                        <a:buNone/>
                      </a:pPr>
                      <a:r>
                        <a:rPr lang="en-US" sz="850" dirty="0">
                          <a:solidFill>
                            <a:srgbClr val="334155"/>
                          </a:solidFill>
                          <a:latin typeface="Calibri" pitchFamily="34" charset="0"/>
                          <a:ea typeface="Calibri" pitchFamily="34" charset="-122"/>
                          <a:cs typeface="Calibri" pitchFamily="34" charset="-120"/>
                        </a:rPr>
                        <a:t>Dispatch + RE Ninja CFs per timeslice per technology</a:t>
                      </a:r>
                      <a:endParaRPr lang="en-US" sz="850" dirty="0">
                        <a:latin typeface="Calibri" charset="0"/>
                        <a:ea typeface="Calibri" charset="0"/>
                        <a:cs typeface="Calibri" charset="0"/>
                      </a:endParaRPr>
                    </a:p>
                  </a:txBody>
                  <a:tcPr>
                    <a:lnL w="6350" cap="flat" cmpd="sng" algn="ctr">
                      <a:solidFill>
                        <a:srgbClr val="C5D8D8"/>
                      </a:solidFill>
                      <a:prstDash val="solid"/>
                      <a:round/>
                      <a:headEnd type="none" w="med" len="med"/>
                      <a:tailEnd type="none" w="med" len="med"/>
                    </a:lnL>
                    <a:lnR w="6350" cap="flat" cmpd="sng" algn="ctr">
                      <a:solidFill>
                        <a:srgbClr val="C5D8D8"/>
                      </a:solidFill>
                      <a:prstDash val="solid"/>
                      <a:round/>
                      <a:headEnd type="none" w="med" len="med"/>
                      <a:tailEnd type="none" w="med" len="med"/>
                    </a:lnR>
                    <a:lnT w="6350" cap="flat" cmpd="sng" algn="ctr">
                      <a:solidFill>
                        <a:srgbClr val="C5D8D8"/>
                      </a:solidFill>
                      <a:prstDash val="solid"/>
                      <a:round/>
                      <a:headEnd type="none" w="med" len="med"/>
                      <a:tailEnd type="none" w="med" len="med"/>
                    </a:lnT>
                    <a:lnB w="6350" cap="flat" cmpd="sng" algn="ctr">
                      <a:solidFill>
                        <a:srgbClr val="C5D8D8"/>
                      </a:solidFill>
                      <a:prstDash val="solid"/>
                      <a:round/>
                      <a:headEnd type="none" w="med" len="med"/>
                      <a:tailEnd type="none" w="med" len="med"/>
                    </a:lnB>
                  </a:tcPr>
                </a:tc>
                <a:extLst>
                  <a:ext uri="{0D108BD9-81ED-4DB2-BD59-A6C34878D82A}">
                    <a16:rowId xmlns:a16="http://schemas.microsoft.com/office/drawing/2014/main" val="10008"/>
                  </a:ext>
                </a:extLst>
              </a:tr>
              <a:tr h="228600">
                <a:tc>
                  <a:txBody>
                    <a:bodyPr/>
                    <a:lstStyle/>
                    <a:p>
                      <a:pPr marL="0" indent="0">
                        <a:buNone/>
                      </a:pPr>
                      <a:r>
                        <a:rPr lang="en-US" sz="850" b="1" dirty="0">
                          <a:solidFill>
                            <a:srgbClr val="0A595F"/>
                          </a:solidFill>
                          <a:latin typeface="Calibri" pitchFamily="34" charset="0"/>
                          <a:ea typeface="Calibri" pitchFamily="34" charset="-122"/>
                          <a:cs typeface="Calibri" pitchFamily="34" charset="-120"/>
                        </a:rPr>
                        <a:t>Demand_Profiles</a:t>
                      </a:r>
                      <a:endParaRPr lang="en-US" sz="850" dirty="0">
                        <a:latin typeface="Calibri" charset="0"/>
                        <a:ea typeface="Calibri" charset="0"/>
                        <a:cs typeface="Calibri" charset="0"/>
                      </a:endParaRPr>
                    </a:p>
                  </a:txBody>
                  <a:tcPr>
                    <a:lnL w="6350" cap="flat" cmpd="sng" algn="ctr">
                      <a:solidFill>
                        <a:srgbClr val="C5D8D8"/>
                      </a:solidFill>
                      <a:prstDash val="solid"/>
                      <a:round/>
                      <a:headEnd type="none" w="med" len="med"/>
                      <a:tailEnd type="none" w="med" len="med"/>
                    </a:lnL>
                    <a:lnR w="6350" cap="flat" cmpd="sng" algn="ctr">
                      <a:solidFill>
                        <a:srgbClr val="C5D8D8"/>
                      </a:solidFill>
                      <a:prstDash val="solid"/>
                      <a:round/>
                      <a:headEnd type="none" w="med" len="med"/>
                      <a:tailEnd type="none" w="med" len="med"/>
                    </a:lnR>
                    <a:lnT w="6350" cap="flat" cmpd="sng" algn="ctr">
                      <a:solidFill>
                        <a:srgbClr val="C5D8D8"/>
                      </a:solidFill>
                      <a:prstDash val="solid"/>
                      <a:round/>
                      <a:headEnd type="none" w="med" len="med"/>
                      <a:tailEnd type="none" w="med" len="med"/>
                    </a:lnT>
                    <a:lnB w="6350" cap="flat" cmpd="sng" algn="ctr">
                      <a:solidFill>
                        <a:srgbClr val="C5D8D8"/>
                      </a:solidFill>
                      <a:prstDash val="solid"/>
                      <a:round/>
                      <a:headEnd type="none" w="med" len="med"/>
                      <a:tailEnd type="none" w="med" len="med"/>
                    </a:lnB>
                  </a:tcPr>
                </a:tc>
                <a:tc>
                  <a:txBody>
                    <a:bodyPr/>
                    <a:lstStyle/>
                    <a:p>
                      <a:pPr marL="0" indent="0" algn="r">
                        <a:buNone/>
                      </a:pPr>
                      <a:r>
                        <a:rPr lang="en-US" sz="850" dirty="0">
                          <a:solidFill>
                            <a:srgbClr val="334155"/>
                          </a:solidFill>
                          <a:latin typeface="Calibri" pitchFamily="34" charset="0"/>
                          <a:ea typeface="Calibri" pitchFamily="34" charset="-122"/>
                          <a:cs typeface="Calibri" pitchFamily="34" charset="-120"/>
                        </a:rPr>
                        <a:t>109</a:t>
                      </a:r>
                      <a:endParaRPr lang="en-US" sz="850" dirty="0">
                        <a:latin typeface="Calibri" charset="0"/>
                        <a:ea typeface="Calibri" charset="0"/>
                        <a:cs typeface="Calibri" charset="0"/>
                      </a:endParaRPr>
                    </a:p>
                  </a:txBody>
                  <a:tcPr>
                    <a:lnL w="6350" cap="flat" cmpd="sng" algn="ctr">
                      <a:solidFill>
                        <a:srgbClr val="C5D8D8"/>
                      </a:solidFill>
                      <a:prstDash val="solid"/>
                      <a:round/>
                      <a:headEnd type="none" w="med" len="med"/>
                      <a:tailEnd type="none" w="med" len="med"/>
                    </a:lnL>
                    <a:lnR w="6350" cap="flat" cmpd="sng" algn="ctr">
                      <a:solidFill>
                        <a:srgbClr val="C5D8D8"/>
                      </a:solidFill>
                      <a:prstDash val="solid"/>
                      <a:round/>
                      <a:headEnd type="none" w="med" len="med"/>
                      <a:tailEnd type="none" w="med" len="med"/>
                    </a:lnR>
                    <a:lnT w="6350" cap="flat" cmpd="sng" algn="ctr">
                      <a:solidFill>
                        <a:srgbClr val="C5D8D8"/>
                      </a:solidFill>
                      <a:prstDash val="solid"/>
                      <a:round/>
                      <a:headEnd type="none" w="med" len="med"/>
                      <a:tailEnd type="none" w="med" len="med"/>
                    </a:lnT>
                    <a:lnB w="6350" cap="flat" cmpd="sng" algn="ctr">
                      <a:solidFill>
                        <a:srgbClr val="C5D8D8"/>
                      </a:solidFill>
                      <a:prstDash val="solid"/>
                      <a:round/>
                      <a:headEnd type="none" w="med" len="med"/>
                      <a:tailEnd type="none" w="med" len="med"/>
                    </a:lnB>
                  </a:tcPr>
                </a:tc>
                <a:tc>
                  <a:txBody>
                    <a:bodyPr/>
                    <a:lstStyle/>
                    <a:p>
                      <a:pPr marL="0" indent="0">
                        <a:buNone/>
                      </a:pPr>
                      <a:r>
                        <a:rPr lang="en-US" sz="850" dirty="0">
                          <a:solidFill>
                            <a:srgbClr val="334155"/>
                          </a:solidFill>
                          <a:latin typeface="Calibri" pitchFamily="34" charset="0"/>
                          <a:ea typeface="Calibri" pitchFamily="34" charset="-122"/>
                          <a:cs typeface="Calibri" pitchFamily="34" charset="-120"/>
                        </a:rPr>
                        <a:t>Timeslice demand fractions for BTN, IND (5), NPL</a:t>
                      </a:r>
                      <a:endParaRPr lang="en-US" sz="850" dirty="0">
                        <a:latin typeface="Calibri" charset="0"/>
                        <a:ea typeface="Calibri" charset="0"/>
                        <a:cs typeface="Calibri" charset="0"/>
                      </a:endParaRPr>
                    </a:p>
                  </a:txBody>
                  <a:tcPr>
                    <a:lnL w="6350" cap="flat" cmpd="sng" algn="ctr">
                      <a:solidFill>
                        <a:srgbClr val="C5D8D8"/>
                      </a:solidFill>
                      <a:prstDash val="solid"/>
                      <a:round/>
                      <a:headEnd type="none" w="med" len="med"/>
                      <a:tailEnd type="none" w="med" len="med"/>
                    </a:lnL>
                    <a:lnR w="6350" cap="flat" cmpd="sng" algn="ctr">
                      <a:solidFill>
                        <a:srgbClr val="C5D8D8"/>
                      </a:solidFill>
                      <a:prstDash val="solid"/>
                      <a:round/>
                      <a:headEnd type="none" w="med" len="med"/>
                      <a:tailEnd type="none" w="med" len="med"/>
                    </a:lnR>
                    <a:lnT w="6350" cap="flat" cmpd="sng" algn="ctr">
                      <a:solidFill>
                        <a:srgbClr val="C5D8D8"/>
                      </a:solidFill>
                      <a:prstDash val="solid"/>
                      <a:round/>
                      <a:headEnd type="none" w="med" len="med"/>
                      <a:tailEnd type="none" w="med" len="med"/>
                    </a:lnT>
                    <a:lnB w="6350" cap="flat" cmpd="sng" algn="ctr">
                      <a:solidFill>
                        <a:srgbClr val="C5D8D8"/>
                      </a:solidFill>
                      <a:prstDash val="solid"/>
                      <a:round/>
                      <a:headEnd type="none" w="med" len="med"/>
                      <a:tailEnd type="none" w="med" len="med"/>
                    </a:lnB>
                  </a:tcPr>
                </a:tc>
                <a:extLst>
                  <a:ext uri="{0D108BD9-81ED-4DB2-BD59-A6C34878D82A}">
                    <a16:rowId xmlns:a16="http://schemas.microsoft.com/office/drawing/2014/main" val="10009"/>
                  </a:ext>
                </a:extLst>
              </a:tr>
              <a:tr h="228600">
                <a:tc>
                  <a:txBody>
                    <a:bodyPr/>
                    <a:lstStyle/>
                    <a:p>
                      <a:pPr marL="0" indent="0">
                        <a:buNone/>
                      </a:pPr>
                      <a:r>
                        <a:rPr lang="en-US" sz="850" b="1" dirty="0">
                          <a:solidFill>
                            <a:srgbClr val="0A595F"/>
                          </a:solidFill>
                          <a:latin typeface="Calibri" pitchFamily="34" charset="0"/>
                          <a:ea typeface="Calibri" pitchFamily="34" charset="-122"/>
                          <a:cs typeface="Calibri" pitchFamily="34" charset="-120"/>
                        </a:rPr>
                        <a:t>Renewable_Ninja</a:t>
                      </a:r>
                      <a:endParaRPr lang="en-US" sz="850" dirty="0">
                        <a:latin typeface="Calibri" charset="0"/>
                        <a:ea typeface="Calibri" charset="0"/>
                        <a:cs typeface="Calibri" charset="0"/>
                      </a:endParaRPr>
                    </a:p>
                  </a:txBody>
                  <a:tcPr>
                    <a:lnL w="6350" cap="flat" cmpd="sng" algn="ctr">
                      <a:solidFill>
                        <a:srgbClr val="C5D8D8"/>
                      </a:solidFill>
                      <a:prstDash val="solid"/>
                      <a:round/>
                      <a:headEnd type="none" w="med" len="med"/>
                      <a:tailEnd type="none" w="med" len="med"/>
                    </a:lnL>
                    <a:lnR w="6350" cap="flat" cmpd="sng" algn="ctr">
                      <a:solidFill>
                        <a:srgbClr val="C5D8D8"/>
                      </a:solidFill>
                      <a:prstDash val="solid"/>
                      <a:round/>
                      <a:headEnd type="none" w="med" len="med"/>
                      <a:tailEnd type="none" w="med" len="med"/>
                    </a:lnR>
                    <a:lnT w="6350" cap="flat" cmpd="sng" algn="ctr">
                      <a:solidFill>
                        <a:srgbClr val="C5D8D8"/>
                      </a:solidFill>
                      <a:prstDash val="solid"/>
                      <a:round/>
                      <a:headEnd type="none" w="med" len="med"/>
                      <a:tailEnd type="none" w="med" len="med"/>
                    </a:lnT>
                    <a:lnB w="6350" cap="flat" cmpd="sng" algn="ctr">
                      <a:solidFill>
                        <a:srgbClr val="C5D8D8"/>
                      </a:solidFill>
                      <a:prstDash val="solid"/>
                      <a:round/>
                      <a:headEnd type="none" w="med" len="med"/>
                      <a:tailEnd type="none" w="med" len="med"/>
                    </a:lnB>
                  </a:tcPr>
                </a:tc>
                <a:tc>
                  <a:txBody>
                    <a:bodyPr/>
                    <a:lstStyle/>
                    <a:p>
                      <a:pPr marL="0" indent="0" algn="r">
                        <a:buNone/>
                      </a:pPr>
                      <a:r>
                        <a:rPr lang="en-US" sz="850" dirty="0">
                          <a:solidFill>
                            <a:srgbClr val="334155"/>
                          </a:solidFill>
                          <a:latin typeface="Calibri" pitchFamily="34" charset="0"/>
                          <a:ea typeface="Calibri" pitchFamily="34" charset="-122"/>
                          <a:cs typeface="Calibri" pitchFamily="34" charset="-120"/>
                        </a:rPr>
                        <a:t>2,161</a:t>
                      </a:r>
                      <a:endParaRPr lang="en-US" sz="850" dirty="0">
                        <a:latin typeface="Calibri" charset="0"/>
                        <a:ea typeface="Calibri" charset="0"/>
                        <a:cs typeface="Calibri" charset="0"/>
                      </a:endParaRPr>
                    </a:p>
                  </a:txBody>
                  <a:tcPr>
                    <a:lnL w="6350" cap="flat" cmpd="sng" algn="ctr">
                      <a:solidFill>
                        <a:srgbClr val="C5D8D8"/>
                      </a:solidFill>
                      <a:prstDash val="solid"/>
                      <a:round/>
                      <a:headEnd type="none" w="med" len="med"/>
                      <a:tailEnd type="none" w="med" len="med"/>
                    </a:lnL>
                    <a:lnR w="6350" cap="flat" cmpd="sng" algn="ctr">
                      <a:solidFill>
                        <a:srgbClr val="C5D8D8"/>
                      </a:solidFill>
                      <a:prstDash val="solid"/>
                      <a:round/>
                      <a:headEnd type="none" w="med" len="med"/>
                      <a:tailEnd type="none" w="med" len="med"/>
                    </a:lnR>
                    <a:lnT w="6350" cap="flat" cmpd="sng" algn="ctr">
                      <a:solidFill>
                        <a:srgbClr val="C5D8D8"/>
                      </a:solidFill>
                      <a:prstDash val="solid"/>
                      <a:round/>
                      <a:headEnd type="none" w="med" len="med"/>
                      <a:tailEnd type="none" w="med" len="med"/>
                    </a:lnT>
                    <a:lnB w="6350" cap="flat" cmpd="sng" algn="ctr">
                      <a:solidFill>
                        <a:srgbClr val="C5D8D8"/>
                      </a:solidFill>
                      <a:prstDash val="solid"/>
                      <a:round/>
                      <a:headEnd type="none" w="med" len="med"/>
                      <a:tailEnd type="none" w="med" len="med"/>
                    </a:lnB>
                  </a:tcPr>
                </a:tc>
                <a:tc>
                  <a:txBody>
                    <a:bodyPr/>
                    <a:lstStyle/>
                    <a:p>
                      <a:pPr marL="0" indent="0">
                        <a:buNone/>
                      </a:pPr>
                      <a:r>
                        <a:rPr lang="en-US" sz="850" dirty="0">
                          <a:solidFill>
                            <a:srgbClr val="334155"/>
                          </a:solidFill>
                          <a:latin typeface="Calibri" pitchFamily="34" charset="0"/>
                          <a:ea typeface="Calibri" pitchFamily="34" charset="-122"/>
                          <a:cs typeface="Calibri" pitchFamily="34" charset="-120"/>
                        </a:rPr>
                        <a:t>Solar/wind CFs: 10 nodes, 9yr avg, 12 timeslices</a:t>
                      </a:r>
                      <a:endParaRPr lang="en-US" sz="850" dirty="0">
                        <a:latin typeface="Calibri" charset="0"/>
                        <a:ea typeface="Calibri" charset="0"/>
                        <a:cs typeface="Calibri" charset="0"/>
                      </a:endParaRPr>
                    </a:p>
                  </a:txBody>
                  <a:tcPr>
                    <a:lnL w="6350" cap="flat" cmpd="sng" algn="ctr">
                      <a:solidFill>
                        <a:srgbClr val="C5D8D8"/>
                      </a:solidFill>
                      <a:prstDash val="solid"/>
                      <a:round/>
                      <a:headEnd type="none" w="med" len="med"/>
                      <a:tailEnd type="none" w="med" len="med"/>
                    </a:lnL>
                    <a:lnR w="6350" cap="flat" cmpd="sng" algn="ctr">
                      <a:solidFill>
                        <a:srgbClr val="C5D8D8"/>
                      </a:solidFill>
                      <a:prstDash val="solid"/>
                      <a:round/>
                      <a:headEnd type="none" w="med" len="med"/>
                      <a:tailEnd type="none" w="med" len="med"/>
                    </a:lnR>
                    <a:lnT w="6350" cap="flat" cmpd="sng" algn="ctr">
                      <a:solidFill>
                        <a:srgbClr val="C5D8D8"/>
                      </a:solidFill>
                      <a:prstDash val="solid"/>
                      <a:round/>
                      <a:headEnd type="none" w="med" len="med"/>
                      <a:tailEnd type="none" w="med" len="med"/>
                    </a:lnT>
                    <a:lnB w="6350" cap="flat" cmpd="sng" algn="ctr">
                      <a:solidFill>
                        <a:srgbClr val="C5D8D8"/>
                      </a:solidFill>
                      <a:prstDash val="solid"/>
                      <a:round/>
                      <a:headEnd type="none" w="med" len="med"/>
                      <a:tailEnd type="none" w="med" len="med"/>
                    </a:lnB>
                  </a:tcPr>
                </a:tc>
                <a:extLst>
                  <a:ext uri="{0D108BD9-81ED-4DB2-BD59-A6C34878D82A}">
                    <a16:rowId xmlns:a16="http://schemas.microsoft.com/office/drawing/2014/main" val="10010"/>
                  </a:ext>
                </a:extLst>
              </a:tr>
              <a:tr h="228600">
                <a:tc>
                  <a:txBody>
                    <a:bodyPr/>
                    <a:lstStyle/>
                    <a:p>
                      <a:pPr marL="0" indent="0">
                        <a:buNone/>
                      </a:pPr>
                      <a:r>
                        <a:rPr lang="en-US" sz="850" b="1" dirty="0">
                          <a:solidFill>
                            <a:srgbClr val="0A595F"/>
                          </a:solidFill>
                          <a:latin typeface="Calibri" pitchFamily="34" charset="0"/>
                          <a:ea typeface="Calibri" pitchFamily="34" charset="-122"/>
                          <a:cs typeface="Calibri" pitchFamily="34" charset="-120"/>
                        </a:rPr>
                        <a:t>Sources_Registry</a:t>
                      </a:r>
                      <a:endParaRPr lang="en-US" sz="850" dirty="0">
                        <a:latin typeface="Calibri" charset="0"/>
                        <a:ea typeface="Calibri" charset="0"/>
                        <a:cs typeface="Calibri" charset="0"/>
                      </a:endParaRPr>
                    </a:p>
                  </a:txBody>
                  <a:tcPr>
                    <a:lnL w="6350" cap="flat" cmpd="sng" algn="ctr">
                      <a:solidFill>
                        <a:srgbClr val="C5D8D8"/>
                      </a:solidFill>
                      <a:prstDash val="solid"/>
                      <a:round/>
                      <a:headEnd type="none" w="med" len="med"/>
                      <a:tailEnd type="none" w="med" len="med"/>
                    </a:lnL>
                    <a:lnR w="6350" cap="flat" cmpd="sng" algn="ctr">
                      <a:solidFill>
                        <a:srgbClr val="C5D8D8"/>
                      </a:solidFill>
                      <a:prstDash val="solid"/>
                      <a:round/>
                      <a:headEnd type="none" w="med" len="med"/>
                      <a:tailEnd type="none" w="med" len="med"/>
                    </a:lnR>
                    <a:lnT w="6350" cap="flat" cmpd="sng" algn="ctr">
                      <a:solidFill>
                        <a:srgbClr val="C5D8D8"/>
                      </a:solidFill>
                      <a:prstDash val="solid"/>
                      <a:round/>
                      <a:headEnd type="none" w="med" len="med"/>
                      <a:tailEnd type="none" w="med" len="med"/>
                    </a:lnT>
                    <a:lnB w="6350" cap="flat" cmpd="sng" algn="ctr">
                      <a:solidFill>
                        <a:srgbClr val="C5D8D8"/>
                      </a:solidFill>
                      <a:prstDash val="solid"/>
                      <a:round/>
                      <a:headEnd type="none" w="med" len="med"/>
                      <a:tailEnd type="none" w="med" len="med"/>
                    </a:lnB>
                  </a:tcPr>
                </a:tc>
                <a:tc>
                  <a:txBody>
                    <a:bodyPr/>
                    <a:lstStyle/>
                    <a:p>
                      <a:pPr marL="0" indent="0" algn="r">
                        <a:buNone/>
                      </a:pPr>
                      <a:r>
                        <a:rPr lang="en-US" sz="850" dirty="0">
                          <a:solidFill>
                            <a:srgbClr val="334155"/>
                          </a:solidFill>
                          <a:latin typeface="Calibri" pitchFamily="34" charset="0"/>
                          <a:ea typeface="Calibri" pitchFamily="34" charset="-122"/>
                          <a:cs typeface="Calibri" pitchFamily="34" charset="-120"/>
                        </a:rPr>
                        <a:t>41</a:t>
                      </a:r>
                      <a:endParaRPr lang="en-US" sz="850" dirty="0">
                        <a:latin typeface="Calibri" charset="0"/>
                        <a:ea typeface="Calibri" charset="0"/>
                        <a:cs typeface="Calibri" charset="0"/>
                      </a:endParaRPr>
                    </a:p>
                  </a:txBody>
                  <a:tcPr>
                    <a:lnL w="6350" cap="flat" cmpd="sng" algn="ctr">
                      <a:solidFill>
                        <a:srgbClr val="C5D8D8"/>
                      </a:solidFill>
                      <a:prstDash val="solid"/>
                      <a:round/>
                      <a:headEnd type="none" w="med" len="med"/>
                      <a:tailEnd type="none" w="med" len="med"/>
                    </a:lnL>
                    <a:lnR w="6350" cap="flat" cmpd="sng" algn="ctr">
                      <a:solidFill>
                        <a:srgbClr val="C5D8D8"/>
                      </a:solidFill>
                      <a:prstDash val="solid"/>
                      <a:round/>
                      <a:headEnd type="none" w="med" len="med"/>
                      <a:tailEnd type="none" w="med" len="med"/>
                    </a:lnR>
                    <a:lnT w="6350" cap="flat" cmpd="sng" algn="ctr">
                      <a:solidFill>
                        <a:srgbClr val="C5D8D8"/>
                      </a:solidFill>
                      <a:prstDash val="solid"/>
                      <a:round/>
                      <a:headEnd type="none" w="med" len="med"/>
                      <a:tailEnd type="none" w="med" len="med"/>
                    </a:lnT>
                    <a:lnB w="6350" cap="flat" cmpd="sng" algn="ctr">
                      <a:solidFill>
                        <a:srgbClr val="C5D8D8"/>
                      </a:solidFill>
                      <a:prstDash val="solid"/>
                      <a:round/>
                      <a:headEnd type="none" w="med" len="med"/>
                      <a:tailEnd type="none" w="med" len="med"/>
                    </a:lnB>
                  </a:tcPr>
                </a:tc>
                <a:tc>
                  <a:txBody>
                    <a:bodyPr/>
                    <a:lstStyle/>
                    <a:p>
                      <a:pPr marL="0" indent="0">
                        <a:buNone/>
                      </a:pPr>
                      <a:r>
                        <a:rPr lang="en-US" sz="850" dirty="0">
                          <a:solidFill>
                            <a:srgbClr val="334155"/>
                          </a:solidFill>
                          <a:latin typeface="Calibri" pitchFamily="34" charset="0"/>
                          <a:ea typeface="Calibri" pitchFamily="34" charset="-122"/>
                          <a:cs typeface="Calibri" pitchFamily="34" charset="-120"/>
                        </a:rPr>
                        <a:t>Full citations with URLs, doc type, access status</a:t>
                      </a:r>
                      <a:endParaRPr lang="en-US" sz="850" dirty="0">
                        <a:latin typeface="Calibri" charset="0"/>
                        <a:ea typeface="Calibri" charset="0"/>
                        <a:cs typeface="Calibri" charset="0"/>
                      </a:endParaRPr>
                    </a:p>
                  </a:txBody>
                  <a:tcPr>
                    <a:lnL w="6350" cap="flat" cmpd="sng" algn="ctr">
                      <a:solidFill>
                        <a:srgbClr val="C5D8D8"/>
                      </a:solidFill>
                      <a:prstDash val="solid"/>
                      <a:round/>
                      <a:headEnd type="none" w="med" len="med"/>
                      <a:tailEnd type="none" w="med" len="med"/>
                    </a:lnL>
                    <a:lnR w="6350" cap="flat" cmpd="sng" algn="ctr">
                      <a:solidFill>
                        <a:srgbClr val="C5D8D8"/>
                      </a:solidFill>
                      <a:prstDash val="solid"/>
                      <a:round/>
                      <a:headEnd type="none" w="med" len="med"/>
                      <a:tailEnd type="none" w="med" len="med"/>
                    </a:lnR>
                    <a:lnT w="6350" cap="flat" cmpd="sng" algn="ctr">
                      <a:solidFill>
                        <a:srgbClr val="C5D8D8"/>
                      </a:solidFill>
                      <a:prstDash val="solid"/>
                      <a:round/>
                      <a:headEnd type="none" w="med" len="med"/>
                      <a:tailEnd type="none" w="med" len="med"/>
                    </a:lnT>
                    <a:lnB w="6350" cap="flat" cmpd="sng" algn="ctr">
                      <a:solidFill>
                        <a:srgbClr val="C5D8D8"/>
                      </a:solidFill>
                      <a:prstDash val="solid"/>
                      <a:round/>
                      <a:headEnd type="none" w="med" len="med"/>
                      <a:tailEnd type="none" w="med" len="med"/>
                    </a:lnB>
                  </a:tcPr>
                </a:tc>
                <a:extLst>
                  <a:ext uri="{0D108BD9-81ED-4DB2-BD59-A6C34878D82A}">
                    <a16:rowId xmlns:a16="http://schemas.microsoft.com/office/drawing/2014/main" val="10011"/>
                  </a:ext>
                </a:extLst>
              </a:tr>
              <a:tr h="228600">
                <a:tc>
                  <a:txBody>
                    <a:bodyPr/>
                    <a:lstStyle/>
                    <a:p>
                      <a:pPr marL="0" indent="0">
                        <a:buNone/>
                      </a:pPr>
                      <a:r>
                        <a:rPr lang="en-US" sz="850" b="1" dirty="0">
                          <a:solidFill>
                            <a:srgbClr val="0A595F"/>
                          </a:solidFill>
                          <a:latin typeface="Calibri" pitchFamily="34" charset="0"/>
                          <a:ea typeface="Calibri" pitchFamily="34" charset="-122"/>
                          <a:cs typeface="Calibri" pitchFamily="34" charset="-120"/>
                        </a:rPr>
                        <a:t>Gaps_Actions</a:t>
                      </a:r>
                      <a:endParaRPr lang="en-US" sz="850" dirty="0">
                        <a:latin typeface="Calibri" charset="0"/>
                        <a:ea typeface="Calibri" charset="0"/>
                        <a:cs typeface="Calibri" charset="0"/>
                      </a:endParaRPr>
                    </a:p>
                  </a:txBody>
                  <a:tcPr>
                    <a:lnL w="6350" cap="flat" cmpd="sng" algn="ctr">
                      <a:solidFill>
                        <a:srgbClr val="C5D8D8"/>
                      </a:solidFill>
                      <a:prstDash val="solid"/>
                      <a:round/>
                      <a:headEnd type="none" w="med" len="med"/>
                      <a:tailEnd type="none" w="med" len="med"/>
                    </a:lnL>
                    <a:lnR w="6350" cap="flat" cmpd="sng" algn="ctr">
                      <a:solidFill>
                        <a:srgbClr val="C5D8D8"/>
                      </a:solidFill>
                      <a:prstDash val="solid"/>
                      <a:round/>
                      <a:headEnd type="none" w="med" len="med"/>
                      <a:tailEnd type="none" w="med" len="med"/>
                    </a:lnR>
                    <a:lnT w="6350" cap="flat" cmpd="sng" algn="ctr">
                      <a:solidFill>
                        <a:srgbClr val="C5D8D8"/>
                      </a:solidFill>
                      <a:prstDash val="solid"/>
                      <a:round/>
                      <a:headEnd type="none" w="med" len="med"/>
                      <a:tailEnd type="none" w="med" len="med"/>
                    </a:lnT>
                    <a:lnB w="6350" cap="flat" cmpd="sng" algn="ctr">
                      <a:solidFill>
                        <a:srgbClr val="C5D8D8"/>
                      </a:solidFill>
                      <a:prstDash val="solid"/>
                      <a:round/>
                      <a:headEnd type="none" w="med" len="med"/>
                      <a:tailEnd type="none" w="med" len="med"/>
                    </a:lnB>
                  </a:tcPr>
                </a:tc>
                <a:tc>
                  <a:txBody>
                    <a:bodyPr/>
                    <a:lstStyle/>
                    <a:p>
                      <a:pPr marL="0" indent="0" algn="r">
                        <a:buNone/>
                      </a:pPr>
                      <a:r>
                        <a:rPr lang="en-US" sz="850" dirty="0">
                          <a:solidFill>
                            <a:srgbClr val="334155"/>
                          </a:solidFill>
                          <a:latin typeface="Calibri" pitchFamily="34" charset="0"/>
                          <a:ea typeface="Calibri" pitchFamily="34" charset="-122"/>
                          <a:cs typeface="Calibri" pitchFamily="34" charset="-120"/>
                        </a:rPr>
                        <a:t>39</a:t>
                      </a:r>
                      <a:endParaRPr lang="en-US" sz="850" dirty="0">
                        <a:latin typeface="Calibri" charset="0"/>
                        <a:ea typeface="Calibri" charset="0"/>
                        <a:cs typeface="Calibri" charset="0"/>
                      </a:endParaRPr>
                    </a:p>
                  </a:txBody>
                  <a:tcPr>
                    <a:lnL w="6350" cap="flat" cmpd="sng" algn="ctr">
                      <a:solidFill>
                        <a:srgbClr val="C5D8D8"/>
                      </a:solidFill>
                      <a:prstDash val="solid"/>
                      <a:round/>
                      <a:headEnd type="none" w="med" len="med"/>
                      <a:tailEnd type="none" w="med" len="med"/>
                    </a:lnL>
                    <a:lnR w="6350" cap="flat" cmpd="sng" algn="ctr">
                      <a:solidFill>
                        <a:srgbClr val="C5D8D8"/>
                      </a:solidFill>
                      <a:prstDash val="solid"/>
                      <a:round/>
                      <a:headEnd type="none" w="med" len="med"/>
                      <a:tailEnd type="none" w="med" len="med"/>
                    </a:lnR>
                    <a:lnT w="6350" cap="flat" cmpd="sng" algn="ctr">
                      <a:solidFill>
                        <a:srgbClr val="C5D8D8"/>
                      </a:solidFill>
                      <a:prstDash val="solid"/>
                      <a:round/>
                      <a:headEnd type="none" w="med" len="med"/>
                      <a:tailEnd type="none" w="med" len="med"/>
                    </a:lnT>
                    <a:lnB w="6350" cap="flat" cmpd="sng" algn="ctr">
                      <a:solidFill>
                        <a:srgbClr val="C5D8D8"/>
                      </a:solidFill>
                      <a:prstDash val="solid"/>
                      <a:round/>
                      <a:headEnd type="none" w="med" len="med"/>
                      <a:tailEnd type="none" w="med" len="med"/>
                    </a:lnB>
                  </a:tcPr>
                </a:tc>
                <a:tc>
                  <a:txBody>
                    <a:bodyPr/>
                    <a:lstStyle/>
                    <a:p>
                      <a:pPr marL="0" indent="0">
                        <a:buNone/>
                      </a:pPr>
                      <a:r>
                        <a:rPr lang="en-US" sz="850" dirty="0">
                          <a:solidFill>
                            <a:srgbClr val="334155"/>
                          </a:solidFill>
                          <a:latin typeface="Calibri" pitchFamily="34" charset="0"/>
                          <a:ea typeface="Calibri" pitchFamily="34" charset="-122"/>
                          <a:cs typeface="Calibri" pitchFamily="34" charset="-120"/>
                        </a:rPr>
                        <a:t>Tracked items with status, priority, and action needed</a:t>
                      </a:r>
                      <a:endParaRPr lang="en-US" sz="850" dirty="0">
                        <a:latin typeface="Calibri" charset="0"/>
                        <a:ea typeface="Calibri" charset="0"/>
                        <a:cs typeface="Calibri" charset="0"/>
                      </a:endParaRPr>
                    </a:p>
                  </a:txBody>
                  <a:tcPr>
                    <a:lnL w="6350" cap="flat" cmpd="sng" algn="ctr">
                      <a:solidFill>
                        <a:srgbClr val="C5D8D8"/>
                      </a:solidFill>
                      <a:prstDash val="solid"/>
                      <a:round/>
                      <a:headEnd type="none" w="med" len="med"/>
                      <a:tailEnd type="none" w="med" len="med"/>
                    </a:lnL>
                    <a:lnR w="6350" cap="flat" cmpd="sng" algn="ctr">
                      <a:solidFill>
                        <a:srgbClr val="C5D8D8"/>
                      </a:solidFill>
                      <a:prstDash val="solid"/>
                      <a:round/>
                      <a:headEnd type="none" w="med" len="med"/>
                      <a:tailEnd type="none" w="med" len="med"/>
                    </a:lnR>
                    <a:lnT w="6350" cap="flat" cmpd="sng" algn="ctr">
                      <a:solidFill>
                        <a:srgbClr val="C5D8D8"/>
                      </a:solidFill>
                      <a:prstDash val="solid"/>
                      <a:round/>
                      <a:headEnd type="none" w="med" len="med"/>
                      <a:tailEnd type="none" w="med" len="med"/>
                    </a:lnT>
                    <a:lnB w="6350" cap="flat" cmpd="sng" algn="ctr">
                      <a:solidFill>
                        <a:srgbClr val="C5D8D8"/>
                      </a:solidFill>
                      <a:prstDash val="solid"/>
                      <a:round/>
                      <a:headEnd type="none" w="med" len="med"/>
                      <a:tailEnd type="none" w="med" len="med"/>
                    </a:lnB>
                  </a:tcPr>
                </a:tc>
                <a:extLst>
                  <a:ext uri="{0D108BD9-81ED-4DB2-BD59-A6C34878D82A}">
                    <a16:rowId xmlns:a16="http://schemas.microsoft.com/office/drawing/2014/main" val="10012"/>
                  </a:ext>
                </a:extLst>
              </a:tr>
            </a:tbl>
          </a:graphicData>
        </a:graphic>
      </p:graphicFrame>
      <p:sp>
        <p:nvSpPr>
          <p:cNvPr id="6" name="Shape 3"/>
          <p:cNvSpPr/>
          <p:nvPr/>
        </p:nvSpPr>
        <p:spPr>
          <a:xfrm>
            <a:off x="0" y="4709160"/>
            <a:ext cx="9144000" cy="434340"/>
          </a:xfrm>
          <a:prstGeom prst="rect">
            <a:avLst/>
          </a:prstGeom>
          <a:solidFill>
            <a:srgbClr val="00414D"/>
          </a:solidFill>
          <a:ln/>
        </p:spPr>
        <p:txBody>
          <a:bodyPr/>
          <a:lstStyle/>
          <a:p>
            <a:endParaRPr lang="LID4096"/>
          </a:p>
        </p:txBody>
      </p:sp>
      <p:sp>
        <p:nvSpPr>
          <p:cNvPr id="7" name="Text 4"/>
          <p:cNvSpPr/>
          <p:nvPr/>
        </p:nvSpPr>
        <p:spPr>
          <a:xfrm>
            <a:off x="457200" y="4727448"/>
            <a:ext cx="8229600" cy="393192"/>
          </a:xfrm>
          <a:prstGeom prst="rect">
            <a:avLst/>
          </a:prstGeom>
          <a:noFill/>
          <a:ln/>
        </p:spPr>
        <p:txBody>
          <a:bodyPr wrap="square" rtlCol="0" anchor="ctr"/>
          <a:lstStyle/>
          <a:p>
            <a:pPr marL="0" indent="0">
              <a:buNone/>
            </a:pPr>
            <a:r>
              <a:rPr lang="en-US" sz="800" dirty="0">
                <a:solidFill>
                  <a:srgbClr val="64748B"/>
                </a:solidFill>
                <a:latin typeface="Calibri" pitchFamily="34" charset="0"/>
                <a:ea typeface="Calibri" pitchFamily="34" charset="-122"/>
                <a:cs typeface="Calibri" pitchFamily="34" charset="-120"/>
              </a:rPr>
              <a:t>OSTRAM — Data Package v1.0  |  UN ESCAP Energy Division  |  March 2026</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F0F5F5"/>
        </a:solidFill>
        <a:effectLst/>
      </p:bgPr>
    </p:bg>
    <p:spTree>
      <p:nvGrpSpPr>
        <p:cNvPr id="1" name=""/>
        <p:cNvGrpSpPr/>
        <p:nvPr/>
      </p:nvGrpSpPr>
      <p:grpSpPr>
        <a:xfrm>
          <a:off x="0" y="0"/>
          <a:ext cx="0" cy="0"/>
          <a:chOff x="0" y="0"/>
          <a:chExt cx="0" cy="0"/>
        </a:xfrm>
      </p:grpSpPr>
      <p:sp>
        <p:nvSpPr>
          <p:cNvPr id="2" name="Text 0"/>
          <p:cNvSpPr/>
          <p:nvPr/>
        </p:nvSpPr>
        <p:spPr>
          <a:xfrm>
            <a:off x="457200" y="274320"/>
            <a:ext cx="7315200" cy="457200"/>
          </a:xfrm>
          <a:prstGeom prst="rect">
            <a:avLst/>
          </a:prstGeom>
          <a:noFill/>
          <a:ln/>
        </p:spPr>
        <p:txBody>
          <a:bodyPr wrap="square" lIns="0" tIns="0" rIns="0" bIns="0" rtlCol="0" anchor="ctr"/>
          <a:lstStyle/>
          <a:p>
            <a:pPr marL="0" indent="0">
              <a:buNone/>
            </a:pPr>
            <a:r>
              <a:rPr lang="en-US" sz="2400" b="1" dirty="0">
                <a:solidFill>
                  <a:srgbClr val="00414D"/>
                </a:solidFill>
                <a:latin typeface="Georgia" pitchFamily="34" charset="0"/>
                <a:ea typeface="Georgia" pitchFamily="34" charset="-122"/>
                <a:cs typeface="Georgia" pitchFamily="34" charset="-120"/>
              </a:rPr>
              <a:t>Power Sector Inventory</a:t>
            </a:r>
            <a:endParaRPr lang="en-US" sz="24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57200" y="914400"/>
          <a:ext cx="8229600" cy="2395728"/>
        </p:xfrm>
        <a:graphic>
          <a:graphicData uri="http://schemas.openxmlformats.org/drawingml/2006/table">
            <a:tbl>
              <a:tblPr/>
              <a:tblGrid>
                <a:gridCol w="146304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gridCol w="1371600">
                  <a:extLst>
                    <a:ext uri="{9D8B030D-6E8A-4147-A177-3AD203B41FA5}">
                      <a16:colId xmlns:a16="http://schemas.microsoft.com/office/drawing/2014/main" val="20004"/>
                    </a:ext>
                  </a:extLst>
                </a:gridCol>
                <a:gridCol w="1645920">
                  <a:extLst>
                    <a:ext uri="{9D8B030D-6E8A-4147-A177-3AD203B41FA5}">
                      <a16:colId xmlns:a16="http://schemas.microsoft.com/office/drawing/2014/main" val="20005"/>
                    </a:ext>
                  </a:extLst>
                </a:gridCol>
              </a:tblGrid>
              <a:tr h="320040">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Country</a:t>
                      </a:r>
                      <a:endParaRPr lang="en-US" sz="1000" dirty="0">
                        <a:latin typeface="Calibri" charset="0"/>
                        <a:ea typeface="Calibri" charset="0"/>
                        <a:cs typeface="Calibri" charset="0"/>
                      </a:endParaRPr>
                    </a:p>
                  </a:txBody>
                  <a:tcPr anchor="ctr">
                    <a:lnL w="6350" cap="flat" cmpd="sng" algn="ctr">
                      <a:solidFill>
                        <a:srgbClr val="C5D8D8"/>
                      </a:solidFill>
                      <a:prstDash val="solid"/>
                      <a:round/>
                      <a:headEnd type="none" w="med" len="med"/>
                      <a:tailEnd type="none" w="med" len="med"/>
                    </a:lnL>
                    <a:lnR w="6350" cap="flat" cmpd="sng" algn="ctr">
                      <a:solidFill>
                        <a:srgbClr val="C5D8D8"/>
                      </a:solidFill>
                      <a:prstDash val="solid"/>
                      <a:round/>
                      <a:headEnd type="none" w="med" len="med"/>
                      <a:tailEnd type="none" w="med" len="med"/>
                    </a:lnR>
                    <a:lnT w="6350" cap="flat" cmpd="sng" algn="ctr">
                      <a:solidFill>
                        <a:srgbClr val="C5D8D8"/>
                      </a:solidFill>
                      <a:prstDash val="solid"/>
                      <a:round/>
                      <a:headEnd type="none" w="med" len="med"/>
                      <a:tailEnd type="none" w="med" len="med"/>
                    </a:lnT>
                    <a:lnB w="6350" cap="flat" cmpd="sng" algn="ctr">
                      <a:solidFill>
                        <a:srgbClr val="C5D8D8"/>
                      </a:solidFill>
                      <a:prstDash val="solid"/>
                      <a:round/>
                      <a:headEnd type="none" w="med" len="med"/>
                      <a:tailEnd type="none" w="med" len="med"/>
                    </a:lnB>
                    <a:solidFill>
                      <a:srgbClr val="0A595F"/>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Existing Gen.</a:t>
                      </a:r>
                      <a:endParaRPr lang="en-US" sz="1000" dirty="0">
                        <a:latin typeface="Calibri" charset="0"/>
                        <a:ea typeface="Calibri" charset="0"/>
                        <a:cs typeface="Calibri" charset="0"/>
                      </a:endParaRPr>
                    </a:p>
                  </a:txBody>
                  <a:tcPr anchor="ctr">
                    <a:lnL w="6350" cap="flat" cmpd="sng" algn="ctr">
                      <a:solidFill>
                        <a:srgbClr val="C5D8D8"/>
                      </a:solidFill>
                      <a:prstDash val="solid"/>
                      <a:round/>
                      <a:headEnd type="none" w="med" len="med"/>
                      <a:tailEnd type="none" w="med" len="med"/>
                    </a:lnL>
                    <a:lnR w="6350" cap="flat" cmpd="sng" algn="ctr">
                      <a:solidFill>
                        <a:srgbClr val="C5D8D8"/>
                      </a:solidFill>
                      <a:prstDash val="solid"/>
                      <a:round/>
                      <a:headEnd type="none" w="med" len="med"/>
                      <a:tailEnd type="none" w="med" len="med"/>
                    </a:lnR>
                    <a:lnT w="6350" cap="flat" cmpd="sng" algn="ctr">
                      <a:solidFill>
                        <a:srgbClr val="C5D8D8"/>
                      </a:solidFill>
                      <a:prstDash val="solid"/>
                      <a:round/>
                      <a:headEnd type="none" w="med" len="med"/>
                      <a:tailEnd type="none" w="med" len="med"/>
                    </a:lnT>
                    <a:lnB w="6350" cap="flat" cmpd="sng" algn="ctr">
                      <a:solidFill>
                        <a:srgbClr val="C5D8D8"/>
                      </a:solidFill>
                      <a:prstDash val="solid"/>
                      <a:round/>
                      <a:headEnd type="none" w="med" len="med"/>
                      <a:tailEnd type="none" w="med" len="med"/>
                    </a:lnB>
                    <a:solidFill>
                      <a:srgbClr val="0A595F"/>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Planned Gen.</a:t>
                      </a:r>
                      <a:endParaRPr lang="en-US" sz="1000" dirty="0">
                        <a:latin typeface="Calibri" charset="0"/>
                        <a:ea typeface="Calibri" charset="0"/>
                        <a:cs typeface="Calibri" charset="0"/>
                      </a:endParaRPr>
                    </a:p>
                  </a:txBody>
                  <a:tcPr anchor="ctr">
                    <a:lnL w="6350" cap="flat" cmpd="sng" algn="ctr">
                      <a:solidFill>
                        <a:srgbClr val="C5D8D8"/>
                      </a:solidFill>
                      <a:prstDash val="solid"/>
                      <a:round/>
                      <a:headEnd type="none" w="med" len="med"/>
                      <a:tailEnd type="none" w="med" len="med"/>
                    </a:lnL>
                    <a:lnR w="6350" cap="flat" cmpd="sng" algn="ctr">
                      <a:solidFill>
                        <a:srgbClr val="C5D8D8"/>
                      </a:solidFill>
                      <a:prstDash val="solid"/>
                      <a:round/>
                      <a:headEnd type="none" w="med" len="med"/>
                      <a:tailEnd type="none" w="med" len="med"/>
                    </a:lnR>
                    <a:lnT w="6350" cap="flat" cmpd="sng" algn="ctr">
                      <a:solidFill>
                        <a:srgbClr val="C5D8D8"/>
                      </a:solidFill>
                      <a:prstDash val="solid"/>
                      <a:round/>
                      <a:headEnd type="none" w="med" len="med"/>
                      <a:tailEnd type="none" w="med" len="med"/>
                    </a:lnT>
                    <a:lnB w="6350" cap="flat" cmpd="sng" algn="ctr">
                      <a:solidFill>
                        <a:srgbClr val="C5D8D8"/>
                      </a:solidFill>
                      <a:prstDash val="solid"/>
                      <a:round/>
                      <a:headEnd type="none" w="med" len="med"/>
                      <a:tailEnd type="none" w="med" len="med"/>
                    </a:lnB>
                    <a:solidFill>
                      <a:srgbClr val="0A595F"/>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Exist. Intercon.</a:t>
                      </a:r>
                      <a:endParaRPr lang="en-US" sz="1000" dirty="0">
                        <a:latin typeface="Calibri" charset="0"/>
                        <a:ea typeface="Calibri" charset="0"/>
                        <a:cs typeface="Calibri" charset="0"/>
                      </a:endParaRPr>
                    </a:p>
                  </a:txBody>
                  <a:tcPr anchor="ctr">
                    <a:lnL w="6350" cap="flat" cmpd="sng" algn="ctr">
                      <a:solidFill>
                        <a:srgbClr val="C5D8D8"/>
                      </a:solidFill>
                      <a:prstDash val="solid"/>
                      <a:round/>
                      <a:headEnd type="none" w="med" len="med"/>
                      <a:tailEnd type="none" w="med" len="med"/>
                    </a:lnL>
                    <a:lnR w="6350" cap="flat" cmpd="sng" algn="ctr">
                      <a:solidFill>
                        <a:srgbClr val="C5D8D8"/>
                      </a:solidFill>
                      <a:prstDash val="solid"/>
                      <a:round/>
                      <a:headEnd type="none" w="med" len="med"/>
                      <a:tailEnd type="none" w="med" len="med"/>
                    </a:lnR>
                    <a:lnT w="6350" cap="flat" cmpd="sng" algn="ctr">
                      <a:solidFill>
                        <a:srgbClr val="C5D8D8"/>
                      </a:solidFill>
                      <a:prstDash val="solid"/>
                      <a:round/>
                      <a:headEnd type="none" w="med" len="med"/>
                      <a:tailEnd type="none" w="med" len="med"/>
                    </a:lnT>
                    <a:lnB w="6350" cap="flat" cmpd="sng" algn="ctr">
                      <a:solidFill>
                        <a:srgbClr val="C5D8D8"/>
                      </a:solidFill>
                      <a:prstDash val="solid"/>
                      <a:round/>
                      <a:headEnd type="none" w="med" len="med"/>
                      <a:tailEnd type="none" w="med" len="med"/>
                    </a:lnB>
                    <a:solidFill>
                      <a:srgbClr val="0A595F"/>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Planned Intercon.</a:t>
                      </a:r>
                      <a:endParaRPr lang="en-US" sz="1000" dirty="0">
                        <a:latin typeface="Calibri" charset="0"/>
                        <a:ea typeface="Calibri" charset="0"/>
                        <a:cs typeface="Calibri" charset="0"/>
                      </a:endParaRPr>
                    </a:p>
                  </a:txBody>
                  <a:tcPr anchor="ctr">
                    <a:lnL w="6350" cap="flat" cmpd="sng" algn="ctr">
                      <a:solidFill>
                        <a:srgbClr val="C5D8D8"/>
                      </a:solidFill>
                      <a:prstDash val="solid"/>
                      <a:round/>
                      <a:headEnd type="none" w="med" len="med"/>
                      <a:tailEnd type="none" w="med" len="med"/>
                    </a:lnL>
                    <a:lnR w="6350" cap="flat" cmpd="sng" algn="ctr">
                      <a:solidFill>
                        <a:srgbClr val="C5D8D8"/>
                      </a:solidFill>
                      <a:prstDash val="solid"/>
                      <a:round/>
                      <a:headEnd type="none" w="med" len="med"/>
                      <a:tailEnd type="none" w="med" len="med"/>
                    </a:lnR>
                    <a:lnT w="6350" cap="flat" cmpd="sng" algn="ctr">
                      <a:solidFill>
                        <a:srgbClr val="C5D8D8"/>
                      </a:solidFill>
                      <a:prstDash val="solid"/>
                      <a:round/>
                      <a:headEnd type="none" w="med" len="med"/>
                      <a:tailEnd type="none" w="med" len="med"/>
                    </a:lnT>
                    <a:lnB w="6350" cap="flat" cmpd="sng" algn="ctr">
                      <a:solidFill>
                        <a:srgbClr val="C5D8D8"/>
                      </a:solidFill>
                      <a:prstDash val="solid"/>
                      <a:round/>
                      <a:headEnd type="none" w="med" len="med"/>
                      <a:tailEnd type="none" w="med" len="med"/>
                    </a:lnB>
                    <a:solidFill>
                      <a:srgbClr val="0A595F"/>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Transmission</a:t>
                      </a:r>
                      <a:endParaRPr lang="en-US" sz="1000" dirty="0">
                        <a:latin typeface="Calibri" charset="0"/>
                        <a:ea typeface="Calibri" charset="0"/>
                        <a:cs typeface="Calibri" charset="0"/>
                      </a:endParaRPr>
                    </a:p>
                  </a:txBody>
                  <a:tcPr anchor="ctr">
                    <a:lnL w="6350" cap="flat" cmpd="sng" algn="ctr">
                      <a:solidFill>
                        <a:srgbClr val="C5D8D8"/>
                      </a:solidFill>
                      <a:prstDash val="solid"/>
                      <a:round/>
                      <a:headEnd type="none" w="med" len="med"/>
                      <a:tailEnd type="none" w="med" len="med"/>
                    </a:lnL>
                    <a:lnR w="6350" cap="flat" cmpd="sng" algn="ctr">
                      <a:solidFill>
                        <a:srgbClr val="C5D8D8"/>
                      </a:solidFill>
                      <a:prstDash val="solid"/>
                      <a:round/>
                      <a:headEnd type="none" w="med" len="med"/>
                      <a:tailEnd type="none" w="med" len="med"/>
                    </a:lnR>
                    <a:lnT w="6350" cap="flat" cmpd="sng" algn="ctr">
                      <a:solidFill>
                        <a:srgbClr val="C5D8D8"/>
                      </a:solidFill>
                      <a:prstDash val="solid"/>
                      <a:round/>
                      <a:headEnd type="none" w="med" len="med"/>
                      <a:tailEnd type="none" w="med" len="med"/>
                    </a:lnT>
                    <a:lnB w="6350" cap="flat" cmpd="sng" algn="ctr">
                      <a:solidFill>
                        <a:srgbClr val="C5D8D8"/>
                      </a:solidFill>
                      <a:prstDash val="solid"/>
                      <a:round/>
                      <a:headEnd type="none" w="med" len="med"/>
                      <a:tailEnd type="none" w="med" len="med"/>
                    </a:lnB>
                    <a:solidFill>
                      <a:srgbClr val="0A595F"/>
                    </a:solidFill>
                  </a:tcPr>
                </a:tc>
                <a:extLst>
                  <a:ext uri="{0D108BD9-81ED-4DB2-BD59-A6C34878D82A}">
                    <a16:rowId xmlns:a16="http://schemas.microsoft.com/office/drawing/2014/main" val="10000"/>
                  </a:ext>
                </a:extLst>
              </a:tr>
              <a:tr h="292608">
                <a:tc>
                  <a:txBody>
                    <a:bodyPr/>
                    <a:lstStyle/>
                    <a:p>
                      <a:pPr marL="0" indent="0" algn="l">
                        <a:buNone/>
                      </a:pPr>
                      <a:r>
                        <a:rPr lang="en-US" sz="1000" b="1" dirty="0">
                          <a:solidFill>
                            <a:srgbClr val="334155"/>
                          </a:solidFill>
                          <a:latin typeface="Calibri" pitchFamily="34" charset="0"/>
                          <a:ea typeface="Calibri" pitchFamily="34" charset="-122"/>
                          <a:cs typeface="Calibri" pitchFamily="34" charset="-120"/>
                        </a:rPr>
                        <a:t>India</a:t>
                      </a:r>
                      <a:endParaRPr lang="en-US" sz="1000" dirty="0">
                        <a:latin typeface="Calibri" charset="0"/>
                        <a:ea typeface="Calibri" charset="0"/>
                        <a:cs typeface="Calibri" charset="0"/>
                      </a:endParaRPr>
                    </a:p>
                  </a:txBody>
                  <a:tcPr anchor="ctr">
                    <a:lnL w="6350" cap="flat" cmpd="sng" algn="ctr">
                      <a:solidFill>
                        <a:srgbClr val="C5D8D8"/>
                      </a:solidFill>
                      <a:prstDash val="solid"/>
                      <a:round/>
                      <a:headEnd type="none" w="med" len="med"/>
                      <a:tailEnd type="none" w="med" len="med"/>
                    </a:lnL>
                    <a:lnR w="6350" cap="flat" cmpd="sng" algn="ctr">
                      <a:solidFill>
                        <a:srgbClr val="C5D8D8"/>
                      </a:solidFill>
                      <a:prstDash val="solid"/>
                      <a:round/>
                      <a:headEnd type="none" w="med" len="med"/>
                      <a:tailEnd type="none" w="med" len="med"/>
                    </a:lnR>
                    <a:lnT w="6350" cap="flat" cmpd="sng" algn="ctr">
                      <a:solidFill>
                        <a:srgbClr val="C5D8D8"/>
                      </a:solidFill>
                      <a:prstDash val="solid"/>
                      <a:round/>
                      <a:headEnd type="none" w="med" len="med"/>
                      <a:tailEnd type="none" w="med" len="med"/>
                    </a:lnT>
                    <a:lnB w="6350" cap="flat" cmpd="sng" algn="ctr">
                      <a:solidFill>
                        <a:srgbClr val="C5D8D8"/>
                      </a:solidFill>
                      <a:prstDash val="solid"/>
                      <a:round/>
                      <a:headEnd type="none" w="med" len="med"/>
                      <a:tailEnd type="none" w="med" len="med"/>
                    </a:lnB>
                  </a:tcPr>
                </a:tc>
                <a:tc>
                  <a:txBody>
                    <a:bodyPr/>
                    <a:lstStyle/>
                    <a:p>
                      <a:pPr marL="0" indent="0" algn="ctr">
                        <a:buNone/>
                      </a:pPr>
                      <a:r>
                        <a:rPr lang="en-US" sz="1000" dirty="0">
                          <a:solidFill>
                            <a:srgbClr val="334155"/>
                          </a:solidFill>
                          <a:latin typeface="Calibri" pitchFamily="34" charset="0"/>
                          <a:ea typeface="Calibri" pitchFamily="34" charset="-122"/>
                          <a:cs typeface="Calibri" pitchFamily="34" charset="-120"/>
                        </a:rPr>
                        <a:t>1,875</a:t>
                      </a:r>
                      <a:endParaRPr lang="en-US" sz="1000" dirty="0">
                        <a:latin typeface="Calibri" charset="0"/>
                        <a:ea typeface="Calibri" charset="0"/>
                        <a:cs typeface="Calibri" charset="0"/>
                      </a:endParaRPr>
                    </a:p>
                  </a:txBody>
                  <a:tcPr anchor="ctr">
                    <a:lnL w="6350" cap="flat" cmpd="sng" algn="ctr">
                      <a:solidFill>
                        <a:srgbClr val="C5D8D8"/>
                      </a:solidFill>
                      <a:prstDash val="solid"/>
                      <a:round/>
                      <a:headEnd type="none" w="med" len="med"/>
                      <a:tailEnd type="none" w="med" len="med"/>
                    </a:lnL>
                    <a:lnR w="6350" cap="flat" cmpd="sng" algn="ctr">
                      <a:solidFill>
                        <a:srgbClr val="C5D8D8"/>
                      </a:solidFill>
                      <a:prstDash val="solid"/>
                      <a:round/>
                      <a:headEnd type="none" w="med" len="med"/>
                      <a:tailEnd type="none" w="med" len="med"/>
                    </a:lnR>
                    <a:lnT w="6350" cap="flat" cmpd="sng" algn="ctr">
                      <a:solidFill>
                        <a:srgbClr val="C5D8D8"/>
                      </a:solidFill>
                      <a:prstDash val="solid"/>
                      <a:round/>
                      <a:headEnd type="none" w="med" len="med"/>
                      <a:tailEnd type="none" w="med" len="med"/>
                    </a:lnT>
                    <a:lnB w="6350" cap="flat" cmpd="sng" algn="ctr">
                      <a:solidFill>
                        <a:srgbClr val="C5D8D8"/>
                      </a:solidFill>
                      <a:prstDash val="solid"/>
                      <a:round/>
                      <a:headEnd type="none" w="med" len="med"/>
                      <a:tailEnd type="none" w="med" len="med"/>
                    </a:lnB>
                  </a:tcPr>
                </a:tc>
                <a:tc>
                  <a:txBody>
                    <a:bodyPr/>
                    <a:lstStyle/>
                    <a:p>
                      <a:pPr marL="0" indent="0" algn="ctr">
                        <a:buNone/>
                      </a:pPr>
                      <a:r>
                        <a:rPr lang="en-US" sz="1000" dirty="0">
                          <a:solidFill>
                            <a:srgbClr val="334155"/>
                          </a:solidFill>
                          <a:latin typeface="Calibri" pitchFamily="34" charset="0"/>
                          <a:ea typeface="Calibri" pitchFamily="34" charset="-122"/>
                          <a:cs typeface="Calibri" pitchFamily="34" charset="-120"/>
                        </a:rPr>
                        <a:t>379</a:t>
                      </a:r>
                      <a:endParaRPr lang="en-US" sz="1000" dirty="0">
                        <a:latin typeface="Calibri" charset="0"/>
                        <a:ea typeface="Calibri" charset="0"/>
                        <a:cs typeface="Calibri" charset="0"/>
                      </a:endParaRPr>
                    </a:p>
                  </a:txBody>
                  <a:tcPr anchor="ctr">
                    <a:lnL w="6350" cap="flat" cmpd="sng" algn="ctr">
                      <a:solidFill>
                        <a:srgbClr val="C5D8D8"/>
                      </a:solidFill>
                      <a:prstDash val="solid"/>
                      <a:round/>
                      <a:headEnd type="none" w="med" len="med"/>
                      <a:tailEnd type="none" w="med" len="med"/>
                    </a:lnL>
                    <a:lnR w="6350" cap="flat" cmpd="sng" algn="ctr">
                      <a:solidFill>
                        <a:srgbClr val="C5D8D8"/>
                      </a:solidFill>
                      <a:prstDash val="solid"/>
                      <a:round/>
                      <a:headEnd type="none" w="med" len="med"/>
                      <a:tailEnd type="none" w="med" len="med"/>
                    </a:lnR>
                    <a:lnT w="6350" cap="flat" cmpd="sng" algn="ctr">
                      <a:solidFill>
                        <a:srgbClr val="C5D8D8"/>
                      </a:solidFill>
                      <a:prstDash val="solid"/>
                      <a:round/>
                      <a:headEnd type="none" w="med" len="med"/>
                      <a:tailEnd type="none" w="med" len="med"/>
                    </a:lnT>
                    <a:lnB w="6350" cap="flat" cmpd="sng" algn="ctr">
                      <a:solidFill>
                        <a:srgbClr val="C5D8D8"/>
                      </a:solidFill>
                      <a:prstDash val="solid"/>
                      <a:round/>
                      <a:headEnd type="none" w="med" len="med"/>
                      <a:tailEnd type="none" w="med" len="med"/>
                    </a:lnB>
                  </a:tcPr>
                </a:tc>
                <a:tc>
                  <a:txBody>
                    <a:bodyPr/>
                    <a:lstStyle/>
                    <a:p>
                      <a:pPr marL="0" indent="0" algn="ctr">
                        <a:buNone/>
                      </a:pPr>
                      <a:r>
                        <a:rPr lang="en-US" sz="1000" dirty="0">
                          <a:solidFill>
                            <a:srgbClr val="334155"/>
                          </a:solidFill>
                          <a:latin typeface="Calibri" pitchFamily="34" charset="0"/>
                          <a:ea typeface="Calibri" pitchFamily="34" charset="-122"/>
                          <a:cs typeface="Calibri" pitchFamily="34" charset="-120"/>
                        </a:rPr>
                        <a:t>17</a:t>
                      </a:r>
                      <a:endParaRPr lang="en-US" sz="1000" dirty="0">
                        <a:latin typeface="Calibri" charset="0"/>
                        <a:ea typeface="Calibri" charset="0"/>
                        <a:cs typeface="Calibri" charset="0"/>
                      </a:endParaRPr>
                    </a:p>
                  </a:txBody>
                  <a:tcPr anchor="ctr">
                    <a:lnL w="6350" cap="flat" cmpd="sng" algn="ctr">
                      <a:solidFill>
                        <a:srgbClr val="C5D8D8"/>
                      </a:solidFill>
                      <a:prstDash val="solid"/>
                      <a:round/>
                      <a:headEnd type="none" w="med" len="med"/>
                      <a:tailEnd type="none" w="med" len="med"/>
                    </a:lnL>
                    <a:lnR w="6350" cap="flat" cmpd="sng" algn="ctr">
                      <a:solidFill>
                        <a:srgbClr val="C5D8D8"/>
                      </a:solidFill>
                      <a:prstDash val="solid"/>
                      <a:round/>
                      <a:headEnd type="none" w="med" len="med"/>
                      <a:tailEnd type="none" w="med" len="med"/>
                    </a:lnR>
                    <a:lnT w="6350" cap="flat" cmpd="sng" algn="ctr">
                      <a:solidFill>
                        <a:srgbClr val="C5D8D8"/>
                      </a:solidFill>
                      <a:prstDash val="solid"/>
                      <a:round/>
                      <a:headEnd type="none" w="med" len="med"/>
                      <a:tailEnd type="none" w="med" len="med"/>
                    </a:lnT>
                    <a:lnB w="6350" cap="flat" cmpd="sng" algn="ctr">
                      <a:solidFill>
                        <a:srgbClr val="C5D8D8"/>
                      </a:solidFill>
                      <a:prstDash val="solid"/>
                      <a:round/>
                      <a:headEnd type="none" w="med" len="med"/>
                      <a:tailEnd type="none" w="med" len="med"/>
                    </a:lnB>
                  </a:tcPr>
                </a:tc>
                <a:tc>
                  <a:txBody>
                    <a:bodyPr/>
                    <a:lstStyle/>
                    <a:p>
                      <a:pPr marL="0" indent="0" algn="ctr">
                        <a:buNone/>
                      </a:pPr>
                      <a:r>
                        <a:rPr lang="en-US" sz="1000" dirty="0">
                          <a:solidFill>
                            <a:srgbClr val="334155"/>
                          </a:solidFill>
                          <a:latin typeface="Calibri" pitchFamily="34" charset="0"/>
                          <a:ea typeface="Calibri" pitchFamily="34" charset="-122"/>
                          <a:cs typeface="Calibri" pitchFamily="34" charset="-120"/>
                        </a:rPr>
                        <a:t>13</a:t>
                      </a:r>
                      <a:endParaRPr lang="en-US" sz="1000" dirty="0">
                        <a:latin typeface="Calibri" charset="0"/>
                        <a:ea typeface="Calibri" charset="0"/>
                        <a:cs typeface="Calibri" charset="0"/>
                      </a:endParaRPr>
                    </a:p>
                  </a:txBody>
                  <a:tcPr anchor="ctr">
                    <a:lnL w="6350" cap="flat" cmpd="sng" algn="ctr">
                      <a:solidFill>
                        <a:srgbClr val="C5D8D8"/>
                      </a:solidFill>
                      <a:prstDash val="solid"/>
                      <a:round/>
                      <a:headEnd type="none" w="med" len="med"/>
                      <a:tailEnd type="none" w="med" len="med"/>
                    </a:lnL>
                    <a:lnR w="6350" cap="flat" cmpd="sng" algn="ctr">
                      <a:solidFill>
                        <a:srgbClr val="C5D8D8"/>
                      </a:solidFill>
                      <a:prstDash val="solid"/>
                      <a:round/>
                      <a:headEnd type="none" w="med" len="med"/>
                      <a:tailEnd type="none" w="med" len="med"/>
                    </a:lnR>
                    <a:lnT w="6350" cap="flat" cmpd="sng" algn="ctr">
                      <a:solidFill>
                        <a:srgbClr val="C5D8D8"/>
                      </a:solidFill>
                      <a:prstDash val="solid"/>
                      <a:round/>
                      <a:headEnd type="none" w="med" len="med"/>
                      <a:tailEnd type="none" w="med" len="med"/>
                    </a:lnT>
                    <a:lnB w="6350" cap="flat" cmpd="sng" algn="ctr">
                      <a:solidFill>
                        <a:srgbClr val="C5D8D8"/>
                      </a:solidFill>
                      <a:prstDash val="solid"/>
                      <a:round/>
                      <a:headEnd type="none" w="med" len="med"/>
                      <a:tailEnd type="none" w="med" len="med"/>
                    </a:lnB>
                  </a:tcPr>
                </a:tc>
                <a:tc>
                  <a:txBody>
                    <a:bodyPr/>
                    <a:lstStyle/>
                    <a:p>
                      <a:pPr marL="0" indent="0" algn="ctr">
                        <a:buNone/>
                      </a:pPr>
                      <a:r>
                        <a:rPr lang="en-US" sz="1000" dirty="0">
                          <a:solidFill>
                            <a:srgbClr val="334155"/>
                          </a:solidFill>
                          <a:latin typeface="Calibri" pitchFamily="34" charset="0"/>
                          <a:ea typeface="Calibri" pitchFamily="34" charset="-122"/>
                          <a:cs typeface="Calibri" pitchFamily="34" charset="-120"/>
                        </a:rPr>
                        <a:t>2,089 lines</a:t>
                      </a:r>
                      <a:endParaRPr lang="en-US" sz="1000" dirty="0">
                        <a:latin typeface="Calibri" charset="0"/>
                        <a:ea typeface="Calibri" charset="0"/>
                        <a:cs typeface="Calibri" charset="0"/>
                      </a:endParaRPr>
                    </a:p>
                  </a:txBody>
                  <a:tcPr anchor="ctr">
                    <a:lnL w="6350" cap="flat" cmpd="sng" algn="ctr">
                      <a:solidFill>
                        <a:srgbClr val="C5D8D8"/>
                      </a:solidFill>
                      <a:prstDash val="solid"/>
                      <a:round/>
                      <a:headEnd type="none" w="med" len="med"/>
                      <a:tailEnd type="none" w="med" len="med"/>
                    </a:lnL>
                    <a:lnR w="6350" cap="flat" cmpd="sng" algn="ctr">
                      <a:solidFill>
                        <a:srgbClr val="C5D8D8"/>
                      </a:solidFill>
                      <a:prstDash val="solid"/>
                      <a:round/>
                      <a:headEnd type="none" w="med" len="med"/>
                      <a:tailEnd type="none" w="med" len="med"/>
                    </a:lnR>
                    <a:lnT w="6350" cap="flat" cmpd="sng" algn="ctr">
                      <a:solidFill>
                        <a:srgbClr val="C5D8D8"/>
                      </a:solidFill>
                      <a:prstDash val="solid"/>
                      <a:round/>
                      <a:headEnd type="none" w="med" len="med"/>
                      <a:tailEnd type="none" w="med" len="med"/>
                    </a:lnT>
                    <a:lnB w="6350" cap="flat" cmpd="sng" algn="ctr">
                      <a:solidFill>
                        <a:srgbClr val="C5D8D8"/>
                      </a:solidFill>
                      <a:prstDash val="solid"/>
                      <a:round/>
                      <a:headEnd type="none" w="med" len="med"/>
                      <a:tailEnd type="none" w="med" len="med"/>
                    </a:lnB>
                  </a:tcPr>
                </a:tc>
                <a:extLst>
                  <a:ext uri="{0D108BD9-81ED-4DB2-BD59-A6C34878D82A}">
                    <a16:rowId xmlns:a16="http://schemas.microsoft.com/office/drawing/2014/main" val="10001"/>
                  </a:ext>
                </a:extLst>
              </a:tr>
              <a:tr h="292608">
                <a:tc>
                  <a:txBody>
                    <a:bodyPr/>
                    <a:lstStyle/>
                    <a:p>
                      <a:pPr marL="0" indent="0" algn="l">
                        <a:buNone/>
                      </a:pPr>
                      <a:r>
                        <a:rPr lang="en-US" sz="1000" b="1" dirty="0">
                          <a:solidFill>
                            <a:srgbClr val="334155"/>
                          </a:solidFill>
                          <a:latin typeface="Calibri" pitchFamily="34" charset="0"/>
                          <a:ea typeface="Calibri" pitchFamily="34" charset="-122"/>
                          <a:cs typeface="Calibri" pitchFamily="34" charset="-120"/>
                        </a:rPr>
                        <a:t>Bangladesh</a:t>
                      </a:r>
                      <a:endParaRPr lang="en-US" sz="1000" dirty="0">
                        <a:latin typeface="Calibri" charset="0"/>
                        <a:ea typeface="Calibri" charset="0"/>
                        <a:cs typeface="Calibri" charset="0"/>
                      </a:endParaRPr>
                    </a:p>
                  </a:txBody>
                  <a:tcPr anchor="ctr">
                    <a:lnL w="6350" cap="flat" cmpd="sng" algn="ctr">
                      <a:solidFill>
                        <a:srgbClr val="C5D8D8"/>
                      </a:solidFill>
                      <a:prstDash val="solid"/>
                      <a:round/>
                      <a:headEnd type="none" w="med" len="med"/>
                      <a:tailEnd type="none" w="med" len="med"/>
                    </a:lnL>
                    <a:lnR w="6350" cap="flat" cmpd="sng" algn="ctr">
                      <a:solidFill>
                        <a:srgbClr val="C5D8D8"/>
                      </a:solidFill>
                      <a:prstDash val="solid"/>
                      <a:round/>
                      <a:headEnd type="none" w="med" len="med"/>
                      <a:tailEnd type="none" w="med" len="med"/>
                    </a:lnR>
                    <a:lnT w="6350" cap="flat" cmpd="sng" algn="ctr">
                      <a:solidFill>
                        <a:srgbClr val="C5D8D8"/>
                      </a:solidFill>
                      <a:prstDash val="solid"/>
                      <a:round/>
                      <a:headEnd type="none" w="med" len="med"/>
                      <a:tailEnd type="none" w="med" len="med"/>
                    </a:lnT>
                    <a:lnB w="6350" cap="flat" cmpd="sng" algn="ctr">
                      <a:solidFill>
                        <a:srgbClr val="C5D8D8"/>
                      </a:solidFill>
                      <a:prstDash val="solid"/>
                      <a:round/>
                      <a:headEnd type="none" w="med" len="med"/>
                      <a:tailEnd type="none" w="med" len="med"/>
                    </a:lnB>
                  </a:tcPr>
                </a:tc>
                <a:tc>
                  <a:txBody>
                    <a:bodyPr/>
                    <a:lstStyle/>
                    <a:p>
                      <a:pPr marL="0" indent="0" algn="ctr">
                        <a:buNone/>
                      </a:pPr>
                      <a:r>
                        <a:rPr lang="en-US" sz="1000" dirty="0">
                          <a:solidFill>
                            <a:srgbClr val="334155"/>
                          </a:solidFill>
                          <a:latin typeface="Calibri" pitchFamily="34" charset="0"/>
                          <a:ea typeface="Calibri" pitchFamily="34" charset="-122"/>
                          <a:cs typeface="Calibri" pitchFamily="34" charset="-120"/>
                        </a:rPr>
                        <a:t>140</a:t>
                      </a:r>
                      <a:endParaRPr lang="en-US" sz="1000" dirty="0">
                        <a:latin typeface="Calibri" charset="0"/>
                        <a:ea typeface="Calibri" charset="0"/>
                        <a:cs typeface="Calibri" charset="0"/>
                      </a:endParaRPr>
                    </a:p>
                  </a:txBody>
                  <a:tcPr anchor="ctr">
                    <a:lnL w="6350" cap="flat" cmpd="sng" algn="ctr">
                      <a:solidFill>
                        <a:srgbClr val="C5D8D8"/>
                      </a:solidFill>
                      <a:prstDash val="solid"/>
                      <a:round/>
                      <a:headEnd type="none" w="med" len="med"/>
                      <a:tailEnd type="none" w="med" len="med"/>
                    </a:lnL>
                    <a:lnR w="6350" cap="flat" cmpd="sng" algn="ctr">
                      <a:solidFill>
                        <a:srgbClr val="C5D8D8"/>
                      </a:solidFill>
                      <a:prstDash val="solid"/>
                      <a:round/>
                      <a:headEnd type="none" w="med" len="med"/>
                      <a:tailEnd type="none" w="med" len="med"/>
                    </a:lnR>
                    <a:lnT w="6350" cap="flat" cmpd="sng" algn="ctr">
                      <a:solidFill>
                        <a:srgbClr val="C5D8D8"/>
                      </a:solidFill>
                      <a:prstDash val="solid"/>
                      <a:round/>
                      <a:headEnd type="none" w="med" len="med"/>
                      <a:tailEnd type="none" w="med" len="med"/>
                    </a:lnT>
                    <a:lnB w="6350" cap="flat" cmpd="sng" algn="ctr">
                      <a:solidFill>
                        <a:srgbClr val="C5D8D8"/>
                      </a:solidFill>
                      <a:prstDash val="solid"/>
                      <a:round/>
                      <a:headEnd type="none" w="med" len="med"/>
                      <a:tailEnd type="none" w="med" len="med"/>
                    </a:lnB>
                  </a:tcPr>
                </a:tc>
                <a:tc>
                  <a:txBody>
                    <a:bodyPr/>
                    <a:lstStyle/>
                    <a:p>
                      <a:pPr marL="0" indent="0" algn="ctr">
                        <a:buNone/>
                      </a:pPr>
                      <a:r>
                        <a:rPr lang="en-US" sz="1000" dirty="0">
                          <a:solidFill>
                            <a:srgbClr val="334155"/>
                          </a:solidFill>
                          <a:latin typeface="Calibri" pitchFamily="34" charset="0"/>
                          <a:ea typeface="Calibri" pitchFamily="34" charset="-122"/>
                          <a:cs typeface="Calibri" pitchFamily="34" charset="-120"/>
                        </a:rPr>
                        <a:t>17</a:t>
                      </a:r>
                      <a:endParaRPr lang="en-US" sz="1000" dirty="0">
                        <a:latin typeface="Calibri" charset="0"/>
                        <a:ea typeface="Calibri" charset="0"/>
                        <a:cs typeface="Calibri" charset="0"/>
                      </a:endParaRPr>
                    </a:p>
                  </a:txBody>
                  <a:tcPr anchor="ctr">
                    <a:lnL w="6350" cap="flat" cmpd="sng" algn="ctr">
                      <a:solidFill>
                        <a:srgbClr val="C5D8D8"/>
                      </a:solidFill>
                      <a:prstDash val="solid"/>
                      <a:round/>
                      <a:headEnd type="none" w="med" len="med"/>
                      <a:tailEnd type="none" w="med" len="med"/>
                    </a:lnL>
                    <a:lnR w="6350" cap="flat" cmpd="sng" algn="ctr">
                      <a:solidFill>
                        <a:srgbClr val="C5D8D8"/>
                      </a:solidFill>
                      <a:prstDash val="solid"/>
                      <a:round/>
                      <a:headEnd type="none" w="med" len="med"/>
                      <a:tailEnd type="none" w="med" len="med"/>
                    </a:lnR>
                    <a:lnT w="6350" cap="flat" cmpd="sng" algn="ctr">
                      <a:solidFill>
                        <a:srgbClr val="C5D8D8"/>
                      </a:solidFill>
                      <a:prstDash val="solid"/>
                      <a:round/>
                      <a:headEnd type="none" w="med" len="med"/>
                      <a:tailEnd type="none" w="med" len="med"/>
                    </a:lnT>
                    <a:lnB w="6350" cap="flat" cmpd="sng" algn="ctr">
                      <a:solidFill>
                        <a:srgbClr val="C5D8D8"/>
                      </a:solidFill>
                      <a:prstDash val="solid"/>
                      <a:round/>
                      <a:headEnd type="none" w="med" len="med"/>
                      <a:tailEnd type="none" w="med" len="med"/>
                    </a:lnB>
                  </a:tcPr>
                </a:tc>
                <a:tc>
                  <a:txBody>
                    <a:bodyPr/>
                    <a:lstStyle/>
                    <a:p>
                      <a:pPr marL="0" indent="0" algn="ctr">
                        <a:buNone/>
                      </a:pPr>
                      <a:r>
                        <a:rPr lang="en-US" sz="1000" dirty="0">
                          <a:solidFill>
                            <a:srgbClr val="334155"/>
                          </a:solidFill>
                          <a:latin typeface="Calibri" pitchFamily="34" charset="0"/>
                          <a:ea typeface="Calibri" pitchFamily="34" charset="-122"/>
                          <a:cs typeface="Calibri" pitchFamily="34" charset="-120"/>
                        </a:rPr>
                        <a:t>7</a:t>
                      </a:r>
                      <a:endParaRPr lang="en-US" sz="1000" dirty="0">
                        <a:latin typeface="Calibri" charset="0"/>
                        <a:ea typeface="Calibri" charset="0"/>
                        <a:cs typeface="Calibri" charset="0"/>
                      </a:endParaRPr>
                    </a:p>
                  </a:txBody>
                  <a:tcPr anchor="ctr">
                    <a:lnL w="6350" cap="flat" cmpd="sng" algn="ctr">
                      <a:solidFill>
                        <a:srgbClr val="C5D8D8"/>
                      </a:solidFill>
                      <a:prstDash val="solid"/>
                      <a:round/>
                      <a:headEnd type="none" w="med" len="med"/>
                      <a:tailEnd type="none" w="med" len="med"/>
                    </a:lnL>
                    <a:lnR w="6350" cap="flat" cmpd="sng" algn="ctr">
                      <a:solidFill>
                        <a:srgbClr val="C5D8D8"/>
                      </a:solidFill>
                      <a:prstDash val="solid"/>
                      <a:round/>
                      <a:headEnd type="none" w="med" len="med"/>
                      <a:tailEnd type="none" w="med" len="med"/>
                    </a:lnR>
                    <a:lnT w="6350" cap="flat" cmpd="sng" algn="ctr">
                      <a:solidFill>
                        <a:srgbClr val="C5D8D8"/>
                      </a:solidFill>
                      <a:prstDash val="solid"/>
                      <a:round/>
                      <a:headEnd type="none" w="med" len="med"/>
                      <a:tailEnd type="none" w="med" len="med"/>
                    </a:lnT>
                    <a:lnB w="6350" cap="flat" cmpd="sng" algn="ctr">
                      <a:solidFill>
                        <a:srgbClr val="C5D8D8"/>
                      </a:solidFill>
                      <a:prstDash val="solid"/>
                      <a:round/>
                      <a:headEnd type="none" w="med" len="med"/>
                      <a:tailEnd type="none" w="med" len="med"/>
                    </a:lnB>
                  </a:tcPr>
                </a:tc>
                <a:tc>
                  <a:txBody>
                    <a:bodyPr/>
                    <a:lstStyle/>
                    <a:p>
                      <a:pPr marL="0" indent="0" algn="ctr">
                        <a:buNone/>
                      </a:pPr>
                      <a:r>
                        <a:rPr lang="en-US" sz="1000" dirty="0">
                          <a:solidFill>
                            <a:srgbClr val="334155"/>
                          </a:solidFill>
                          <a:latin typeface="Calibri" pitchFamily="34" charset="0"/>
                          <a:ea typeface="Calibri" pitchFamily="34" charset="-122"/>
                          <a:cs typeface="Calibri" pitchFamily="34" charset="-120"/>
                        </a:rPr>
                        <a:t>10</a:t>
                      </a:r>
                      <a:endParaRPr lang="en-US" sz="1000" dirty="0">
                        <a:latin typeface="Calibri" charset="0"/>
                        <a:ea typeface="Calibri" charset="0"/>
                        <a:cs typeface="Calibri" charset="0"/>
                      </a:endParaRPr>
                    </a:p>
                  </a:txBody>
                  <a:tcPr anchor="ctr">
                    <a:lnL w="6350" cap="flat" cmpd="sng" algn="ctr">
                      <a:solidFill>
                        <a:srgbClr val="C5D8D8"/>
                      </a:solidFill>
                      <a:prstDash val="solid"/>
                      <a:round/>
                      <a:headEnd type="none" w="med" len="med"/>
                      <a:tailEnd type="none" w="med" len="med"/>
                    </a:lnL>
                    <a:lnR w="6350" cap="flat" cmpd="sng" algn="ctr">
                      <a:solidFill>
                        <a:srgbClr val="C5D8D8"/>
                      </a:solidFill>
                      <a:prstDash val="solid"/>
                      <a:round/>
                      <a:headEnd type="none" w="med" len="med"/>
                      <a:tailEnd type="none" w="med" len="med"/>
                    </a:lnR>
                    <a:lnT w="6350" cap="flat" cmpd="sng" algn="ctr">
                      <a:solidFill>
                        <a:srgbClr val="C5D8D8"/>
                      </a:solidFill>
                      <a:prstDash val="solid"/>
                      <a:round/>
                      <a:headEnd type="none" w="med" len="med"/>
                      <a:tailEnd type="none" w="med" len="med"/>
                    </a:lnT>
                    <a:lnB w="6350" cap="flat" cmpd="sng" algn="ctr">
                      <a:solidFill>
                        <a:srgbClr val="C5D8D8"/>
                      </a:solidFill>
                      <a:prstDash val="solid"/>
                      <a:round/>
                      <a:headEnd type="none" w="med" len="med"/>
                      <a:tailEnd type="none" w="med" len="med"/>
                    </a:lnB>
                  </a:tcPr>
                </a:tc>
                <a:tc>
                  <a:txBody>
                    <a:bodyPr/>
                    <a:lstStyle/>
                    <a:p>
                      <a:pPr marL="0" indent="0" algn="ctr">
                        <a:buNone/>
                      </a:pPr>
                      <a:r>
                        <a:rPr lang="en-US" sz="1000" dirty="0">
                          <a:solidFill>
                            <a:srgbClr val="334155"/>
                          </a:solidFill>
                          <a:latin typeface="Calibri" pitchFamily="34" charset="0"/>
                          <a:ea typeface="Calibri" pitchFamily="34" charset="-122"/>
                          <a:cs typeface="Calibri" pitchFamily="34" charset="-120"/>
                        </a:rPr>
                        <a:t>30 lines</a:t>
                      </a:r>
                      <a:endParaRPr lang="en-US" sz="1000" dirty="0">
                        <a:latin typeface="Calibri" charset="0"/>
                        <a:ea typeface="Calibri" charset="0"/>
                        <a:cs typeface="Calibri" charset="0"/>
                      </a:endParaRPr>
                    </a:p>
                  </a:txBody>
                  <a:tcPr anchor="ctr">
                    <a:lnL w="6350" cap="flat" cmpd="sng" algn="ctr">
                      <a:solidFill>
                        <a:srgbClr val="C5D8D8"/>
                      </a:solidFill>
                      <a:prstDash val="solid"/>
                      <a:round/>
                      <a:headEnd type="none" w="med" len="med"/>
                      <a:tailEnd type="none" w="med" len="med"/>
                    </a:lnL>
                    <a:lnR w="6350" cap="flat" cmpd="sng" algn="ctr">
                      <a:solidFill>
                        <a:srgbClr val="C5D8D8"/>
                      </a:solidFill>
                      <a:prstDash val="solid"/>
                      <a:round/>
                      <a:headEnd type="none" w="med" len="med"/>
                      <a:tailEnd type="none" w="med" len="med"/>
                    </a:lnR>
                    <a:lnT w="6350" cap="flat" cmpd="sng" algn="ctr">
                      <a:solidFill>
                        <a:srgbClr val="C5D8D8"/>
                      </a:solidFill>
                      <a:prstDash val="solid"/>
                      <a:round/>
                      <a:headEnd type="none" w="med" len="med"/>
                      <a:tailEnd type="none" w="med" len="med"/>
                    </a:lnT>
                    <a:lnB w="6350" cap="flat" cmpd="sng" algn="ctr">
                      <a:solidFill>
                        <a:srgbClr val="C5D8D8"/>
                      </a:solidFill>
                      <a:prstDash val="solid"/>
                      <a:round/>
                      <a:headEnd type="none" w="med" len="med"/>
                      <a:tailEnd type="none" w="med" len="med"/>
                    </a:lnB>
                  </a:tcPr>
                </a:tc>
                <a:extLst>
                  <a:ext uri="{0D108BD9-81ED-4DB2-BD59-A6C34878D82A}">
                    <a16:rowId xmlns:a16="http://schemas.microsoft.com/office/drawing/2014/main" val="10002"/>
                  </a:ext>
                </a:extLst>
              </a:tr>
              <a:tr h="292608">
                <a:tc>
                  <a:txBody>
                    <a:bodyPr/>
                    <a:lstStyle/>
                    <a:p>
                      <a:pPr marL="0" indent="0" algn="l">
                        <a:buNone/>
                      </a:pPr>
                      <a:r>
                        <a:rPr lang="en-US" sz="1000" b="1" dirty="0">
                          <a:solidFill>
                            <a:srgbClr val="334155"/>
                          </a:solidFill>
                          <a:latin typeface="Calibri" pitchFamily="34" charset="0"/>
                          <a:ea typeface="Calibri" pitchFamily="34" charset="-122"/>
                          <a:cs typeface="Calibri" pitchFamily="34" charset="-120"/>
                        </a:rPr>
                        <a:t>Nepal</a:t>
                      </a:r>
                      <a:endParaRPr lang="en-US" sz="1000" dirty="0">
                        <a:latin typeface="Calibri" charset="0"/>
                        <a:ea typeface="Calibri" charset="0"/>
                        <a:cs typeface="Calibri" charset="0"/>
                      </a:endParaRPr>
                    </a:p>
                  </a:txBody>
                  <a:tcPr anchor="ctr">
                    <a:lnL w="6350" cap="flat" cmpd="sng" algn="ctr">
                      <a:solidFill>
                        <a:srgbClr val="C5D8D8"/>
                      </a:solidFill>
                      <a:prstDash val="solid"/>
                      <a:round/>
                      <a:headEnd type="none" w="med" len="med"/>
                      <a:tailEnd type="none" w="med" len="med"/>
                    </a:lnL>
                    <a:lnR w="6350" cap="flat" cmpd="sng" algn="ctr">
                      <a:solidFill>
                        <a:srgbClr val="C5D8D8"/>
                      </a:solidFill>
                      <a:prstDash val="solid"/>
                      <a:round/>
                      <a:headEnd type="none" w="med" len="med"/>
                      <a:tailEnd type="none" w="med" len="med"/>
                    </a:lnR>
                    <a:lnT w="6350" cap="flat" cmpd="sng" algn="ctr">
                      <a:solidFill>
                        <a:srgbClr val="C5D8D8"/>
                      </a:solidFill>
                      <a:prstDash val="solid"/>
                      <a:round/>
                      <a:headEnd type="none" w="med" len="med"/>
                      <a:tailEnd type="none" w="med" len="med"/>
                    </a:lnT>
                    <a:lnB w="6350" cap="flat" cmpd="sng" algn="ctr">
                      <a:solidFill>
                        <a:srgbClr val="C5D8D8"/>
                      </a:solidFill>
                      <a:prstDash val="solid"/>
                      <a:round/>
                      <a:headEnd type="none" w="med" len="med"/>
                      <a:tailEnd type="none" w="med" len="med"/>
                    </a:lnB>
                  </a:tcPr>
                </a:tc>
                <a:tc>
                  <a:txBody>
                    <a:bodyPr/>
                    <a:lstStyle/>
                    <a:p>
                      <a:pPr marL="0" indent="0" algn="ctr">
                        <a:buNone/>
                      </a:pPr>
                      <a:r>
                        <a:rPr lang="en-US" sz="1000" dirty="0">
                          <a:solidFill>
                            <a:srgbClr val="334155"/>
                          </a:solidFill>
                          <a:latin typeface="Calibri" pitchFamily="34" charset="0"/>
                          <a:ea typeface="Calibri" pitchFamily="34" charset="-122"/>
                          <a:cs typeface="Calibri" pitchFamily="34" charset="-120"/>
                        </a:rPr>
                        <a:t>48</a:t>
                      </a:r>
                      <a:endParaRPr lang="en-US" sz="1000" dirty="0">
                        <a:latin typeface="Calibri" charset="0"/>
                        <a:ea typeface="Calibri" charset="0"/>
                        <a:cs typeface="Calibri" charset="0"/>
                      </a:endParaRPr>
                    </a:p>
                  </a:txBody>
                  <a:tcPr anchor="ctr">
                    <a:lnL w="6350" cap="flat" cmpd="sng" algn="ctr">
                      <a:solidFill>
                        <a:srgbClr val="C5D8D8"/>
                      </a:solidFill>
                      <a:prstDash val="solid"/>
                      <a:round/>
                      <a:headEnd type="none" w="med" len="med"/>
                      <a:tailEnd type="none" w="med" len="med"/>
                    </a:lnL>
                    <a:lnR w="6350" cap="flat" cmpd="sng" algn="ctr">
                      <a:solidFill>
                        <a:srgbClr val="C5D8D8"/>
                      </a:solidFill>
                      <a:prstDash val="solid"/>
                      <a:round/>
                      <a:headEnd type="none" w="med" len="med"/>
                      <a:tailEnd type="none" w="med" len="med"/>
                    </a:lnR>
                    <a:lnT w="6350" cap="flat" cmpd="sng" algn="ctr">
                      <a:solidFill>
                        <a:srgbClr val="C5D8D8"/>
                      </a:solidFill>
                      <a:prstDash val="solid"/>
                      <a:round/>
                      <a:headEnd type="none" w="med" len="med"/>
                      <a:tailEnd type="none" w="med" len="med"/>
                    </a:lnT>
                    <a:lnB w="6350" cap="flat" cmpd="sng" algn="ctr">
                      <a:solidFill>
                        <a:srgbClr val="C5D8D8"/>
                      </a:solidFill>
                      <a:prstDash val="solid"/>
                      <a:round/>
                      <a:headEnd type="none" w="med" len="med"/>
                      <a:tailEnd type="none" w="med" len="med"/>
                    </a:lnB>
                  </a:tcPr>
                </a:tc>
                <a:tc>
                  <a:txBody>
                    <a:bodyPr/>
                    <a:lstStyle/>
                    <a:p>
                      <a:pPr marL="0" indent="0" algn="ctr">
                        <a:buNone/>
                      </a:pPr>
                      <a:r>
                        <a:rPr lang="en-US" sz="1000" dirty="0">
                          <a:solidFill>
                            <a:srgbClr val="334155"/>
                          </a:solidFill>
                          <a:latin typeface="Calibri" pitchFamily="34" charset="0"/>
                          <a:ea typeface="Calibri" pitchFamily="34" charset="-122"/>
                          <a:cs typeface="Calibri" pitchFamily="34" charset="-120"/>
                        </a:rPr>
                        <a:t>32</a:t>
                      </a:r>
                      <a:endParaRPr lang="en-US" sz="1000" dirty="0">
                        <a:latin typeface="Calibri" charset="0"/>
                        <a:ea typeface="Calibri" charset="0"/>
                        <a:cs typeface="Calibri" charset="0"/>
                      </a:endParaRPr>
                    </a:p>
                  </a:txBody>
                  <a:tcPr anchor="ctr">
                    <a:lnL w="6350" cap="flat" cmpd="sng" algn="ctr">
                      <a:solidFill>
                        <a:srgbClr val="C5D8D8"/>
                      </a:solidFill>
                      <a:prstDash val="solid"/>
                      <a:round/>
                      <a:headEnd type="none" w="med" len="med"/>
                      <a:tailEnd type="none" w="med" len="med"/>
                    </a:lnL>
                    <a:lnR w="6350" cap="flat" cmpd="sng" algn="ctr">
                      <a:solidFill>
                        <a:srgbClr val="C5D8D8"/>
                      </a:solidFill>
                      <a:prstDash val="solid"/>
                      <a:round/>
                      <a:headEnd type="none" w="med" len="med"/>
                      <a:tailEnd type="none" w="med" len="med"/>
                    </a:lnR>
                    <a:lnT w="6350" cap="flat" cmpd="sng" algn="ctr">
                      <a:solidFill>
                        <a:srgbClr val="C5D8D8"/>
                      </a:solidFill>
                      <a:prstDash val="solid"/>
                      <a:round/>
                      <a:headEnd type="none" w="med" len="med"/>
                      <a:tailEnd type="none" w="med" len="med"/>
                    </a:lnT>
                    <a:lnB w="6350" cap="flat" cmpd="sng" algn="ctr">
                      <a:solidFill>
                        <a:srgbClr val="C5D8D8"/>
                      </a:solidFill>
                      <a:prstDash val="solid"/>
                      <a:round/>
                      <a:headEnd type="none" w="med" len="med"/>
                      <a:tailEnd type="none" w="med" len="med"/>
                    </a:lnB>
                  </a:tcPr>
                </a:tc>
                <a:tc>
                  <a:txBody>
                    <a:bodyPr/>
                    <a:lstStyle/>
                    <a:p>
                      <a:pPr marL="0" indent="0" algn="ctr">
                        <a:buNone/>
                      </a:pPr>
                      <a:r>
                        <a:rPr lang="en-US" sz="1000" dirty="0">
                          <a:solidFill>
                            <a:srgbClr val="334155"/>
                          </a:solidFill>
                          <a:latin typeface="Calibri" pitchFamily="34" charset="0"/>
                          <a:ea typeface="Calibri" pitchFamily="34" charset="-122"/>
                          <a:cs typeface="Calibri" pitchFamily="34" charset="-120"/>
                        </a:rPr>
                        <a:t>6</a:t>
                      </a:r>
                      <a:endParaRPr lang="en-US" sz="1000" dirty="0">
                        <a:latin typeface="Calibri" charset="0"/>
                        <a:ea typeface="Calibri" charset="0"/>
                        <a:cs typeface="Calibri" charset="0"/>
                      </a:endParaRPr>
                    </a:p>
                  </a:txBody>
                  <a:tcPr anchor="ctr">
                    <a:lnL w="6350" cap="flat" cmpd="sng" algn="ctr">
                      <a:solidFill>
                        <a:srgbClr val="C5D8D8"/>
                      </a:solidFill>
                      <a:prstDash val="solid"/>
                      <a:round/>
                      <a:headEnd type="none" w="med" len="med"/>
                      <a:tailEnd type="none" w="med" len="med"/>
                    </a:lnL>
                    <a:lnR w="6350" cap="flat" cmpd="sng" algn="ctr">
                      <a:solidFill>
                        <a:srgbClr val="C5D8D8"/>
                      </a:solidFill>
                      <a:prstDash val="solid"/>
                      <a:round/>
                      <a:headEnd type="none" w="med" len="med"/>
                      <a:tailEnd type="none" w="med" len="med"/>
                    </a:lnR>
                    <a:lnT w="6350" cap="flat" cmpd="sng" algn="ctr">
                      <a:solidFill>
                        <a:srgbClr val="C5D8D8"/>
                      </a:solidFill>
                      <a:prstDash val="solid"/>
                      <a:round/>
                      <a:headEnd type="none" w="med" len="med"/>
                      <a:tailEnd type="none" w="med" len="med"/>
                    </a:lnT>
                    <a:lnB w="6350" cap="flat" cmpd="sng" algn="ctr">
                      <a:solidFill>
                        <a:srgbClr val="C5D8D8"/>
                      </a:solidFill>
                      <a:prstDash val="solid"/>
                      <a:round/>
                      <a:headEnd type="none" w="med" len="med"/>
                      <a:tailEnd type="none" w="med" len="med"/>
                    </a:lnB>
                  </a:tcPr>
                </a:tc>
                <a:tc>
                  <a:txBody>
                    <a:bodyPr/>
                    <a:lstStyle/>
                    <a:p>
                      <a:pPr marL="0" indent="0" algn="ctr">
                        <a:buNone/>
                      </a:pPr>
                      <a:r>
                        <a:rPr lang="en-US" sz="1000" dirty="0">
                          <a:solidFill>
                            <a:srgbClr val="334155"/>
                          </a:solidFill>
                          <a:latin typeface="Calibri" pitchFamily="34" charset="0"/>
                          <a:ea typeface="Calibri" pitchFamily="34" charset="-122"/>
                          <a:cs typeface="Calibri" pitchFamily="34" charset="-120"/>
                        </a:rPr>
                        <a:t>7</a:t>
                      </a:r>
                      <a:endParaRPr lang="en-US" sz="1000" dirty="0">
                        <a:latin typeface="Calibri" charset="0"/>
                        <a:ea typeface="Calibri" charset="0"/>
                        <a:cs typeface="Calibri" charset="0"/>
                      </a:endParaRPr>
                    </a:p>
                  </a:txBody>
                  <a:tcPr anchor="ctr">
                    <a:lnL w="6350" cap="flat" cmpd="sng" algn="ctr">
                      <a:solidFill>
                        <a:srgbClr val="C5D8D8"/>
                      </a:solidFill>
                      <a:prstDash val="solid"/>
                      <a:round/>
                      <a:headEnd type="none" w="med" len="med"/>
                      <a:tailEnd type="none" w="med" len="med"/>
                    </a:lnL>
                    <a:lnR w="6350" cap="flat" cmpd="sng" algn="ctr">
                      <a:solidFill>
                        <a:srgbClr val="C5D8D8"/>
                      </a:solidFill>
                      <a:prstDash val="solid"/>
                      <a:round/>
                      <a:headEnd type="none" w="med" len="med"/>
                      <a:tailEnd type="none" w="med" len="med"/>
                    </a:lnR>
                    <a:lnT w="6350" cap="flat" cmpd="sng" algn="ctr">
                      <a:solidFill>
                        <a:srgbClr val="C5D8D8"/>
                      </a:solidFill>
                      <a:prstDash val="solid"/>
                      <a:round/>
                      <a:headEnd type="none" w="med" len="med"/>
                      <a:tailEnd type="none" w="med" len="med"/>
                    </a:lnT>
                    <a:lnB w="6350" cap="flat" cmpd="sng" algn="ctr">
                      <a:solidFill>
                        <a:srgbClr val="C5D8D8"/>
                      </a:solidFill>
                      <a:prstDash val="solid"/>
                      <a:round/>
                      <a:headEnd type="none" w="med" len="med"/>
                      <a:tailEnd type="none" w="med" len="med"/>
                    </a:lnB>
                  </a:tcPr>
                </a:tc>
                <a:tc>
                  <a:txBody>
                    <a:bodyPr/>
                    <a:lstStyle/>
                    <a:p>
                      <a:pPr marL="0" indent="0" algn="ctr">
                        <a:buNone/>
                      </a:pPr>
                      <a:r>
                        <a:rPr lang="en-US" sz="1000" dirty="0">
                          <a:solidFill>
                            <a:srgbClr val="334155"/>
                          </a:solidFill>
                          <a:latin typeface="Calibri" pitchFamily="34" charset="0"/>
                          <a:ea typeface="Calibri" pitchFamily="34" charset="-122"/>
                          <a:cs typeface="Calibri" pitchFamily="34" charset="-120"/>
                        </a:rPr>
                        <a:t>151 lines</a:t>
                      </a:r>
                      <a:endParaRPr lang="en-US" sz="1000" dirty="0">
                        <a:latin typeface="Calibri" charset="0"/>
                        <a:ea typeface="Calibri" charset="0"/>
                        <a:cs typeface="Calibri" charset="0"/>
                      </a:endParaRPr>
                    </a:p>
                  </a:txBody>
                  <a:tcPr anchor="ctr">
                    <a:lnL w="6350" cap="flat" cmpd="sng" algn="ctr">
                      <a:solidFill>
                        <a:srgbClr val="C5D8D8"/>
                      </a:solidFill>
                      <a:prstDash val="solid"/>
                      <a:round/>
                      <a:headEnd type="none" w="med" len="med"/>
                      <a:tailEnd type="none" w="med" len="med"/>
                    </a:lnL>
                    <a:lnR w="6350" cap="flat" cmpd="sng" algn="ctr">
                      <a:solidFill>
                        <a:srgbClr val="C5D8D8"/>
                      </a:solidFill>
                      <a:prstDash val="solid"/>
                      <a:round/>
                      <a:headEnd type="none" w="med" len="med"/>
                      <a:tailEnd type="none" w="med" len="med"/>
                    </a:lnR>
                    <a:lnT w="6350" cap="flat" cmpd="sng" algn="ctr">
                      <a:solidFill>
                        <a:srgbClr val="C5D8D8"/>
                      </a:solidFill>
                      <a:prstDash val="solid"/>
                      <a:round/>
                      <a:headEnd type="none" w="med" len="med"/>
                      <a:tailEnd type="none" w="med" len="med"/>
                    </a:lnT>
                    <a:lnB w="6350" cap="flat" cmpd="sng" algn="ctr">
                      <a:solidFill>
                        <a:srgbClr val="C5D8D8"/>
                      </a:solidFill>
                      <a:prstDash val="solid"/>
                      <a:round/>
                      <a:headEnd type="none" w="med" len="med"/>
                      <a:tailEnd type="none" w="med" len="med"/>
                    </a:lnB>
                  </a:tcPr>
                </a:tc>
                <a:extLst>
                  <a:ext uri="{0D108BD9-81ED-4DB2-BD59-A6C34878D82A}">
                    <a16:rowId xmlns:a16="http://schemas.microsoft.com/office/drawing/2014/main" val="10003"/>
                  </a:ext>
                </a:extLst>
              </a:tr>
              <a:tr h="292608">
                <a:tc>
                  <a:txBody>
                    <a:bodyPr/>
                    <a:lstStyle/>
                    <a:p>
                      <a:pPr marL="0" indent="0" algn="l">
                        <a:buNone/>
                      </a:pPr>
                      <a:r>
                        <a:rPr lang="en-US" sz="1000" b="1" dirty="0">
                          <a:solidFill>
                            <a:srgbClr val="334155"/>
                          </a:solidFill>
                          <a:latin typeface="Calibri" pitchFamily="34" charset="0"/>
                          <a:ea typeface="Calibri" pitchFamily="34" charset="-122"/>
                          <a:cs typeface="Calibri" pitchFamily="34" charset="-120"/>
                        </a:rPr>
                        <a:t>Bhutan</a:t>
                      </a:r>
                      <a:endParaRPr lang="en-US" sz="1000" dirty="0">
                        <a:latin typeface="Calibri" charset="0"/>
                        <a:ea typeface="Calibri" charset="0"/>
                        <a:cs typeface="Calibri" charset="0"/>
                      </a:endParaRPr>
                    </a:p>
                  </a:txBody>
                  <a:tcPr anchor="ctr">
                    <a:lnL w="6350" cap="flat" cmpd="sng" algn="ctr">
                      <a:solidFill>
                        <a:srgbClr val="C5D8D8"/>
                      </a:solidFill>
                      <a:prstDash val="solid"/>
                      <a:round/>
                      <a:headEnd type="none" w="med" len="med"/>
                      <a:tailEnd type="none" w="med" len="med"/>
                    </a:lnL>
                    <a:lnR w="6350" cap="flat" cmpd="sng" algn="ctr">
                      <a:solidFill>
                        <a:srgbClr val="C5D8D8"/>
                      </a:solidFill>
                      <a:prstDash val="solid"/>
                      <a:round/>
                      <a:headEnd type="none" w="med" len="med"/>
                      <a:tailEnd type="none" w="med" len="med"/>
                    </a:lnR>
                    <a:lnT w="6350" cap="flat" cmpd="sng" algn="ctr">
                      <a:solidFill>
                        <a:srgbClr val="C5D8D8"/>
                      </a:solidFill>
                      <a:prstDash val="solid"/>
                      <a:round/>
                      <a:headEnd type="none" w="med" len="med"/>
                      <a:tailEnd type="none" w="med" len="med"/>
                    </a:lnT>
                    <a:lnB w="6350" cap="flat" cmpd="sng" algn="ctr">
                      <a:solidFill>
                        <a:srgbClr val="C5D8D8"/>
                      </a:solidFill>
                      <a:prstDash val="solid"/>
                      <a:round/>
                      <a:headEnd type="none" w="med" len="med"/>
                      <a:tailEnd type="none" w="med" len="med"/>
                    </a:lnB>
                  </a:tcPr>
                </a:tc>
                <a:tc>
                  <a:txBody>
                    <a:bodyPr/>
                    <a:lstStyle/>
                    <a:p>
                      <a:pPr marL="0" indent="0" algn="ctr">
                        <a:buNone/>
                      </a:pPr>
                      <a:r>
                        <a:rPr lang="en-US" sz="1000" dirty="0">
                          <a:solidFill>
                            <a:srgbClr val="334155"/>
                          </a:solidFill>
                          <a:latin typeface="Calibri" pitchFamily="34" charset="0"/>
                          <a:ea typeface="Calibri" pitchFamily="34" charset="-122"/>
                          <a:cs typeface="Calibri" pitchFamily="34" charset="-120"/>
                        </a:rPr>
                        <a:t>15</a:t>
                      </a:r>
                      <a:endParaRPr lang="en-US" sz="1000" dirty="0">
                        <a:latin typeface="Calibri" charset="0"/>
                        <a:ea typeface="Calibri" charset="0"/>
                        <a:cs typeface="Calibri" charset="0"/>
                      </a:endParaRPr>
                    </a:p>
                  </a:txBody>
                  <a:tcPr anchor="ctr">
                    <a:lnL w="6350" cap="flat" cmpd="sng" algn="ctr">
                      <a:solidFill>
                        <a:srgbClr val="C5D8D8"/>
                      </a:solidFill>
                      <a:prstDash val="solid"/>
                      <a:round/>
                      <a:headEnd type="none" w="med" len="med"/>
                      <a:tailEnd type="none" w="med" len="med"/>
                    </a:lnL>
                    <a:lnR w="6350" cap="flat" cmpd="sng" algn="ctr">
                      <a:solidFill>
                        <a:srgbClr val="C5D8D8"/>
                      </a:solidFill>
                      <a:prstDash val="solid"/>
                      <a:round/>
                      <a:headEnd type="none" w="med" len="med"/>
                      <a:tailEnd type="none" w="med" len="med"/>
                    </a:lnR>
                    <a:lnT w="6350" cap="flat" cmpd="sng" algn="ctr">
                      <a:solidFill>
                        <a:srgbClr val="C5D8D8"/>
                      </a:solidFill>
                      <a:prstDash val="solid"/>
                      <a:round/>
                      <a:headEnd type="none" w="med" len="med"/>
                      <a:tailEnd type="none" w="med" len="med"/>
                    </a:lnT>
                    <a:lnB w="6350" cap="flat" cmpd="sng" algn="ctr">
                      <a:solidFill>
                        <a:srgbClr val="C5D8D8"/>
                      </a:solidFill>
                      <a:prstDash val="solid"/>
                      <a:round/>
                      <a:headEnd type="none" w="med" len="med"/>
                      <a:tailEnd type="none" w="med" len="med"/>
                    </a:lnB>
                  </a:tcPr>
                </a:tc>
                <a:tc>
                  <a:txBody>
                    <a:bodyPr/>
                    <a:lstStyle/>
                    <a:p>
                      <a:pPr marL="0" indent="0" algn="ctr">
                        <a:buNone/>
                      </a:pPr>
                      <a:r>
                        <a:rPr lang="en-US" sz="1000" dirty="0">
                          <a:solidFill>
                            <a:srgbClr val="334155"/>
                          </a:solidFill>
                          <a:latin typeface="Calibri" pitchFamily="34" charset="0"/>
                          <a:ea typeface="Calibri" pitchFamily="34" charset="-122"/>
                          <a:cs typeface="Calibri" pitchFamily="34" charset="-120"/>
                        </a:rPr>
                        <a:t>16</a:t>
                      </a:r>
                      <a:endParaRPr lang="en-US" sz="1000" dirty="0">
                        <a:latin typeface="Calibri" charset="0"/>
                        <a:ea typeface="Calibri" charset="0"/>
                        <a:cs typeface="Calibri" charset="0"/>
                      </a:endParaRPr>
                    </a:p>
                  </a:txBody>
                  <a:tcPr anchor="ctr">
                    <a:lnL w="6350" cap="flat" cmpd="sng" algn="ctr">
                      <a:solidFill>
                        <a:srgbClr val="C5D8D8"/>
                      </a:solidFill>
                      <a:prstDash val="solid"/>
                      <a:round/>
                      <a:headEnd type="none" w="med" len="med"/>
                      <a:tailEnd type="none" w="med" len="med"/>
                    </a:lnL>
                    <a:lnR w="6350" cap="flat" cmpd="sng" algn="ctr">
                      <a:solidFill>
                        <a:srgbClr val="C5D8D8"/>
                      </a:solidFill>
                      <a:prstDash val="solid"/>
                      <a:round/>
                      <a:headEnd type="none" w="med" len="med"/>
                      <a:tailEnd type="none" w="med" len="med"/>
                    </a:lnR>
                    <a:lnT w="6350" cap="flat" cmpd="sng" algn="ctr">
                      <a:solidFill>
                        <a:srgbClr val="C5D8D8"/>
                      </a:solidFill>
                      <a:prstDash val="solid"/>
                      <a:round/>
                      <a:headEnd type="none" w="med" len="med"/>
                      <a:tailEnd type="none" w="med" len="med"/>
                    </a:lnT>
                    <a:lnB w="6350" cap="flat" cmpd="sng" algn="ctr">
                      <a:solidFill>
                        <a:srgbClr val="C5D8D8"/>
                      </a:solidFill>
                      <a:prstDash val="solid"/>
                      <a:round/>
                      <a:headEnd type="none" w="med" len="med"/>
                      <a:tailEnd type="none" w="med" len="med"/>
                    </a:lnB>
                  </a:tcPr>
                </a:tc>
                <a:tc>
                  <a:txBody>
                    <a:bodyPr/>
                    <a:lstStyle/>
                    <a:p>
                      <a:pPr marL="0" indent="0" algn="ctr">
                        <a:buNone/>
                      </a:pPr>
                      <a:r>
                        <a:rPr lang="en-US" sz="1000" dirty="0">
                          <a:solidFill>
                            <a:srgbClr val="334155"/>
                          </a:solidFill>
                          <a:latin typeface="Calibri" pitchFamily="34" charset="0"/>
                          <a:ea typeface="Calibri" pitchFamily="34" charset="-122"/>
                          <a:cs typeface="Calibri" pitchFamily="34" charset="-120"/>
                        </a:rPr>
                        <a:t>21</a:t>
                      </a:r>
                      <a:endParaRPr lang="en-US" sz="1000" dirty="0">
                        <a:latin typeface="Calibri" charset="0"/>
                        <a:ea typeface="Calibri" charset="0"/>
                        <a:cs typeface="Calibri" charset="0"/>
                      </a:endParaRPr>
                    </a:p>
                  </a:txBody>
                  <a:tcPr anchor="ctr">
                    <a:lnL w="6350" cap="flat" cmpd="sng" algn="ctr">
                      <a:solidFill>
                        <a:srgbClr val="C5D8D8"/>
                      </a:solidFill>
                      <a:prstDash val="solid"/>
                      <a:round/>
                      <a:headEnd type="none" w="med" len="med"/>
                      <a:tailEnd type="none" w="med" len="med"/>
                    </a:lnL>
                    <a:lnR w="6350" cap="flat" cmpd="sng" algn="ctr">
                      <a:solidFill>
                        <a:srgbClr val="C5D8D8"/>
                      </a:solidFill>
                      <a:prstDash val="solid"/>
                      <a:round/>
                      <a:headEnd type="none" w="med" len="med"/>
                      <a:tailEnd type="none" w="med" len="med"/>
                    </a:lnR>
                    <a:lnT w="6350" cap="flat" cmpd="sng" algn="ctr">
                      <a:solidFill>
                        <a:srgbClr val="C5D8D8"/>
                      </a:solidFill>
                      <a:prstDash val="solid"/>
                      <a:round/>
                      <a:headEnd type="none" w="med" len="med"/>
                      <a:tailEnd type="none" w="med" len="med"/>
                    </a:lnT>
                    <a:lnB w="6350" cap="flat" cmpd="sng" algn="ctr">
                      <a:solidFill>
                        <a:srgbClr val="C5D8D8"/>
                      </a:solidFill>
                      <a:prstDash val="solid"/>
                      <a:round/>
                      <a:headEnd type="none" w="med" len="med"/>
                      <a:tailEnd type="none" w="med" len="med"/>
                    </a:lnB>
                  </a:tcPr>
                </a:tc>
                <a:tc>
                  <a:txBody>
                    <a:bodyPr/>
                    <a:lstStyle/>
                    <a:p>
                      <a:pPr marL="0" indent="0" algn="ctr">
                        <a:buNone/>
                      </a:pPr>
                      <a:r>
                        <a:rPr lang="en-US" sz="1000" dirty="0">
                          <a:solidFill>
                            <a:srgbClr val="334155"/>
                          </a:solidFill>
                          <a:latin typeface="Calibri" pitchFamily="34" charset="0"/>
                          <a:ea typeface="Calibri" pitchFamily="34" charset="-122"/>
                          <a:cs typeface="Calibri" pitchFamily="34" charset="-120"/>
                        </a:rPr>
                        <a:t>11</a:t>
                      </a:r>
                      <a:endParaRPr lang="en-US" sz="1000" dirty="0">
                        <a:latin typeface="Calibri" charset="0"/>
                        <a:ea typeface="Calibri" charset="0"/>
                        <a:cs typeface="Calibri" charset="0"/>
                      </a:endParaRPr>
                    </a:p>
                  </a:txBody>
                  <a:tcPr anchor="ctr">
                    <a:lnL w="6350" cap="flat" cmpd="sng" algn="ctr">
                      <a:solidFill>
                        <a:srgbClr val="C5D8D8"/>
                      </a:solidFill>
                      <a:prstDash val="solid"/>
                      <a:round/>
                      <a:headEnd type="none" w="med" len="med"/>
                      <a:tailEnd type="none" w="med" len="med"/>
                    </a:lnL>
                    <a:lnR w="6350" cap="flat" cmpd="sng" algn="ctr">
                      <a:solidFill>
                        <a:srgbClr val="C5D8D8"/>
                      </a:solidFill>
                      <a:prstDash val="solid"/>
                      <a:round/>
                      <a:headEnd type="none" w="med" len="med"/>
                      <a:tailEnd type="none" w="med" len="med"/>
                    </a:lnR>
                    <a:lnT w="6350" cap="flat" cmpd="sng" algn="ctr">
                      <a:solidFill>
                        <a:srgbClr val="C5D8D8"/>
                      </a:solidFill>
                      <a:prstDash val="solid"/>
                      <a:round/>
                      <a:headEnd type="none" w="med" len="med"/>
                      <a:tailEnd type="none" w="med" len="med"/>
                    </a:lnT>
                    <a:lnB w="6350" cap="flat" cmpd="sng" algn="ctr">
                      <a:solidFill>
                        <a:srgbClr val="C5D8D8"/>
                      </a:solidFill>
                      <a:prstDash val="solid"/>
                      <a:round/>
                      <a:headEnd type="none" w="med" len="med"/>
                      <a:tailEnd type="none" w="med" len="med"/>
                    </a:lnB>
                  </a:tcPr>
                </a:tc>
                <a:tc>
                  <a:txBody>
                    <a:bodyPr/>
                    <a:lstStyle/>
                    <a:p>
                      <a:pPr marL="0" indent="0" algn="ctr">
                        <a:buNone/>
                      </a:pPr>
                      <a:r>
                        <a:rPr lang="en-US" sz="1000" dirty="0">
                          <a:solidFill>
                            <a:srgbClr val="334155"/>
                          </a:solidFill>
                          <a:latin typeface="Calibri" pitchFamily="34" charset="0"/>
                          <a:ea typeface="Calibri" pitchFamily="34" charset="-122"/>
                          <a:cs typeface="Calibri" pitchFamily="34" charset="-120"/>
                        </a:rPr>
                        <a:t>46 lines</a:t>
                      </a:r>
                      <a:endParaRPr lang="en-US" sz="1000" dirty="0">
                        <a:latin typeface="Calibri" charset="0"/>
                        <a:ea typeface="Calibri" charset="0"/>
                        <a:cs typeface="Calibri" charset="0"/>
                      </a:endParaRPr>
                    </a:p>
                  </a:txBody>
                  <a:tcPr anchor="ctr">
                    <a:lnL w="6350" cap="flat" cmpd="sng" algn="ctr">
                      <a:solidFill>
                        <a:srgbClr val="C5D8D8"/>
                      </a:solidFill>
                      <a:prstDash val="solid"/>
                      <a:round/>
                      <a:headEnd type="none" w="med" len="med"/>
                      <a:tailEnd type="none" w="med" len="med"/>
                    </a:lnL>
                    <a:lnR w="6350" cap="flat" cmpd="sng" algn="ctr">
                      <a:solidFill>
                        <a:srgbClr val="C5D8D8"/>
                      </a:solidFill>
                      <a:prstDash val="solid"/>
                      <a:round/>
                      <a:headEnd type="none" w="med" len="med"/>
                      <a:tailEnd type="none" w="med" len="med"/>
                    </a:lnR>
                    <a:lnT w="6350" cap="flat" cmpd="sng" algn="ctr">
                      <a:solidFill>
                        <a:srgbClr val="C5D8D8"/>
                      </a:solidFill>
                      <a:prstDash val="solid"/>
                      <a:round/>
                      <a:headEnd type="none" w="med" len="med"/>
                      <a:tailEnd type="none" w="med" len="med"/>
                    </a:lnT>
                    <a:lnB w="6350" cap="flat" cmpd="sng" algn="ctr">
                      <a:solidFill>
                        <a:srgbClr val="C5D8D8"/>
                      </a:solidFill>
                      <a:prstDash val="solid"/>
                      <a:round/>
                      <a:headEnd type="none" w="med" len="med"/>
                      <a:tailEnd type="none" w="med" len="med"/>
                    </a:lnB>
                  </a:tcPr>
                </a:tc>
                <a:extLst>
                  <a:ext uri="{0D108BD9-81ED-4DB2-BD59-A6C34878D82A}">
                    <a16:rowId xmlns:a16="http://schemas.microsoft.com/office/drawing/2014/main" val="10004"/>
                  </a:ext>
                </a:extLst>
              </a:tr>
              <a:tr h="292608">
                <a:tc>
                  <a:txBody>
                    <a:bodyPr/>
                    <a:lstStyle/>
                    <a:p>
                      <a:pPr marL="0" indent="0" algn="l">
                        <a:buNone/>
                      </a:pPr>
                      <a:r>
                        <a:rPr lang="en-US" sz="1000" b="1" dirty="0">
                          <a:solidFill>
                            <a:srgbClr val="334155"/>
                          </a:solidFill>
                          <a:latin typeface="Calibri" pitchFamily="34" charset="0"/>
                          <a:ea typeface="Calibri" pitchFamily="34" charset="-122"/>
                          <a:cs typeface="Calibri" pitchFamily="34" charset="-120"/>
                        </a:rPr>
                        <a:t>Sri Lanka</a:t>
                      </a:r>
                      <a:endParaRPr lang="en-US" sz="1000" dirty="0">
                        <a:latin typeface="Calibri" charset="0"/>
                        <a:ea typeface="Calibri" charset="0"/>
                        <a:cs typeface="Calibri" charset="0"/>
                      </a:endParaRPr>
                    </a:p>
                  </a:txBody>
                  <a:tcPr anchor="ctr">
                    <a:lnL w="6350" cap="flat" cmpd="sng" algn="ctr">
                      <a:solidFill>
                        <a:srgbClr val="C5D8D8"/>
                      </a:solidFill>
                      <a:prstDash val="solid"/>
                      <a:round/>
                      <a:headEnd type="none" w="med" len="med"/>
                      <a:tailEnd type="none" w="med" len="med"/>
                    </a:lnL>
                    <a:lnR w="6350" cap="flat" cmpd="sng" algn="ctr">
                      <a:solidFill>
                        <a:srgbClr val="C5D8D8"/>
                      </a:solidFill>
                      <a:prstDash val="solid"/>
                      <a:round/>
                      <a:headEnd type="none" w="med" len="med"/>
                      <a:tailEnd type="none" w="med" len="med"/>
                    </a:lnR>
                    <a:lnT w="6350" cap="flat" cmpd="sng" algn="ctr">
                      <a:solidFill>
                        <a:srgbClr val="C5D8D8"/>
                      </a:solidFill>
                      <a:prstDash val="solid"/>
                      <a:round/>
                      <a:headEnd type="none" w="med" len="med"/>
                      <a:tailEnd type="none" w="med" len="med"/>
                    </a:lnT>
                    <a:lnB w="6350" cap="flat" cmpd="sng" algn="ctr">
                      <a:solidFill>
                        <a:srgbClr val="C5D8D8"/>
                      </a:solidFill>
                      <a:prstDash val="solid"/>
                      <a:round/>
                      <a:headEnd type="none" w="med" len="med"/>
                      <a:tailEnd type="none" w="med" len="med"/>
                    </a:lnB>
                  </a:tcPr>
                </a:tc>
                <a:tc>
                  <a:txBody>
                    <a:bodyPr/>
                    <a:lstStyle/>
                    <a:p>
                      <a:pPr marL="0" indent="0" algn="ctr">
                        <a:buNone/>
                      </a:pPr>
                      <a:r>
                        <a:rPr lang="en-US" sz="1000" dirty="0">
                          <a:solidFill>
                            <a:srgbClr val="334155"/>
                          </a:solidFill>
                          <a:latin typeface="Calibri" pitchFamily="34" charset="0"/>
                          <a:ea typeface="Calibri" pitchFamily="34" charset="-122"/>
                          <a:cs typeface="Calibri" pitchFamily="34" charset="-120"/>
                        </a:rPr>
                        <a:t>42</a:t>
                      </a:r>
                      <a:endParaRPr lang="en-US" sz="1000" dirty="0">
                        <a:latin typeface="Calibri" charset="0"/>
                        <a:ea typeface="Calibri" charset="0"/>
                        <a:cs typeface="Calibri" charset="0"/>
                      </a:endParaRPr>
                    </a:p>
                  </a:txBody>
                  <a:tcPr anchor="ctr">
                    <a:lnL w="6350" cap="flat" cmpd="sng" algn="ctr">
                      <a:solidFill>
                        <a:srgbClr val="C5D8D8"/>
                      </a:solidFill>
                      <a:prstDash val="solid"/>
                      <a:round/>
                      <a:headEnd type="none" w="med" len="med"/>
                      <a:tailEnd type="none" w="med" len="med"/>
                    </a:lnL>
                    <a:lnR w="6350" cap="flat" cmpd="sng" algn="ctr">
                      <a:solidFill>
                        <a:srgbClr val="C5D8D8"/>
                      </a:solidFill>
                      <a:prstDash val="solid"/>
                      <a:round/>
                      <a:headEnd type="none" w="med" len="med"/>
                      <a:tailEnd type="none" w="med" len="med"/>
                    </a:lnR>
                    <a:lnT w="6350" cap="flat" cmpd="sng" algn="ctr">
                      <a:solidFill>
                        <a:srgbClr val="C5D8D8"/>
                      </a:solidFill>
                      <a:prstDash val="solid"/>
                      <a:round/>
                      <a:headEnd type="none" w="med" len="med"/>
                      <a:tailEnd type="none" w="med" len="med"/>
                    </a:lnT>
                    <a:lnB w="6350" cap="flat" cmpd="sng" algn="ctr">
                      <a:solidFill>
                        <a:srgbClr val="C5D8D8"/>
                      </a:solidFill>
                      <a:prstDash val="solid"/>
                      <a:round/>
                      <a:headEnd type="none" w="med" len="med"/>
                      <a:tailEnd type="none" w="med" len="med"/>
                    </a:lnB>
                  </a:tcPr>
                </a:tc>
                <a:tc>
                  <a:txBody>
                    <a:bodyPr/>
                    <a:lstStyle/>
                    <a:p>
                      <a:pPr marL="0" indent="0" algn="ctr">
                        <a:buNone/>
                      </a:pPr>
                      <a:r>
                        <a:rPr lang="en-US" sz="1000" dirty="0">
                          <a:solidFill>
                            <a:srgbClr val="334155"/>
                          </a:solidFill>
                          <a:latin typeface="Calibri" pitchFamily="34" charset="0"/>
                          <a:ea typeface="Calibri" pitchFamily="34" charset="-122"/>
                          <a:cs typeface="Calibri" pitchFamily="34" charset="-120"/>
                        </a:rPr>
                        <a:t>96</a:t>
                      </a:r>
                      <a:endParaRPr lang="en-US" sz="1000" dirty="0">
                        <a:latin typeface="Calibri" charset="0"/>
                        <a:ea typeface="Calibri" charset="0"/>
                        <a:cs typeface="Calibri" charset="0"/>
                      </a:endParaRPr>
                    </a:p>
                  </a:txBody>
                  <a:tcPr anchor="ctr">
                    <a:lnL w="6350" cap="flat" cmpd="sng" algn="ctr">
                      <a:solidFill>
                        <a:srgbClr val="C5D8D8"/>
                      </a:solidFill>
                      <a:prstDash val="solid"/>
                      <a:round/>
                      <a:headEnd type="none" w="med" len="med"/>
                      <a:tailEnd type="none" w="med" len="med"/>
                    </a:lnL>
                    <a:lnR w="6350" cap="flat" cmpd="sng" algn="ctr">
                      <a:solidFill>
                        <a:srgbClr val="C5D8D8"/>
                      </a:solidFill>
                      <a:prstDash val="solid"/>
                      <a:round/>
                      <a:headEnd type="none" w="med" len="med"/>
                      <a:tailEnd type="none" w="med" len="med"/>
                    </a:lnR>
                    <a:lnT w="6350" cap="flat" cmpd="sng" algn="ctr">
                      <a:solidFill>
                        <a:srgbClr val="C5D8D8"/>
                      </a:solidFill>
                      <a:prstDash val="solid"/>
                      <a:round/>
                      <a:headEnd type="none" w="med" len="med"/>
                      <a:tailEnd type="none" w="med" len="med"/>
                    </a:lnT>
                    <a:lnB w="6350" cap="flat" cmpd="sng" algn="ctr">
                      <a:solidFill>
                        <a:srgbClr val="C5D8D8"/>
                      </a:solidFill>
                      <a:prstDash val="solid"/>
                      <a:round/>
                      <a:headEnd type="none" w="med" len="med"/>
                      <a:tailEnd type="none" w="med" len="med"/>
                    </a:lnB>
                  </a:tcPr>
                </a:tc>
                <a:tc>
                  <a:txBody>
                    <a:bodyPr/>
                    <a:lstStyle/>
                    <a:p>
                      <a:pPr marL="0" indent="0" algn="ctr">
                        <a:buNone/>
                      </a:pPr>
                      <a:r>
                        <a:rPr lang="en-US" sz="1000" dirty="0">
                          <a:solidFill>
                            <a:srgbClr val="334155"/>
                          </a:solidFill>
                          <a:latin typeface="Calibri" pitchFamily="34" charset="0"/>
                          <a:ea typeface="Calibri" pitchFamily="34" charset="-122"/>
                          <a:cs typeface="Calibri" pitchFamily="34" charset="-120"/>
                        </a:rPr>
                        <a:t>3</a:t>
                      </a:r>
                      <a:endParaRPr lang="en-US" sz="1000" dirty="0">
                        <a:latin typeface="Calibri" charset="0"/>
                        <a:ea typeface="Calibri" charset="0"/>
                        <a:cs typeface="Calibri" charset="0"/>
                      </a:endParaRPr>
                    </a:p>
                  </a:txBody>
                  <a:tcPr anchor="ctr">
                    <a:lnL w="6350" cap="flat" cmpd="sng" algn="ctr">
                      <a:solidFill>
                        <a:srgbClr val="C5D8D8"/>
                      </a:solidFill>
                      <a:prstDash val="solid"/>
                      <a:round/>
                      <a:headEnd type="none" w="med" len="med"/>
                      <a:tailEnd type="none" w="med" len="med"/>
                    </a:lnL>
                    <a:lnR w="6350" cap="flat" cmpd="sng" algn="ctr">
                      <a:solidFill>
                        <a:srgbClr val="C5D8D8"/>
                      </a:solidFill>
                      <a:prstDash val="solid"/>
                      <a:round/>
                      <a:headEnd type="none" w="med" len="med"/>
                      <a:tailEnd type="none" w="med" len="med"/>
                    </a:lnR>
                    <a:lnT w="6350" cap="flat" cmpd="sng" algn="ctr">
                      <a:solidFill>
                        <a:srgbClr val="C5D8D8"/>
                      </a:solidFill>
                      <a:prstDash val="solid"/>
                      <a:round/>
                      <a:headEnd type="none" w="med" len="med"/>
                      <a:tailEnd type="none" w="med" len="med"/>
                    </a:lnT>
                    <a:lnB w="6350" cap="flat" cmpd="sng" algn="ctr">
                      <a:solidFill>
                        <a:srgbClr val="C5D8D8"/>
                      </a:solidFill>
                      <a:prstDash val="solid"/>
                      <a:round/>
                      <a:headEnd type="none" w="med" len="med"/>
                      <a:tailEnd type="none" w="med" len="med"/>
                    </a:lnB>
                  </a:tcPr>
                </a:tc>
                <a:tc>
                  <a:txBody>
                    <a:bodyPr/>
                    <a:lstStyle/>
                    <a:p>
                      <a:pPr marL="0" indent="0" algn="ctr">
                        <a:buNone/>
                      </a:pPr>
                      <a:r>
                        <a:rPr lang="en-US" sz="1000" dirty="0">
                          <a:solidFill>
                            <a:srgbClr val="334155"/>
                          </a:solidFill>
                          <a:latin typeface="Calibri" pitchFamily="34" charset="0"/>
                          <a:ea typeface="Calibri" pitchFamily="34" charset="-122"/>
                          <a:cs typeface="Calibri" pitchFamily="34" charset="-120"/>
                        </a:rPr>
                        <a:t>16</a:t>
                      </a:r>
                      <a:endParaRPr lang="en-US" sz="1000" dirty="0">
                        <a:latin typeface="Calibri" charset="0"/>
                        <a:ea typeface="Calibri" charset="0"/>
                        <a:cs typeface="Calibri" charset="0"/>
                      </a:endParaRPr>
                    </a:p>
                  </a:txBody>
                  <a:tcPr anchor="ctr">
                    <a:lnL w="6350" cap="flat" cmpd="sng" algn="ctr">
                      <a:solidFill>
                        <a:srgbClr val="C5D8D8"/>
                      </a:solidFill>
                      <a:prstDash val="solid"/>
                      <a:round/>
                      <a:headEnd type="none" w="med" len="med"/>
                      <a:tailEnd type="none" w="med" len="med"/>
                    </a:lnL>
                    <a:lnR w="6350" cap="flat" cmpd="sng" algn="ctr">
                      <a:solidFill>
                        <a:srgbClr val="C5D8D8"/>
                      </a:solidFill>
                      <a:prstDash val="solid"/>
                      <a:round/>
                      <a:headEnd type="none" w="med" len="med"/>
                      <a:tailEnd type="none" w="med" len="med"/>
                    </a:lnR>
                    <a:lnT w="6350" cap="flat" cmpd="sng" algn="ctr">
                      <a:solidFill>
                        <a:srgbClr val="C5D8D8"/>
                      </a:solidFill>
                      <a:prstDash val="solid"/>
                      <a:round/>
                      <a:headEnd type="none" w="med" len="med"/>
                      <a:tailEnd type="none" w="med" len="med"/>
                    </a:lnT>
                    <a:lnB w="6350" cap="flat" cmpd="sng" algn="ctr">
                      <a:solidFill>
                        <a:srgbClr val="C5D8D8"/>
                      </a:solidFill>
                      <a:prstDash val="solid"/>
                      <a:round/>
                      <a:headEnd type="none" w="med" len="med"/>
                      <a:tailEnd type="none" w="med" len="med"/>
                    </a:lnB>
                  </a:tcPr>
                </a:tc>
                <a:tc>
                  <a:txBody>
                    <a:bodyPr/>
                    <a:lstStyle/>
                    <a:p>
                      <a:pPr marL="0" indent="0" algn="ctr">
                        <a:buNone/>
                      </a:pPr>
                      <a:r>
                        <a:rPr lang="en-US" sz="1000" dirty="0">
                          <a:solidFill>
                            <a:srgbClr val="334155"/>
                          </a:solidFill>
                          <a:latin typeface="Calibri" pitchFamily="34" charset="0"/>
                          <a:ea typeface="Calibri" pitchFamily="34" charset="-122"/>
                          <a:cs typeface="Calibri" pitchFamily="34" charset="-120"/>
                        </a:rPr>
                        <a:t>33 lines</a:t>
                      </a:r>
                      <a:endParaRPr lang="en-US" sz="1000" dirty="0">
                        <a:latin typeface="Calibri" charset="0"/>
                        <a:ea typeface="Calibri" charset="0"/>
                        <a:cs typeface="Calibri" charset="0"/>
                      </a:endParaRPr>
                    </a:p>
                  </a:txBody>
                  <a:tcPr anchor="ctr">
                    <a:lnL w="6350" cap="flat" cmpd="sng" algn="ctr">
                      <a:solidFill>
                        <a:srgbClr val="C5D8D8"/>
                      </a:solidFill>
                      <a:prstDash val="solid"/>
                      <a:round/>
                      <a:headEnd type="none" w="med" len="med"/>
                      <a:tailEnd type="none" w="med" len="med"/>
                    </a:lnL>
                    <a:lnR w="6350" cap="flat" cmpd="sng" algn="ctr">
                      <a:solidFill>
                        <a:srgbClr val="C5D8D8"/>
                      </a:solidFill>
                      <a:prstDash val="solid"/>
                      <a:round/>
                      <a:headEnd type="none" w="med" len="med"/>
                      <a:tailEnd type="none" w="med" len="med"/>
                    </a:lnR>
                    <a:lnT w="6350" cap="flat" cmpd="sng" algn="ctr">
                      <a:solidFill>
                        <a:srgbClr val="C5D8D8"/>
                      </a:solidFill>
                      <a:prstDash val="solid"/>
                      <a:round/>
                      <a:headEnd type="none" w="med" len="med"/>
                      <a:tailEnd type="none" w="med" len="med"/>
                    </a:lnT>
                    <a:lnB w="6350" cap="flat" cmpd="sng" algn="ctr">
                      <a:solidFill>
                        <a:srgbClr val="C5D8D8"/>
                      </a:solidFill>
                      <a:prstDash val="solid"/>
                      <a:round/>
                      <a:headEnd type="none" w="med" len="med"/>
                      <a:tailEnd type="none" w="med" len="med"/>
                    </a:lnB>
                  </a:tcPr>
                </a:tc>
                <a:extLst>
                  <a:ext uri="{0D108BD9-81ED-4DB2-BD59-A6C34878D82A}">
                    <a16:rowId xmlns:a16="http://schemas.microsoft.com/office/drawing/2014/main" val="10005"/>
                  </a:ext>
                </a:extLst>
              </a:tr>
              <a:tr h="292608">
                <a:tc>
                  <a:txBody>
                    <a:bodyPr/>
                    <a:lstStyle/>
                    <a:p>
                      <a:pPr marL="0" indent="0" algn="l">
                        <a:buNone/>
                      </a:pPr>
                      <a:r>
                        <a:rPr lang="en-US" sz="1000" b="1" dirty="0">
                          <a:solidFill>
                            <a:srgbClr val="334155"/>
                          </a:solidFill>
                          <a:latin typeface="Calibri" pitchFamily="34" charset="0"/>
                          <a:ea typeface="Calibri" pitchFamily="34" charset="-122"/>
                          <a:cs typeface="Calibri" pitchFamily="34" charset="-120"/>
                        </a:rPr>
                        <a:t>Maldives</a:t>
                      </a:r>
                      <a:endParaRPr lang="en-US" sz="1000" dirty="0">
                        <a:latin typeface="Calibri" charset="0"/>
                        <a:ea typeface="Calibri" charset="0"/>
                        <a:cs typeface="Calibri" charset="0"/>
                      </a:endParaRPr>
                    </a:p>
                  </a:txBody>
                  <a:tcPr anchor="ctr">
                    <a:lnL w="6350" cap="flat" cmpd="sng" algn="ctr">
                      <a:solidFill>
                        <a:srgbClr val="C5D8D8"/>
                      </a:solidFill>
                      <a:prstDash val="solid"/>
                      <a:round/>
                      <a:headEnd type="none" w="med" len="med"/>
                      <a:tailEnd type="none" w="med" len="med"/>
                    </a:lnL>
                    <a:lnR w="6350" cap="flat" cmpd="sng" algn="ctr">
                      <a:solidFill>
                        <a:srgbClr val="C5D8D8"/>
                      </a:solidFill>
                      <a:prstDash val="solid"/>
                      <a:round/>
                      <a:headEnd type="none" w="med" len="med"/>
                      <a:tailEnd type="none" w="med" len="med"/>
                    </a:lnR>
                    <a:lnT w="6350" cap="flat" cmpd="sng" algn="ctr">
                      <a:solidFill>
                        <a:srgbClr val="C5D8D8"/>
                      </a:solidFill>
                      <a:prstDash val="solid"/>
                      <a:round/>
                      <a:headEnd type="none" w="med" len="med"/>
                      <a:tailEnd type="none" w="med" len="med"/>
                    </a:lnT>
                    <a:lnB w="6350" cap="flat" cmpd="sng" algn="ctr">
                      <a:solidFill>
                        <a:srgbClr val="C5D8D8"/>
                      </a:solidFill>
                      <a:prstDash val="solid"/>
                      <a:round/>
                      <a:headEnd type="none" w="med" len="med"/>
                      <a:tailEnd type="none" w="med" len="med"/>
                    </a:lnB>
                  </a:tcPr>
                </a:tc>
                <a:tc>
                  <a:txBody>
                    <a:bodyPr/>
                    <a:lstStyle/>
                    <a:p>
                      <a:pPr marL="0" indent="0" algn="ctr">
                        <a:buNone/>
                      </a:pPr>
                      <a:r>
                        <a:rPr lang="en-US" sz="1000" dirty="0">
                          <a:solidFill>
                            <a:srgbClr val="334155"/>
                          </a:solidFill>
                          <a:latin typeface="Calibri" pitchFamily="34" charset="0"/>
                          <a:ea typeface="Calibri" pitchFamily="34" charset="-122"/>
                          <a:cs typeface="Calibri" pitchFamily="34" charset="-120"/>
                        </a:rPr>
                        <a:t>11</a:t>
                      </a:r>
                      <a:endParaRPr lang="en-US" sz="1000" dirty="0">
                        <a:latin typeface="Calibri" charset="0"/>
                        <a:ea typeface="Calibri" charset="0"/>
                        <a:cs typeface="Calibri" charset="0"/>
                      </a:endParaRPr>
                    </a:p>
                  </a:txBody>
                  <a:tcPr anchor="ctr">
                    <a:lnL w="6350" cap="flat" cmpd="sng" algn="ctr">
                      <a:solidFill>
                        <a:srgbClr val="C5D8D8"/>
                      </a:solidFill>
                      <a:prstDash val="solid"/>
                      <a:round/>
                      <a:headEnd type="none" w="med" len="med"/>
                      <a:tailEnd type="none" w="med" len="med"/>
                    </a:lnL>
                    <a:lnR w="6350" cap="flat" cmpd="sng" algn="ctr">
                      <a:solidFill>
                        <a:srgbClr val="C5D8D8"/>
                      </a:solidFill>
                      <a:prstDash val="solid"/>
                      <a:round/>
                      <a:headEnd type="none" w="med" len="med"/>
                      <a:tailEnd type="none" w="med" len="med"/>
                    </a:lnR>
                    <a:lnT w="6350" cap="flat" cmpd="sng" algn="ctr">
                      <a:solidFill>
                        <a:srgbClr val="C5D8D8"/>
                      </a:solidFill>
                      <a:prstDash val="solid"/>
                      <a:round/>
                      <a:headEnd type="none" w="med" len="med"/>
                      <a:tailEnd type="none" w="med" len="med"/>
                    </a:lnT>
                    <a:lnB w="6350" cap="flat" cmpd="sng" algn="ctr">
                      <a:solidFill>
                        <a:srgbClr val="C5D8D8"/>
                      </a:solidFill>
                      <a:prstDash val="solid"/>
                      <a:round/>
                      <a:headEnd type="none" w="med" len="med"/>
                      <a:tailEnd type="none" w="med" len="med"/>
                    </a:lnB>
                  </a:tcPr>
                </a:tc>
                <a:tc>
                  <a:txBody>
                    <a:bodyPr/>
                    <a:lstStyle/>
                    <a:p>
                      <a:pPr marL="0" indent="0" algn="ctr">
                        <a:buNone/>
                      </a:pPr>
                      <a:r>
                        <a:rPr lang="en-US" sz="1000" dirty="0">
                          <a:solidFill>
                            <a:srgbClr val="334155"/>
                          </a:solidFill>
                          <a:latin typeface="Calibri" pitchFamily="34" charset="0"/>
                          <a:ea typeface="Calibri" pitchFamily="34" charset="-122"/>
                          <a:cs typeface="Calibri" pitchFamily="34" charset="-120"/>
                        </a:rPr>
                        <a:t>25</a:t>
                      </a:r>
                      <a:endParaRPr lang="en-US" sz="1000" dirty="0">
                        <a:latin typeface="Calibri" charset="0"/>
                        <a:ea typeface="Calibri" charset="0"/>
                        <a:cs typeface="Calibri" charset="0"/>
                      </a:endParaRPr>
                    </a:p>
                  </a:txBody>
                  <a:tcPr anchor="ctr">
                    <a:lnL w="6350" cap="flat" cmpd="sng" algn="ctr">
                      <a:solidFill>
                        <a:srgbClr val="C5D8D8"/>
                      </a:solidFill>
                      <a:prstDash val="solid"/>
                      <a:round/>
                      <a:headEnd type="none" w="med" len="med"/>
                      <a:tailEnd type="none" w="med" len="med"/>
                    </a:lnL>
                    <a:lnR w="6350" cap="flat" cmpd="sng" algn="ctr">
                      <a:solidFill>
                        <a:srgbClr val="C5D8D8"/>
                      </a:solidFill>
                      <a:prstDash val="solid"/>
                      <a:round/>
                      <a:headEnd type="none" w="med" len="med"/>
                      <a:tailEnd type="none" w="med" len="med"/>
                    </a:lnR>
                    <a:lnT w="6350" cap="flat" cmpd="sng" algn="ctr">
                      <a:solidFill>
                        <a:srgbClr val="C5D8D8"/>
                      </a:solidFill>
                      <a:prstDash val="solid"/>
                      <a:round/>
                      <a:headEnd type="none" w="med" len="med"/>
                      <a:tailEnd type="none" w="med" len="med"/>
                    </a:lnT>
                    <a:lnB w="6350" cap="flat" cmpd="sng" algn="ctr">
                      <a:solidFill>
                        <a:srgbClr val="C5D8D8"/>
                      </a:solidFill>
                      <a:prstDash val="solid"/>
                      <a:round/>
                      <a:headEnd type="none" w="med" len="med"/>
                      <a:tailEnd type="none" w="med" len="med"/>
                    </a:lnB>
                  </a:tcPr>
                </a:tc>
                <a:tc>
                  <a:txBody>
                    <a:bodyPr/>
                    <a:lstStyle/>
                    <a:p>
                      <a:pPr marL="0" indent="0" algn="ctr">
                        <a:buNone/>
                      </a:pPr>
                      <a:r>
                        <a:rPr lang="en-US" sz="1000" dirty="0">
                          <a:solidFill>
                            <a:srgbClr val="334155"/>
                          </a:solidFill>
                          <a:latin typeface="Calibri" pitchFamily="34" charset="0"/>
                          <a:ea typeface="Calibri" pitchFamily="34" charset="-122"/>
                          <a:cs typeface="Calibri" pitchFamily="34" charset="-120"/>
                        </a:rPr>
                        <a:t>3</a:t>
                      </a:r>
                      <a:endParaRPr lang="en-US" sz="1000" dirty="0">
                        <a:latin typeface="Calibri" charset="0"/>
                        <a:ea typeface="Calibri" charset="0"/>
                        <a:cs typeface="Calibri" charset="0"/>
                      </a:endParaRPr>
                    </a:p>
                  </a:txBody>
                  <a:tcPr anchor="ctr">
                    <a:lnL w="6350" cap="flat" cmpd="sng" algn="ctr">
                      <a:solidFill>
                        <a:srgbClr val="C5D8D8"/>
                      </a:solidFill>
                      <a:prstDash val="solid"/>
                      <a:round/>
                      <a:headEnd type="none" w="med" len="med"/>
                      <a:tailEnd type="none" w="med" len="med"/>
                    </a:lnL>
                    <a:lnR w="6350" cap="flat" cmpd="sng" algn="ctr">
                      <a:solidFill>
                        <a:srgbClr val="C5D8D8"/>
                      </a:solidFill>
                      <a:prstDash val="solid"/>
                      <a:round/>
                      <a:headEnd type="none" w="med" len="med"/>
                      <a:tailEnd type="none" w="med" len="med"/>
                    </a:lnR>
                    <a:lnT w="6350" cap="flat" cmpd="sng" algn="ctr">
                      <a:solidFill>
                        <a:srgbClr val="C5D8D8"/>
                      </a:solidFill>
                      <a:prstDash val="solid"/>
                      <a:round/>
                      <a:headEnd type="none" w="med" len="med"/>
                      <a:tailEnd type="none" w="med" len="med"/>
                    </a:lnT>
                    <a:lnB w="6350" cap="flat" cmpd="sng" algn="ctr">
                      <a:solidFill>
                        <a:srgbClr val="C5D8D8"/>
                      </a:solidFill>
                      <a:prstDash val="solid"/>
                      <a:round/>
                      <a:headEnd type="none" w="med" len="med"/>
                      <a:tailEnd type="none" w="med" len="med"/>
                    </a:lnB>
                  </a:tcPr>
                </a:tc>
                <a:tc>
                  <a:txBody>
                    <a:bodyPr/>
                    <a:lstStyle/>
                    <a:p>
                      <a:pPr marL="0" indent="0" algn="ctr">
                        <a:buNone/>
                      </a:pPr>
                      <a:r>
                        <a:rPr lang="en-US" sz="1000" dirty="0">
                          <a:solidFill>
                            <a:srgbClr val="334155"/>
                          </a:solidFill>
                          <a:latin typeface="Calibri" pitchFamily="34" charset="0"/>
                          <a:ea typeface="Calibri" pitchFamily="34" charset="-122"/>
                          <a:cs typeface="Calibri" pitchFamily="34" charset="-120"/>
                        </a:rPr>
                        <a:t>4</a:t>
                      </a:r>
                      <a:endParaRPr lang="en-US" sz="1000" dirty="0">
                        <a:latin typeface="Calibri" charset="0"/>
                        <a:ea typeface="Calibri" charset="0"/>
                        <a:cs typeface="Calibri" charset="0"/>
                      </a:endParaRPr>
                    </a:p>
                  </a:txBody>
                  <a:tcPr anchor="ctr">
                    <a:lnL w="6350" cap="flat" cmpd="sng" algn="ctr">
                      <a:solidFill>
                        <a:srgbClr val="C5D8D8"/>
                      </a:solidFill>
                      <a:prstDash val="solid"/>
                      <a:round/>
                      <a:headEnd type="none" w="med" len="med"/>
                      <a:tailEnd type="none" w="med" len="med"/>
                    </a:lnL>
                    <a:lnR w="6350" cap="flat" cmpd="sng" algn="ctr">
                      <a:solidFill>
                        <a:srgbClr val="C5D8D8"/>
                      </a:solidFill>
                      <a:prstDash val="solid"/>
                      <a:round/>
                      <a:headEnd type="none" w="med" len="med"/>
                      <a:tailEnd type="none" w="med" len="med"/>
                    </a:lnR>
                    <a:lnT w="6350" cap="flat" cmpd="sng" algn="ctr">
                      <a:solidFill>
                        <a:srgbClr val="C5D8D8"/>
                      </a:solidFill>
                      <a:prstDash val="solid"/>
                      <a:round/>
                      <a:headEnd type="none" w="med" len="med"/>
                      <a:tailEnd type="none" w="med" len="med"/>
                    </a:lnT>
                    <a:lnB w="6350" cap="flat" cmpd="sng" algn="ctr">
                      <a:solidFill>
                        <a:srgbClr val="C5D8D8"/>
                      </a:solidFill>
                      <a:prstDash val="solid"/>
                      <a:round/>
                      <a:headEnd type="none" w="med" len="med"/>
                      <a:tailEnd type="none" w="med" len="med"/>
                    </a:lnB>
                  </a:tcPr>
                </a:tc>
                <a:tc>
                  <a:txBody>
                    <a:bodyPr/>
                    <a:lstStyle/>
                    <a:p>
                      <a:pPr marL="0" indent="0" algn="ctr">
                        <a:buNone/>
                      </a:pPr>
                      <a:r>
                        <a:rPr lang="en-US" sz="1000" dirty="0">
                          <a:solidFill>
                            <a:srgbClr val="334155"/>
                          </a:solidFill>
                          <a:latin typeface="Calibri" pitchFamily="34" charset="0"/>
                          <a:ea typeface="Calibri" pitchFamily="34" charset="-122"/>
                          <a:cs typeface="Calibri" pitchFamily="34" charset="-120"/>
                        </a:rPr>
                        <a:t>11 lines</a:t>
                      </a:r>
                      <a:endParaRPr lang="en-US" sz="1000" dirty="0">
                        <a:latin typeface="Calibri" charset="0"/>
                        <a:ea typeface="Calibri" charset="0"/>
                        <a:cs typeface="Calibri" charset="0"/>
                      </a:endParaRPr>
                    </a:p>
                  </a:txBody>
                  <a:tcPr anchor="ctr">
                    <a:lnL w="6350" cap="flat" cmpd="sng" algn="ctr">
                      <a:solidFill>
                        <a:srgbClr val="C5D8D8"/>
                      </a:solidFill>
                      <a:prstDash val="solid"/>
                      <a:round/>
                      <a:headEnd type="none" w="med" len="med"/>
                      <a:tailEnd type="none" w="med" len="med"/>
                    </a:lnL>
                    <a:lnR w="6350" cap="flat" cmpd="sng" algn="ctr">
                      <a:solidFill>
                        <a:srgbClr val="C5D8D8"/>
                      </a:solidFill>
                      <a:prstDash val="solid"/>
                      <a:round/>
                      <a:headEnd type="none" w="med" len="med"/>
                      <a:tailEnd type="none" w="med" len="med"/>
                    </a:lnR>
                    <a:lnT w="6350" cap="flat" cmpd="sng" algn="ctr">
                      <a:solidFill>
                        <a:srgbClr val="C5D8D8"/>
                      </a:solidFill>
                      <a:prstDash val="solid"/>
                      <a:round/>
                      <a:headEnd type="none" w="med" len="med"/>
                      <a:tailEnd type="none" w="med" len="med"/>
                    </a:lnT>
                    <a:lnB w="6350" cap="flat" cmpd="sng" algn="ctr">
                      <a:solidFill>
                        <a:srgbClr val="C5D8D8"/>
                      </a:solidFill>
                      <a:prstDash val="solid"/>
                      <a:round/>
                      <a:headEnd type="none" w="med" len="med"/>
                      <a:tailEnd type="none" w="med" len="med"/>
                    </a:lnB>
                  </a:tcPr>
                </a:tc>
                <a:extLst>
                  <a:ext uri="{0D108BD9-81ED-4DB2-BD59-A6C34878D82A}">
                    <a16:rowId xmlns:a16="http://schemas.microsoft.com/office/drawing/2014/main" val="10006"/>
                  </a:ext>
                </a:extLst>
              </a:tr>
              <a:tr h="320040">
                <a:tc>
                  <a:txBody>
                    <a:bodyPr/>
                    <a:lstStyle/>
                    <a:p>
                      <a:pPr marL="0" indent="0" algn="l">
                        <a:buNone/>
                      </a:pPr>
                      <a:r>
                        <a:rPr lang="en-US" sz="1000" b="1" dirty="0">
                          <a:solidFill>
                            <a:srgbClr val="0A595F"/>
                          </a:solidFill>
                          <a:latin typeface="Calibri" pitchFamily="34" charset="0"/>
                          <a:ea typeface="Calibri" pitchFamily="34" charset="-122"/>
                          <a:cs typeface="Calibri" pitchFamily="34" charset="-120"/>
                        </a:rPr>
                        <a:t>TOTAL</a:t>
                      </a:r>
                      <a:endParaRPr lang="en-US" sz="1000" dirty="0">
                        <a:latin typeface="Calibri" charset="0"/>
                        <a:ea typeface="Calibri" charset="0"/>
                        <a:cs typeface="Calibri" charset="0"/>
                      </a:endParaRPr>
                    </a:p>
                  </a:txBody>
                  <a:tcPr anchor="ctr">
                    <a:lnL w="6350" cap="flat" cmpd="sng" algn="ctr">
                      <a:solidFill>
                        <a:srgbClr val="C5D8D8"/>
                      </a:solidFill>
                      <a:prstDash val="solid"/>
                      <a:round/>
                      <a:headEnd type="none" w="med" len="med"/>
                      <a:tailEnd type="none" w="med" len="med"/>
                    </a:lnL>
                    <a:lnR w="6350" cap="flat" cmpd="sng" algn="ctr">
                      <a:solidFill>
                        <a:srgbClr val="C5D8D8"/>
                      </a:solidFill>
                      <a:prstDash val="solid"/>
                      <a:round/>
                      <a:headEnd type="none" w="med" len="med"/>
                      <a:tailEnd type="none" w="med" len="med"/>
                    </a:lnR>
                    <a:lnT w="6350" cap="flat" cmpd="sng" algn="ctr">
                      <a:solidFill>
                        <a:srgbClr val="C5D8D8"/>
                      </a:solidFill>
                      <a:prstDash val="solid"/>
                      <a:round/>
                      <a:headEnd type="none" w="med" len="med"/>
                      <a:tailEnd type="none" w="med" len="med"/>
                    </a:lnT>
                    <a:lnB w="6350" cap="flat" cmpd="sng" algn="ctr">
                      <a:solidFill>
                        <a:srgbClr val="C5D8D8"/>
                      </a:solidFill>
                      <a:prstDash val="solid"/>
                      <a:round/>
                      <a:headEnd type="none" w="med" len="med"/>
                      <a:tailEnd type="none" w="med" len="med"/>
                    </a:lnB>
                    <a:solidFill>
                      <a:srgbClr val="E0F0EF"/>
                    </a:solidFill>
                  </a:tcPr>
                </a:tc>
                <a:tc>
                  <a:txBody>
                    <a:bodyPr/>
                    <a:lstStyle/>
                    <a:p>
                      <a:pPr marL="0" indent="0" algn="ctr">
                        <a:buNone/>
                      </a:pPr>
                      <a:r>
                        <a:rPr lang="en-US" sz="1000" b="1" dirty="0">
                          <a:solidFill>
                            <a:srgbClr val="0A595F"/>
                          </a:solidFill>
                          <a:latin typeface="Calibri" pitchFamily="34" charset="0"/>
                          <a:ea typeface="Calibri" pitchFamily="34" charset="-122"/>
                          <a:cs typeface="Calibri" pitchFamily="34" charset="-120"/>
                        </a:rPr>
                        <a:t>2,131</a:t>
                      </a:r>
                      <a:endParaRPr lang="en-US" sz="1000" dirty="0">
                        <a:latin typeface="Calibri" charset="0"/>
                        <a:ea typeface="Calibri" charset="0"/>
                        <a:cs typeface="Calibri" charset="0"/>
                      </a:endParaRPr>
                    </a:p>
                  </a:txBody>
                  <a:tcPr anchor="ctr">
                    <a:lnL w="6350" cap="flat" cmpd="sng" algn="ctr">
                      <a:solidFill>
                        <a:srgbClr val="C5D8D8"/>
                      </a:solidFill>
                      <a:prstDash val="solid"/>
                      <a:round/>
                      <a:headEnd type="none" w="med" len="med"/>
                      <a:tailEnd type="none" w="med" len="med"/>
                    </a:lnL>
                    <a:lnR w="6350" cap="flat" cmpd="sng" algn="ctr">
                      <a:solidFill>
                        <a:srgbClr val="C5D8D8"/>
                      </a:solidFill>
                      <a:prstDash val="solid"/>
                      <a:round/>
                      <a:headEnd type="none" w="med" len="med"/>
                      <a:tailEnd type="none" w="med" len="med"/>
                    </a:lnR>
                    <a:lnT w="6350" cap="flat" cmpd="sng" algn="ctr">
                      <a:solidFill>
                        <a:srgbClr val="C5D8D8"/>
                      </a:solidFill>
                      <a:prstDash val="solid"/>
                      <a:round/>
                      <a:headEnd type="none" w="med" len="med"/>
                      <a:tailEnd type="none" w="med" len="med"/>
                    </a:lnT>
                    <a:lnB w="6350" cap="flat" cmpd="sng" algn="ctr">
                      <a:solidFill>
                        <a:srgbClr val="C5D8D8"/>
                      </a:solidFill>
                      <a:prstDash val="solid"/>
                      <a:round/>
                      <a:headEnd type="none" w="med" len="med"/>
                      <a:tailEnd type="none" w="med" len="med"/>
                    </a:lnB>
                    <a:solidFill>
                      <a:srgbClr val="E0F0EF"/>
                    </a:solidFill>
                  </a:tcPr>
                </a:tc>
                <a:tc>
                  <a:txBody>
                    <a:bodyPr/>
                    <a:lstStyle/>
                    <a:p>
                      <a:pPr marL="0" indent="0" algn="ctr">
                        <a:buNone/>
                      </a:pPr>
                      <a:r>
                        <a:rPr lang="en-US" sz="1000" b="1" dirty="0">
                          <a:solidFill>
                            <a:srgbClr val="0A595F"/>
                          </a:solidFill>
                          <a:latin typeface="Calibri" pitchFamily="34" charset="0"/>
                          <a:ea typeface="Calibri" pitchFamily="34" charset="-122"/>
                          <a:cs typeface="Calibri" pitchFamily="34" charset="-120"/>
                        </a:rPr>
                        <a:t>565</a:t>
                      </a:r>
                      <a:endParaRPr lang="en-US" sz="1000" dirty="0">
                        <a:latin typeface="Calibri" charset="0"/>
                        <a:ea typeface="Calibri" charset="0"/>
                        <a:cs typeface="Calibri" charset="0"/>
                      </a:endParaRPr>
                    </a:p>
                  </a:txBody>
                  <a:tcPr anchor="ctr">
                    <a:lnL w="6350" cap="flat" cmpd="sng" algn="ctr">
                      <a:solidFill>
                        <a:srgbClr val="C5D8D8"/>
                      </a:solidFill>
                      <a:prstDash val="solid"/>
                      <a:round/>
                      <a:headEnd type="none" w="med" len="med"/>
                      <a:tailEnd type="none" w="med" len="med"/>
                    </a:lnL>
                    <a:lnR w="6350" cap="flat" cmpd="sng" algn="ctr">
                      <a:solidFill>
                        <a:srgbClr val="C5D8D8"/>
                      </a:solidFill>
                      <a:prstDash val="solid"/>
                      <a:round/>
                      <a:headEnd type="none" w="med" len="med"/>
                      <a:tailEnd type="none" w="med" len="med"/>
                    </a:lnR>
                    <a:lnT w="6350" cap="flat" cmpd="sng" algn="ctr">
                      <a:solidFill>
                        <a:srgbClr val="C5D8D8"/>
                      </a:solidFill>
                      <a:prstDash val="solid"/>
                      <a:round/>
                      <a:headEnd type="none" w="med" len="med"/>
                      <a:tailEnd type="none" w="med" len="med"/>
                    </a:lnT>
                    <a:lnB w="6350" cap="flat" cmpd="sng" algn="ctr">
                      <a:solidFill>
                        <a:srgbClr val="C5D8D8"/>
                      </a:solidFill>
                      <a:prstDash val="solid"/>
                      <a:round/>
                      <a:headEnd type="none" w="med" len="med"/>
                      <a:tailEnd type="none" w="med" len="med"/>
                    </a:lnB>
                    <a:solidFill>
                      <a:srgbClr val="E0F0EF"/>
                    </a:solidFill>
                  </a:tcPr>
                </a:tc>
                <a:tc>
                  <a:txBody>
                    <a:bodyPr/>
                    <a:lstStyle/>
                    <a:p>
                      <a:pPr marL="0" indent="0" algn="ctr">
                        <a:buNone/>
                      </a:pPr>
                      <a:r>
                        <a:rPr lang="en-US" sz="1000" b="1" dirty="0">
                          <a:solidFill>
                            <a:srgbClr val="0A595F"/>
                          </a:solidFill>
                          <a:latin typeface="Calibri" pitchFamily="34" charset="0"/>
                          <a:ea typeface="Calibri" pitchFamily="34" charset="-122"/>
                          <a:cs typeface="Calibri" pitchFamily="34" charset="-120"/>
                        </a:rPr>
                        <a:t>57</a:t>
                      </a:r>
                      <a:endParaRPr lang="en-US" sz="1000" dirty="0">
                        <a:latin typeface="Calibri" charset="0"/>
                        <a:ea typeface="Calibri" charset="0"/>
                        <a:cs typeface="Calibri" charset="0"/>
                      </a:endParaRPr>
                    </a:p>
                  </a:txBody>
                  <a:tcPr anchor="ctr">
                    <a:lnL w="6350" cap="flat" cmpd="sng" algn="ctr">
                      <a:solidFill>
                        <a:srgbClr val="C5D8D8"/>
                      </a:solidFill>
                      <a:prstDash val="solid"/>
                      <a:round/>
                      <a:headEnd type="none" w="med" len="med"/>
                      <a:tailEnd type="none" w="med" len="med"/>
                    </a:lnL>
                    <a:lnR w="6350" cap="flat" cmpd="sng" algn="ctr">
                      <a:solidFill>
                        <a:srgbClr val="C5D8D8"/>
                      </a:solidFill>
                      <a:prstDash val="solid"/>
                      <a:round/>
                      <a:headEnd type="none" w="med" len="med"/>
                      <a:tailEnd type="none" w="med" len="med"/>
                    </a:lnR>
                    <a:lnT w="6350" cap="flat" cmpd="sng" algn="ctr">
                      <a:solidFill>
                        <a:srgbClr val="C5D8D8"/>
                      </a:solidFill>
                      <a:prstDash val="solid"/>
                      <a:round/>
                      <a:headEnd type="none" w="med" len="med"/>
                      <a:tailEnd type="none" w="med" len="med"/>
                    </a:lnT>
                    <a:lnB w="6350" cap="flat" cmpd="sng" algn="ctr">
                      <a:solidFill>
                        <a:srgbClr val="C5D8D8"/>
                      </a:solidFill>
                      <a:prstDash val="solid"/>
                      <a:round/>
                      <a:headEnd type="none" w="med" len="med"/>
                      <a:tailEnd type="none" w="med" len="med"/>
                    </a:lnB>
                    <a:solidFill>
                      <a:srgbClr val="E0F0EF"/>
                    </a:solidFill>
                  </a:tcPr>
                </a:tc>
                <a:tc>
                  <a:txBody>
                    <a:bodyPr/>
                    <a:lstStyle/>
                    <a:p>
                      <a:pPr marL="0" indent="0" algn="ctr">
                        <a:buNone/>
                      </a:pPr>
                      <a:r>
                        <a:rPr lang="en-US" sz="1000" b="1" dirty="0">
                          <a:solidFill>
                            <a:srgbClr val="0A595F"/>
                          </a:solidFill>
                          <a:latin typeface="Calibri" pitchFamily="34" charset="0"/>
                          <a:ea typeface="Calibri" pitchFamily="34" charset="-122"/>
                          <a:cs typeface="Calibri" pitchFamily="34" charset="-120"/>
                        </a:rPr>
                        <a:t>61</a:t>
                      </a:r>
                      <a:endParaRPr lang="en-US" sz="1000" dirty="0">
                        <a:latin typeface="Calibri" charset="0"/>
                        <a:ea typeface="Calibri" charset="0"/>
                        <a:cs typeface="Calibri" charset="0"/>
                      </a:endParaRPr>
                    </a:p>
                  </a:txBody>
                  <a:tcPr anchor="ctr">
                    <a:lnL w="6350" cap="flat" cmpd="sng" algn="ctr">
                      <a:solidFill>
                        <a:srgbClr val="C5D8D8"/>
                      </a:solidFill>
                      <a:prstDash val="solid"/>
                      <a:round/>
                      <a:headEnd type="none" w="med" len="med"/>
                      <a:tailEnd type="none" w="med" len="med"/>
                    </a:lnL>
                    <a:lnR w="6350" cap="flat" cmpd="sng" algn="ctr">
                      <a:solidFill>
                        <a:srgbClr val="C5D8D8"/>
                      </a:solidFill>
                      <a:prstDash val="solid"/>
                      <a:round/>
                      <a:headEnd type="none" w="med" len="med"/>
                      <a:tailEnd type="none" w="med" len="med"/>
                    </a:lnR>
                    <a:lnT w="6350" cap="flat" cmpd="sng" algn="ctr">
                      <a:solidFill>
                        <a:srgbClr val="C5D8D8"/>
                      </a:solidFill>
                      <a:prstDash val="solid"/>
                      <a:round/>
                      <a:headEnd type="none" w="med" len="med"/>
                      <a:tailEnd type="none" w="med" len="med"/>
                    </a:lnT>
                    <a:lnB w="6350" cap="flat" cmpd="sng" algn="ctr">
                      <a:solidFill>
                        <a:srgbClr val="C5D8D8"/>
                      </a:solidFill>
                      <a:prstDash val="solid"/>
                      <a:round/>
                      <a:headEnd type="none" w="med" len="med"/>
                      <a:tailEnd type="none" w="med" len="med"/>
                    </a:lnB>
                    <a:solidFill>
                      <a:srgbClr val="E0F0EF"/>
                    </a:solidFill>
                  </a:tcPr>
                </a:tc>
                <a:tc>
                  <a:txBody>
                    <a:bodyPr/>
                    <a:lstStyle/>
                    <a:p>
                      <a:pPr marL="0" indent="0" algn="ctr">
                        <a:buNone/>
                      </a:pPr>
                      <a:r>
                        <a:rPr lang="en-US" sz="1000" b="1" dirty="0">
                          <a:solidFill>
                            <a:srgbClr val="0A595F"/>
                          </a:solidFill>
                          <a:latin typeface="Calibri" pitchFamily="34" charset="0"/>
                          <a:ea typeface="Calibri" pitchFamily="34" charset="-122"/>
                          <a:cs typeface="Calibri" pitchFamily="34" charset="-120"/>
                        </a:rPr>
                        <a:t>2,360+</a:t>
                      </a:r>
                      <a:endParaRPr lang="en-US" sz="1000" dirty="0">
                        <a:latin typeface="Calibri" charset="0"/>
                        <a:ea typeface="Calibri" charset="0"/>
                        <a:cs typeface="Calibri" charset="0"/>
                      </a:endParaRPr>
                    </a:p>
                  </a:txBody>
                  <a:tcPr anchor="ctr">
                    <a:lnL w="6350" cap="flat" cmpd="sng" algn="ctr">
                      <a:solidFill>
                        <a:srgbClr val="C5D8D8"/>
                      </a:solidFill>
                      <a:prstDash val="solid"/>
                      <a:round/>
                      <a:headEnd type="none" w="med" len="med"/>
                      <a:tailEnd type="none" w="med" len="med"/>
                    </a:lnL>
                    <a:lnR w="6350" cap="flat" cmpd="sng" algn="ctr">
                      <a:solidFill>
                        <a:srgbClr val="C5D8D8"/>
                      </a:solidFill>
                      <a:prstDash val="solid"/>
                      <a:round/>
                      <a:headEnd type="none" w="med" len="med"/>
                      <a:tailEnd type="none" w="med" len="med"/>
                    </a:lnR>
                    <a:lnT w="6350" cap="flat" cmpd="sng" algn="ctr">
                      <a:solidFill>
                        <a:srgbClr val="C5D8D8"/>
                      </a:solidFill>
                      <a:prstDash val="solid"/>
                      <a:round/>
                      <a:headEnd type="none" w="med" len="med"/>
                      <a:tailEnd type="none" w="med" len="med"/>
                    </a:lnT>
                    <a:lnB w="6350" cap="flat" cmpd="sng" algn="ctr">
                      <a:solidFill>
                        <a:srgbClr val="C5D8D8"/>
                      </a:solidFill>
                      <a:prstDash val="solid"/>
                      <a:round/>
                      <a:headEnd type="none" w="med" len="med"/>
                      <a:tailEnd type="none" w="med" len="med"/>
                    </a:lnB>
                    <a:solidFill>
                      <a:srgbClr val="E0F0EF"/>
                    </a:solidFill>
                  </a:tcPr>
                </a:tc>
                <a:extLst>
                  <a:ext uri="{0D108BD9-81ED-4DB2-BD59-A6C34878D82A}">
                    <a16:rowId xmlns:a16="http://schemas.microsoft.com/office/drawing/2014/main" val="10007"/>
                  </a:ext>
                </a:extLst>
              </a:tr>
            </a:tbl>
          </a:graphicData>
        </a:graphic>
      </p:graphicFrame>
      <p:sp>
        <p:nvSpPr>
          <p:cNvPr id="4" name="Text 1"/>
          <p:cNvSpPr/>
          <p:nvPr/>
        </p:nvSpPr>
        <p:spPr>
          <a:xfrm>
            <a:off x="457200" y="3566160"/>
            <a:ext cx="8229600" cy="320040"/>
          </a:xfrm>
          <a:prstGeom prst="rect">
            <a:avLst/>
          </a:prstGeom>
          <a:noFill/>
          <a:ln/>
        </p:spPr>
        <p:txBody>
          <a:bodyPr wrap="square" lIns="0" tIns="0" rIns="0" bIns="0" rtlCol="0" anchor="ctr"/>
          <a:lstStyle/>
          <a:p>
            <a:pPr marL="0" indent="0">
              <a:buNone/>
            </a:pPr>
            <a:r>
              <a:rPr lang="en-US" sz="900" i="1" dirty="0">
                <a:solidFill>
                  <a:srgbClr val="64748B"/>
                </a:solidFill>
                <a:latin typeface="Calibri" pitchFamily="34" charset="0"/>
                <a:ea typeface="Calibri" pitchFamily="34" charset="-122"/>
                <a:cs typeface="Calibri" pitchFamily="34" charset="-120"/>
              </a:rPr>
              <a:t>Primary Sources: CEA/NITI Aayog (India), BPDB (Bangladesh), NEA (Nepal), BPC (Bhutan), CEB (Sri Lanka), STELCO/MCCEE (Maldives)</a:t>
            </a:r>
            <a:endParaRPr lang="en-US" sz="900" dirty="0"/>
          </a:p>
        </p:txBody>
      </p:sp>
      <p:sp>
        <p:nvSpPr>
          <p:cNvPr id="5" name="Shape 2"/>
          <p:cNvSpPr/>
          <p:nvPr/>
        </p:nvSpPr>
        <p:spPr>
          <a:xfrm>
            <a:off x="457200" y="3977640"/>
            <a:ext cx="8229600" cy="18288"/>
          </a:xfrm>
          <a:prstGeom prst="rect">
            <a:avLst/>
          </a:prstGeom>
          <a:solidFill>
            <a:srgbClr val="E0F0EF"/>
          </a:solidFill>
          <a:ln/>
        </p:spPr>
        <p:txBody>
          <a:bodyPr/>
          <a:lstStyle/>
          <a:p>
            <a:endParaRPr lang="LID4096"/>
          </a:p>
        </p:txBody>
      </p:sp>
      <p:sp>
        <p:nvSpPr>
          <p:cNvPr id="6" name="Text 3"/>
          <p:cNvSpPr/>
          <p:nvPr/>
        </p:nvSpPr>
        <p:spPr>
          <a:xfrm>
            <a:off x="457200" y="4069080"/>
            <a:ext cx="8229600" cy="411480"/>
          </a:xfrm>
          <a:prstGeom prst="rect">
            <a:avLst/>
          </a:prstGeom>
          <a:noFill/>
          <a:ln/>
        </p:spPr>
        <p:txBody>
          <a:bodyPr wrap="square" lIns="0" tIns="0" rIns="0" bIns="0" rtlCol="0" anchor="ctr"/>
          <a:lstStyle/>
          <a:p>
            <a:pPr marL="0" indent="0">
              <a:buNone/>
            </a:pPr>
            <a:r>
              <a:rPr lang="en-US" sz="1000" dirty="0">
                <a:solidFill>
                  <a:srgbClr val="334155"/>
                </a:solidFill>
                <a:latin typeface="Calibri" pitchFamily="34" charset="0"/>
                <a:ea typeface="Calibri" pitchFamily="34" charset="-122"/>
                <a:cs typeface="Calibri" pitchFamily="34" charset="-120"/>
              </a:rPr>
              <a:t>Cost Architecture: India-anchored multipliers with 3 scenarios (Conservative / Moderate / Ambitious). 181 technology cost entries across 7 milestone years. 15 multiplier cells still flagged as assumptions.</a:t>
            </a:r>
            <a:endParaRPr lang="en-US" sz="1000" dirty="0"/>
          </a:p>
        </p:txBody>
      </p:sp>
      <p:sp>
        <p:nvSpPr>
          <p:cNvPr id="7" name="Shape 4"/>
          <p:cNvSpPr/>
          <p:nvPr/>
        </p:nvSpPr>
        <p:spPr>
          <a:xfrm>
            <a:off x="0" y="4709160"/>
            <a:ext cx="9144000" cy="434340"/>
          </a:xfrm>
          <a:prstGeom prst="rect">
            <a:avLst/>
          </a:prstGeom>
          <a:solidFill>
            <a:srgbClr val="00414D"/>
          </a:solidFill>
          <a:ln/>
        </p:spPr>
        <p:txBody>
          <a:bodyPr/>
          <a:lstStyle/>
          <a:p>
            <a:endParaRPr lang="LID4096"/>
          </a:p>
        </p:txBody>
      </p:sp>
      <p:sp>
        <p:nvSpPr>
          <p:cNvPr id="8" name="Text 5"/>
          <p:cNvSpPr/>
          <p:nvPr/>
        </p:nvSpPr>
        <p:spPr>
          <a:xfrm>
            <a:off x="457200" y="4727448"/>
            <a:ext cx="8229600" cy="393192"/>
          </a:xfrm>
          <a:prstGeom prst="rect">
            <a:avLst/>
          </a:prstGeom>
          <a:noFill/>
          <a:ln/>
        </p:spPr>
        <p:txBody>
          <a:bodyPr wrap="square" rtlCol="0" anchor="ctr"/>
          <a:lstStyle/>
          <a:p>
            <a:pPr marL="0" indent="0">
              <a:buNone/>
            </a:pPr>
            <a:r>
              <a:rPr lang="en-US" sz="800" dirty="0">
                <a:solidFill>
                  <a:srgbClr val="64748B"/>
                </a:solidFill>
                <a:latin typeface="Calibri" pitchFamily="34" charset="0"/>
                <a:ea typeface="Calibri" pitchFamily="34" charset="-122"/>
                <a:cs typeface="Calibri" pitchFamily="34" charset="-120"/>
              </a:rPr>
              <a:t>OSTRAM — Data Package v1.0  |  UN ESCAP Energy Division  |  March 2026</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F0F5F5"/>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457200"/>
          </a:xfrm>
          <a:prstGeom prst="rect">
            <a:avLst/>
          </a:prstGeom>
          <a:noFill/>
          <a:ln/>
        </p:spPr>
        <p:txBody>
          <a:bodyPr wrap="square" lIns="0" tIns="0" rIns="0" bIns="0" rtlCol="0" anchor="ctr"/>
          <a:lstStyle/>
          <a:p>
            <a:pPr marL="0" indent="0">
              <a:buNone/>
            </a:pPr>
            <a:r>
              <a:rPr lang="en-US" sz="2400" b="1" dirty="0">
                <a:solidFill>
                  <a:srgbClr val="00414D"/>
                </a:solidFill>
                <a:latin typeface="Georgia" pitchFamily="34" charset="0"/>
                <a:ea typeface="Georgia" pitchFamily="34" charset="-122"/>
                <a:cs typeface="Georgia" pitchFamily="34" charset="-120"/>
              </a:rPr>
              <a:t>Cost Architecture: India-Anchored Multipliers</a:t>
            </a:r>
            <a:endParaRPr lang="en-US" sz="2400" dirty="0"/>
          </a:p>
        </p:txBody>
      </p:sp>
      <p:sp>
        <p:nvSpPr>
          <p:cNvPr id="3" name="Text 1"/>
          <p:cNvSpPr/>
          <p:nvPr/>
        </p:nvSpPr>
        <p:spPr>
          <a:xfrm>
            <a:off x="457200" y="749808"/>
            <a:ext cx="8229600" cy="228600"/>
          </a:xfrm>
          <a:prstGeom prst="rect">
            <a:avLst/>
          </a:prstGeom>
          <a:noFill/>
          <a:ln/>
        </p:spPr>
        <p:txBody>
          <a:bodyPr wrap="square" lIns="0" tIns="0" rIns="0" bIns="0" rtlCol="0" anchor="ctr"/>
          <a:lstStyle/>
          <a:p>
            <a:pPr marL="0" indent="0">
              <a:buNone/>
            </a:pPr>
            <a:r>
              <a:rPr lang="en-US" sz="1050" dirty="0">
                <a:solidFill>
                  <a:srgbClr val="334155"/>
                </a:solidFill>
                <a:latin typeface="Calibri" pitchFamily="34" charset="0"/>
                <a:ea typeface="Calibri" pitchFamily="34" charset="-122"/>
                <a:cs typeface="Calibri" pitchFamily="34" charset="-120"/>
              </a:rPr>
              <a:t>Base cost = India (1.0×). Each country multiplier is sourced with an assumption flag per cell.</a:t>
            </a:r>
            <a:endParaRPr lang="en-US" sz="1050" dirty="0"/>
          </a:p>
        </p:txBody>
      </p:sp>
      <p:graphicFrame>
        <p:nvGraphicFramePr>
          <p:cNvPr id="11" name="Table 0"/>
          <p:cNvGraphicFramePr>
            <a:graphicFrameLocks noGrp="1"/>
          </p:cNvGraphicFramePr>
          <p:nvPr>
            <p:extLst>
              <p:ext uri="{D42A27DB-BD31-4B8C-83A1-F6EECF244321}">
                <p14:modId xmlns:p14="http://schemas.microsoft.com/office/powerpoint/2010/main" val="41892391"/>
              </p:ext>
            </p:extLst>
          </p:nvPr>
        </p:nvGraphicFramePr>
        <p:xfrm>
          <a:off x="457200" y="1097280"/>
          <a:ext cx="6903720" cy="2057400"/>
        </p:xfrm>
        <a:graphic>
          <a:graphicData uri="http://schemas.openxmlformats.org/drawingml/2006/table">
            <a:tbl>
              <a:tblPr/>
              <a:tblGrid>
                <a:gridCol w="1371600">
                  <a:extLst>
                    <a:ext uri="{9D8B030D-6E8A-4147-A177-3AD203B41FA5}">
                      <a16:colId xmlns:a16="http://schemas.microsoft.com/office/drawing/2014/main" val="20000"/>
                    </a:ext>
                  </a:extLst>
                </a:gridCol>
                <a:gridCol w="640080">
                  <a:extLst>
                    <a:ext uri="{9D8B030D-6E8A-4147-A177-3AD203B41FA5}">
                      <a16:colId xmlns:a16="http://schemas.microsoft.com/office/drawing/2014/main" val="20001"/>
                    </a:ext>
                  </a:extLst>
                </a:gridCol>
                <a:gridCol w="777240">
                  <a:extLst>
                    <a:ext uri="{9D8B030D-6E8A-4147-A177-3AD203B41FA5}">
                      <a16:colId xmlns:a16="http://schemas.microsoft.com/office/drawing/2014/main" val="20002"/>
                    </a:ext>
                  </a:extLst>
                </a:gridCol>
                <a:gridCol w="777240">
                  <a:extLst>
                    <a:ext uri="{9D8B030D-6E8A-4147-A177-3AD203B41FA5}">
                      <a16:colId xmlns:a16="http://schemas.microsoft.com/office/drawing/2014/main" val="20003"/>
                    </a:ext>
                  </a:extLst>
                </a:gridCol>
                <a:gridCol w="777240">
                  <a:extLst>
                    <a:ext uri="{9D8B030D-6E8A-4147-A177-3AD203B41FA5}">
                      <a16:colId xmlns:a16="http://schemas.microsoft.com/office/drawing/2014/main" val="20004"/>
                    </a:ext>
                  </a:extLst>
                </a:gridCol>
                <a:gridCol w="777240">
                  <a:extLst>
                    <a:ext uri="{9D8B030D-6E8A-4147-A177-3AD203B41FA5}">
                      <a16:colId xmlns:a16="http://schemas.microsoft.com/office/drawing/2014/main" val="20005"/>
                    </a:ext>
                  </a:extLst>
                </a:gridCol>
                <a:gridCol w="777240">
                  <a:extLst>
                    <a:ext uri="{9D8B030D-6E8A-4147-A177-3AD203B41FA5}">
                      <a16:colId xmlns:a16="http://schemas.microsoft.com/office/drawing/2014/main" val="20006"/>
                    </a:ext>
                  </a:extLst>
                </a:gridCol>
                <a:gridCol w="1005840">
                  <a:extLst>
                    <a:ext uri="{9D8B030D-6E8A-4147-A177-3AD203B41FA5}">
                      <a16:colId xmlns:a16="http://schemas.microsoft.com/office/drawing/2014/main" val="20007"/>
                    </a:ext>
                  </a:extLst>
                </a:gridCol>
              </a:tblGrid>
              <a:tr h="0">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Technology</a:t>
                      </a:r>
                      <a:endParaRPr lang="en-US" sz="900" dirty="0">
                        <a:latin typeface="Calibri" charset="0"/>
                        <a:ea typeface="Calibri" charset="0"/>
                        <a:cs typeface="Calibri" charset="0"/>
                      </a:endParaRPr>
                    </a:p>
                  </a:txBody>
                  <a:tcPr anchor="ctr">
                    <a:lnL w="6350" cap="flat" cmpd="sng" algn="ctr">
                      <a:solidFill>
                        <a:srgbClr val="C5D8D8"/>
                      </a:solidFill>
                      <a:prstDash val="solid"/>
                      <a:round/>
                      <a:headEnd type="none" w="med" len="med"/>
                      <a:tailEnd type="none" w="med" len="med"/>
                    </a:lnL>
                    <a:lnR w="6350" cap="flat" cmpd="sng" algn="ctr">
                      <a:solidFill>
                        <a:srgbClr val="C5D8D8"/>
                      </a:solidFill>
                      <a:prstDash val="solid"/>
                      <a:round/>
                      <a:headEnd type="none" w="med" len="med"/>
                      <a:tailEnd type="none" w="med" len="med"/>
                    </a:lnR>
                    <a:lnT w="6350" cap="flat" cmpd="sng" algn="ctr">
                      <a:solidFill>
                        <a:srgbClr val="C5D8D8"/>
                      </a:solidFill>
                      <a:prstDash val="solid"/>
                      <a:round/>
                      <a:headEnd type="none" w="med" len="med"/>
                      <a:tailEnd type="none" w="med" len="med"/>
                    </a:lnT>
                    <a:lnB w="6350" cap="flat" cmpd="sng" algn="ctr">
                      <a:solidFill>
                        <a:srgbClr val="C5D8D8"/>
                      </a:solidFill>
                      <a:prstDash val="solid"/>
                      <a:round/>
                      <a:headEnd type="none" w="med" len="med"/>
                      <a:tailEnd type="none" w="med" len="med"/>
                    </a:lnB>
                    <a:solidFill>
                      <a:srgbClr val="0A595F"/>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IN</a:t>
                      </a:r>
                      <a:endParaRPr lang="en-US" sz="900" dirty="0">
                        <a:latin typeface="Calibri" charset="0"/>
                        <a:ea typeface="Calibri" charset="0"/>
                        <a:cs typeface="Calibri" charset="0"/>
                      </a:endParaRPr>
                    </a:p>
                  </a:txBody>
                  <a:tcPr anchor="ctr">
                    <a:lnL w="6350" cap="flat" cmpd="sng" algn="ctr">
                      <a:solidFill>
                        <a:srgbClr val="C5D8D8"/>
                      </a:solidFill>
                      <a:prstDash val="solid"/>
                      <a:round/>
                      <a:headEnd type="none" w="med" len="med"/>
                      <a:tailEnd type="none" w="med" len="med"/>
                    </a:lnL>
                    <a:lnR w="6350" cap="flat" cmpd="sng" algn="ctr">
                      <a:solidFill>
                        <a:srgbClr val="C5D8D8"/>
                      </a:solidFill>
                      <a:prstDash val="solid"/>
                      <a:round/>
                      <a:headEnd type="none" w="med" len="med"/>
                      <a:tailEnd type="none" w="med" len="med"/>
                    </a:lnR>
                    <a:lnT w="6350" cap="flat" cmpd="sng" algn="ctr">
                      <a:solidFill>
                        <a:srgbClr val="C5D8D8"/>
                      </a:solidFill>
                      <a:prstDash val="solid"/>
                      <a:round/>
                      <a:headEnd type="none" w="med" len="med"/>
                      <a:tailEnd type="none" w="med" len="med"/>
                    </a:lnT>
                    <a:lnB w="6350" cap="flat" cmpd="sng" algn="ctr">
                      <a:solidFill>
                        <a:srgbClr val="C5D8D8"/>
                      </a:solidFill>
                      <a:prstDash val="solid"/>
                      <a:round/>
                      <a:headEnd type="none" w="med" len="med"/>
                      <a:tailEnd type="none" w="med" len="med"/>
                    </a:lnB>
                    <a:solidFill>
                      <a:srgbClr val="0A595F"/>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BD</a:t>
                      </a:r>
                      <a:endParaRPr lang="en-US" sz="900" dirty="0">
                        <a:latin typeface="Calibri" charset="0"/>
                        <a:ea typeface="Calibri" charset="0"/>
                        <a:cs typeface="Calibri" charset="0"/>
                      </a:endParaRPr>
                    </a:p>
                  </a:txBody>
                  <a:tcPr anchor="ctr">
                    <a:lnL w="6350" cap="flat" cmpd="sng" algn="ctr">
                      <a:solidFill>
                        <a:srgbClr val="C5D8D8"/>
                      </a:solidFill>
                      <a:prstDash val="solid"/>
                      <a:round/>
                      <a:headEnd type="none" w="med" len="med"/>
                      <a:tailEnd type="none" w="med" len="med"/>
                    </a:lnL>
                    <a:lnR w="6350" cap="flat" cmpd="sng" algn="ctr">
                      <a:solidFill>
                        <a:srgbClr val="C5D8D8"/>
                      </a:solidFill>
                      <a:prstDash val="solid"/>
                      <a:round/>
                      <a:headEnd type="none" w="med" len="med"/>
                      <a:tailEnd type="none" w="med" len="med"/>
                    </a:lnR>
                    <a:lnT w="6350" cap="flat" cmpd="sng" algn="ctr">
                      <a:solidFill>
                        <a:srgbClr val="C5D8D8"/>
                      </a:solidFill>
                      <a:prstDash val="solid"/>
                      <a:round/>
                      <a:headEnd type="none" w="med" len="med"/>
                      <a:tailEnd type="none" w="med" len="med"/>
                    </a:lnT>
                    <a:lnB w="6350" cap="flat" cmpd="sng" algn="ctr">
                      <a:solidFill>
                        <a:srgbClr val="C5D8D8"/>
                      </a:solidFill>
                      <a:prstDash val="solid"/>
                      <a:round/>
                      <a:headEnd type="none" w="med" len="med"/>
                      <a:tailEnd type="none" w="med" len="med"/>
                    </a:lnB>
                    <a:solidFill>
                      <a:srgbClr val="0A595F"/>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LK</a:t>
                      </a:r>
                      <a:endParaRPr lang="en-US" sz="900" dirty="0">
                        <a:latin typeface="Calibri" charset="0"/>
                        <a:ea typeface="Calibri" charset="0"/>
                        <a:cs typeface="Calibri" charset="0"/>
                      </a:endParaRPr>
                    </a:p>
                  </a:txBody>
                  <a:tcPr anchor="ctr">
                    <a:lnL w="6350" cap="flat" cmpd="sng" algn="ctr">
                      <a:solidFill>
                        <a:srgbClr val="C5D8D8"/>
                      </a:solidFill>
                      <a:prstDash val="solid"/>
                      <a:round/>
                      <a:headEnd type="none" w="med" len="med"/>
                      <a:tailEnd type="none" w="med" len="med"/>
                    </a:lnL>
                    <a:lnR w="6350" cap="flat" cmpd="sng" algn="ctr">
                      <a:solidFill>
                        <a:srgbClr val="C5D8D8"/>
                      </a:solidFill>
                      <a:prstDash val="solid"/>
                      <a:round/>
                      <a:headEnd type="none" w="med" len="med"/>
                      <a:tailEnd type="none" w="med" len="med"/>
                    </a:lnR>
                    <a:lnT w="6350" cap="flat" cmpd="sng" algn="ctr">
                      <a:solidFill>
                        <a:srgbClr val="C5D8D8"/>
                      </a:solidFill>
                      <a:prstDash val="solid"/>
                      <a:round/>
                      <a:headEnd type="none" w="med" len="med"/>
                      <a:tailEnd type="none" w="med" len="med"/>
                    </a:lnT>
                    <a:lnB w="6350" cap="flat" cmpd="sng" algn="ctr">
                      <a:solidFill>
                        <a:srgbClr val="C5D8D8"/>
                      </a:solidFill>
                      <a:prstDash val="solid"/>
                      <a:round/>
                      <a:headEnd type="none" w="med" len="med"/>
                      <a:tailEnd type="none" w="med" len="med"/>
                    </a:lnB>
                    <a:solidFill>
                      <a:srgbClr val="0A595F"/>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NP</a:t>
                      </a:r>
                      <a:endParaRPr lang="en-US" sz="900" dirty="0">
                        <a:latin typeface="Calibri" charset="0"/>
                        <a:ea typeface="Calibri" charset="0"/>
                        <a:cs typeface="Calibri" charset="0"/>
                      </a:endParaRPr>
                    </a:p>
                  </a:txBody>
                  <a:tcPr anchor="ctr">
                    <a:lnL w="6350" cap="flat" cmpd="sng" algn="ctr">
                      <a:solidFill>
                        <a:srgbClr val="C5D8D8"/>
                      </a:solidFill>
                      <a:prstDash val="solid"/>
                      <a:round/>
                      <a:headEnd type="none" w="med" len="med"/>
                      <a:tailEnd type="none" w="med" len="med"/>
                    </a:lnL>
                    <a:lnR w="6350" cap="flat" cmpd="sng" algn="ctr">
                      <a:solidFill>
                        <a:srgbClr val="C5D8D8"/>
                      </a:solidFill>
                      <a:prstDash val="solid"/>
                      <a:round/>
                      <a:headEnd type="none" w="med" len="med"/>
                      <a:tailEnd type="none" w="med" len="med"/>
                    </a:lnR>
                    <a:lnT w="6350" cap="flat" cmpd="sng" algn="ctr">
                      <a:solidFill>
                        <a:srgbClr val="C5D8D8"/>
                      </a:solidFill>
                      <a:prstDash val="solid"/>
                      <a:round/>
                      <a:headEnd type="none" w="med" len="med"/>
                      <a:tailEnd type="none" w="med" len="med"/>
                    </a:lnT>
                    <a:lnB w="6350" cap="flat" cmpd="sng" algn="ctr">
                      <a:solidFill>
                        <a:srgbClr val="C5D8D8"/>
                      </a:solidFill>
                      <a:prstDash val="solid"/>
                      <a:round/>
                      <a:headEnd type="none" w="med" len="med"/>
                      <a:tailEnd type="none" w="med" len="med"/>
                    </a:lnB>
                    <a:solidFill>
                      <a:srgbClr val="0A595F"/>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BT</a:t>
                      </a:r>
                      <a:endParaRPr lang="en-US" sz="900" dirty="0">
                        <a:latin typeface="Calibri" charset="0"/>
                        <a:ea typeface="Calibri" charset="0"/>
                        <a:cs typeface="Calibri" charset="0"/>
                      </a:endParaRPr>
                    </a:p>
                  </a:txBody>
                  <a:tcPr anchor="ctr">
                    <a:lnL w="6350" cap="flat" cmpd="sng" algn="ctr">
                      <a:solidFill>
                        <a:srgbClr val="C5D8D8"/>
                      </a:solidFill>
                      <a:prstDash val="solid"/>
                      <a:round/>
                      <a:headEnd type="none" w="med" len="med"/>
                      <a:tailEnd type="none" w="med" len="med"/>
                    </a:lnL>
                    <a:lnR w="6350" cap="flat" cmpd="sng" algn="ctr">
                      <a:solidFill>
                        <a:srgbClr val="C5D8D8"/>
                      </a:solidFill>
                      <a:prstDash val="solid"/>
                      <a:round/>
                      <a:headEnd type="none" w="med" len="med"/>
                      <a:tailEnd type="none" w="med" len="med"/>
                    </a:lnR>
                    <a:lnT w="6350" cap="flat" cmpd="sng" algn="ctr">
                      <a:solidFill>
                        <a:srgbClr val="C5D8D8"/>
                      </a:solidFill>
                      <a:prstDash val="solid"/>
                      <a:round/>
                      <a:headEnd type="none" w="med" len="med"/>
                      <a:tailEnd type="none" w="med" len="med"/>
                    </a:lnT>
                    <a:lnB w="6350" cap="flat" cmpd="sng" algn="ctr">
                      <a:solidFill>
                        <a:srgbClr val="C5D8D8"/>
                      </a:solidFill>
                      <a:prstDash val="solid"/>
                      <a:round/>
                      <a:headEnd type="none" w="med" len="med"/>
                      <a:tailEnd type="none" w="med" len="med"/>
                    </a:lnB>
                    <a:solidFill>
                      <a:srgbClr val="0A595F"/>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MV</a:t>
                      </a:r>
                      <a:endParaRPr lang="en-US" sz="900" dirty="0">
                        <a:latin typeface="Calibri" charset="0"/>
                        <a:ea typeface="Calibri" charset="0"/>
                        <a:cs typeface="Calibri" charset="0"/>
                      </a:endParaRPr>
                    </a:p>
                  </a:txBody>
                  <a:tcPr anchor="ctr">
                    <a:lnL w="6350" cap="flat" cmpd="sng" algn="ctr">
                      <a:solidFill>
                        <a:srgbClr val="C5D8D8"/>
                      </a:solidFill>
                      <a:prstDash val="solid"/>
                      <a:round/>
                      <a:headEnd type="none" w="med" len="med"/>
                      <a:tailEnd type="none" w="med" len="med"/>
                    </a:lnL>
                    <a:lnR w="6350" cap="flat" cmpd="sng" algn="ctr">
                      <a:solidFill>
                        <a:srgbClr val="C5D8D8"/>
                      </a:solidFill>
                      <a:prstDash val="solid"/>
                      <a:round/>
                      <a:headEnd type="none" w="med" len="med"/>
                      <a:tailEnd type="none" w="med" len="med"/>
                    </a:lnR>
                    <a:lnT w="6350" cap="flat" cmpd="sng" algn="ctr">
                      <a:solidFill>
                        <a:srgbClr val="C5D8D8"/>
                      </a:solidFill>
                      <a:prstDash val="solid"/>
                      <a:round/>
                      <a:headEnd type="none" w="med" len="med"/>
                      <a:tailEnd type="none" w="med" len="med"/>
                    </a:lnT>
                    <a:lnB w="6350" cap="flat" cmpd="sng" algn="ctr">
                      <a:solidFill>
                        <a:srgbClr val="C5D8D8"/>
                      </a:solidFill>
                      <a:prstDash val="solid"/>
                      <a:round/>
                      <a:headEnd type="none" w="med" len="med"/>
                      <a:tailEnd type="none" w="med" len="med"/>
                    </a:lnB>
                    <a:solidFill>
                      <a:srgbClr val="0A595F"/>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Confidence</a:t>
                      </a:r>
                      <a:endParaRPr lang="en-US" sz="900" dirty="0">
                        <a:latin typeface="Calibri" charset="0"/>
                        <a:ea typeface="Calibri" charset="0"/>
                        <a:cs typeface="Calibri" charset="0"/>
                      </a:endParaRPr>
                    </a:p>
                  </a:txBody>
                  <a:tcPr anchor="ctr">
                    <a:lnL w="6350" cap="flat" cmpd="sng" algn="ctr">
                      <a:solidFill>
                        <a:srgbClr val="C5D8D8"/>
                      </a:solidFill>
                      <a:prstDash val="solid"/>
                      <a:round/>
                      <a:headEnd type="none" w="med" len="med"/>
                      <a:tailEnd type="none" w="med" len="med"/>
                    </a:lnL>
                    <a:lnR w="6350" cap="flat" cmpd="sng" algn="ctr">
                      <a:solidFill>
                        <a:srgbClr val="C5D8D8"/>
                      </a:solidFill>
                      <a:prstDash val="solid"/>
                      <a:round/>
                      <a:headEnd type="none" w="med" len="med"/>
                      <a:tailEnd type="none" w="med" len="med"/>
                    </a:lnR>
                    <a:lnT w="6350" cap="flat" cmpd="sng" algn="ctr">
                      <a:solidFill>
                        <a:srgbClr val="C5D8D8"/>
                      </a:solidFill>
                      <a:prstDash val="solid"/>
                      <a:round/>
                      <a:headEnd type="none" w="med" len="med"/>
                      <a:tailEnd type="none" w="med" len="med"/>
                    </a:lnT>
                    <a:lnB w="6350" cap="flat" cmpd="sng" algn="ctr">
                      <a:solidFill>
                        <a:srgbClr val="C5D8D8"/>
                      </a:solidFill>
                      <a:prstDash val="solid"/>
                      <a:round/>
                      <a:headEnd type="none" w="med" len="med"/>
                      <a:tailEnd type="none" w="med" len="med"/>
                    </a:lnB>
                    <a:solidFill>
                      <a:srgbClr val="0A595F"/>
                    </a:solidFill>
                  </a:tcPr>
                </a:tc>
                <a:extLst>
                  <a:ext uri="{0D108BD9-81ED-4DB2-BD59-A6C34878D82A}">
                    <a16:rowId xmlns:a16="http://schemas.microsoft.com/office/drawing/2014/main" val="10000"/>
                  </a:ext>
                </a:extLst>
              </a:tr>
              <a:tr h="0">
                <a:tc>
                  <a:txBody>
                    <a:bodyPr/>
                    <a:lstStyle/>
                    <a:p>
                      <a:pPr marL="0" indent="0" algn="l">
                        <a:buNone/>
                      </a:pPr>
                      <a:r>
                        <a:rPr lang="en-US" sz="900" b="1" dirty="0">
                          <a:solidFill>
                            <a:srgbClr val="334155"/>
                          </a:solidFill>
                          <a:latin typeface="Calibri" pitchFamily="34" charset="0"/>
                          <a:ea typeface="Calibri" pitchFamily="34" charset="-122"/>
                          <a:cs typeface="Calibri" pitchFamily="34" charset="-120"/>
                        </a:rPr>
                        <a:t>Solar PV</a:t>
                      </a:r>
                      <a:endParaRPr lang="en-US" sz="900" dirty="0">
                        <a:latin typeface="Calibri" charset="0"/>
                        <a:ea typeface="Calibri" charset="0"/>
                        <a:cs typeface="Calibri" charset="0"/>
                      </a:endParaRPr>
                    </a:p>
                  </a:txBody>
                  <a:tcPr anchor="ctr">
                    <a:lnL w="6350" cap="flat" cmpd="sng" algn="ctr">
                      <a:solidFill>
                        <a:srgbClr val="C5D8D8"/>
                      </a:solidFill>
                      <a:prstDash val="solid"/>
                      <a:round/>
                      <a:headEnd type="none" w="med" len="med"/>
                      <a:tailEnd type="none" w="med" len="med"/>
                    </a:lnL>
                    <a:lnR w="6350" cap="flat" cmpd="sng" algn="ctr">
                      <a:solidFill>
                        <a:srgbClr val="C5D8D8"/>
                      </a:solidFill>
                      <a:prstDash val="solid"/>
                      <a:round/>
                      <a:headEnd type="none" w="med" len="med"/>
                      <a:tailEnd type="none" w="med" len="med"/>
                    </a:lnR>
                    <a:lnT w="6350" cap="flat" cmpd="sng" algn="ctr">
                      <a:solidFill>
                        <a:srgbClr val="C5D8D8"/>
                      </a:solidFill>
                      <a:prstDash val="solid"/>
                      <a:round/>
                      <a:headEnd type="none" w="med" len="med"/>
                      <a:tailEnd type="none" w="med" len="med"/>
                    </a:lnT>
                    <a:lnB w="6350" cap="flat" cmpd="sng" algn="ctr">
                      <a:solidFill>
                        <a:srgbClr val="C5D8D8"/>
                      </a:solidFill>
                      <a:prstDash val="solid"/>
                      <a:round/>
                      <a:headEnd type="none" w="med" len="med"/>
                      <a:tailEnd type="none" w="med" len="med"/>
                    </a:lnB>
                  </a:tcPr>
                </a:tc>
                <a:tc>
                  <a:txBody>
                    <a:bodyPr/>
                    <a:lstStyle/>
                    <a:p>
                      <a:pPr marL="0" indent="0" algn="ctr">
                        <a:buNone/>
                      </a:pPr>
                      <a:r>
                        <a:rPr lang="en-US" sz="900" dirty="0">
                          <a:solidFill>
                            <a:srgbClr val="334155"/>
                          </a:solidFill>
                          <a:latin typeface="Calibri" pitchFamily="34" charset="0"/>
                          <a:ea typeface="Calibri" pitchFamily="34" charset="-122"/>
                          <a:cs typeface="Calibri" pitchFamily="34" charset="-120"/>
                        </a:rPr>
                        <a:t>1.0</a:t>
                      </a:r>
                      <a:endParaRPr lang="en-US" sz="900" dirty="0">
                        <a:latin typeface="Calibri" charset="0"/>
                        <a:ea typeface="Calibri" charset="0"/>
                        <a:cs typeface="Calibri" charset="0"/>
                      </a:endParaRPr>
                    </a:p>
                  </a:txBody>
                  <a:tcPr anchor="ctr">
                    <a:lnL w="6350" cap="flat" cmpd="sng" algn="ctr">
                      <a:solidFill>
                        <a:srgbClr val="C5D8D8"/>
                      </a:solidFill>
                      <a:prstDash val="solid"/>
                      <a:round/>
                      <a:headEnd type="none" w="med" len="med"/>
                      <a:tailEnd type="none" w="med" len="med"/>
                    </a:lnL>
                    <a:lnR w="6350" cap="flat" cmpd="sng" algn="ctr">
                      <a:solidFill>
                        <a:srgbClr val="C5D8D8"/>
                      </a:solidFill>
                      <a:prstDash val="solid"/>
                      <a:round/>
                      <a:headEnd type="none" w="med" len="med"/>
                      <a:tailEnd type="none" w="med" len="med"/>
                    </a:lnR>
                    <a:lnT w="6350" cap="flat" cmpd="sng" algn="ctr">
                      <a:solidFill>
                        <a:srgbClr val="C5D8D8"/>
                      </a:solidFill>
                      <a:prstDash val="solid"/>
                      <a:round/>
                      <a:headEnd type="none" w="med" len="med"/>
                      <a:tailEnd type="none" w="med" len="med"/>
                    </a:lnT>
                    <a:lnB w="6350" cap="flat" cmpd="sng" algn="ctr">
                      <a:solidFill>
                        <a:srgbClr val="C5D8D8"/>
                      </a:solidFill>
                      <a:prstDash val="solid"/>
                      <a:round/>
                      <a:headEnd type="none" w="med" len="med"/>
                      <a:tailEnd type="none" w="med" len="med"/>
                    </a:lnB>
                  </a:tcPr>
                </a:tc>
                <a:tc>
                  <a:txBody>
                    <a:bodyPr/>
                    <a:lstStyle/>
                    <a:p>
                      <a:pPr marL="0" indent="0" algn="ctr">
                        <a:buNone/>
                      </a:pPr>
                      <a:r>
                        <a:rPr lang="en-US" sz="900" dirty="0">
                          <a:solidFill>
                            <a:srgbClr val="334155"/>
                          </a:solidFill>
                          <a:latin typeface="Calibri" pitchFamily="34" charset="0"/>
                          <a:ea typeface="Calibri" pitchFamily="34" charset="-122"/>
                          <a:cs typeface="Calibri" pitchFamily="34" charset="-120"/>
                        </a:rPr>
                        <a:t>1.75</a:t>
                      </a:r>
                      <a:endParaRPr lang="en-US" sz="900" dirty="0">
                        <a:latin typeface="Calibri" charset="0"/>
                        <a:ea typeface="Calibri" charset="0"/>
                        <a:cs typeface="Calibri" charset="0"/>
                      </a:endParaRPr>
                    </a:p>
                  </a:txBody>
                  <a:tcPr anchor="ctr">
                    <a:lnL w="6350" cap="flat" cmpd="sng" algn="ctr">
                      <a:solidFill>
                        <a:srgbClr val="C5D8D8"/>
                      </a:solidFill>
                      <a:prstDash val="solid"/>
                      <a:round/>
                      <a:headEnd type="none" w="med" len="med"/>
                      <a:tailEnd type="none" w="med" len="med"/>
                    </a:lnL>
                    <a:lnR w="6350" cap="flat" cmpd="sng" algn="ctr">
                      <a:solidFill>
                        <a:srgbClr val="C5D8D8"/>
                      </a:solidFill>
                      <a:prstDash val="solid"/>
                      <a:round/>
                      <a:headEnd type="none" w="med" len="med"/>
                      <a:tailEnd type="none" w="med" len="med"/>
                    </a:lnR>
                    <a:lnT w="6350" cap="flat" cmpd="sng" algn="ctr">
                      <a:solidFill>
                        <a:srgbClr val="C5D8D8"/>
                      </a:solidFill>
                      <a:prstDash val="solid"/>
                      <a:round/>
                      <a:headEnd type="none" w="med" len="med"/>
                      <a:tailEnd type="none" w="med" len="med"/>
                    </a:lnT>
                    <a:lnB w="6350" cap="flat" cmpd="sng" algn="ctr">
                      <a:solidFill>
                        <a:srgbClr val="C5D8D8"/>
                      </a:solidFill>
                      <a:prstDash val="solid"/>
                      <a:round/>
                      <a:headEnd type="none" w="med" len="med"/>
                      <a:tailEnd type="none" w="med" len="med"/>
                    </a:lnB>
                  </a:tcPr>
                </a:tc>
                <a:tc>
                  <a:txBody>
                    <a:bodyPr/>
                    <a:lstStyle/>
                    <a:p>
                      <a:pPr marL="0" indent="0" algn="ctr">
                        <a:buNone/>
                      </a:pPr>
                      <a:r>
                        <a:rPr lang="en-US" sz="900" dirty="0">
                          <a:solidFill>
                            <a:srgbClr val="334155"/>
                          </a:solidFill>
                          <a:latin typeface="Calibri" pitchFamily="34" charset="0"/>
                          <a:ea typeface="Calibri" pitchFamily="34" charset="-122"/>
                          <a:cs typeface="Calibri" pitchFamily="34" charset="-120"/>
                        </a:rPr>
                        <a:t>2.20</a:t>
                      </a:r>
                      <a:endParaRPr lang="en-US" sz="900" dirty="0">
                        <a:latin typeface="Calibri" charset="0"/>
                        <a:ea typeface="Calibri" charset="0"/>
                        <a:cs typeface="Calibri" charset="0"/>
                      </a:endParaRPr>
                    </a:p>
                  </a:txBody>
                  <a:tcPr anchor="ctr">
                    <a:lnL w="6350" cap="flat" cmpd="sng" algn="ctr">
                      <a:solidFill>
                        <a:srgbClr val="C5D8D8"/>
                      </a:solidFill>
                      <a:prstDash val="solid"/>
                      <a:round/>
                      <a:headEnd type="none" w="med" len="med"/>
                      <a:tailEnd type="none" w="med" len="med"/>
                    </a:lnL>
                    <a:lnR w="6350" cap="flat" cmpd="sng" algn="ctr">
                      <a:solidFill>
                        <a:srgbClr val="C5D8D8"/>
                      </a:solidFill>
                      <a:prstDash val="solid"/>
                      <a:round/>
                      <a:headEnd type="none" w="med" len="med"/>
                      <a:tailEnd type="none" w="med" len="med"/>
                    </a:lnR>
                    <a:lnT w="6350" cap="flat" cmpd="sng" algn="ctr">
                      <a:solidFill>
                        <a:srgbClr val="C5D8D8"/>
                      </a:solidFill>
                      <a:prstDash val="solid"/>
                      <a:round/>
                      <a:headEnd type="none" w="med" len="med"/>
                      <a:tailEnd type="none" w="med" len="med"/>
                    </a:lnT>
                    <a:lnB w="6350" cap="flat" cmpd="sng" algn="ctr">
                      <a:solidFill>
                        <a:srgbClr val="C5D8D8"/>
                      </a:solidFill>
                      <a:prstDash val="solid"/>
                      <a:round/>
                      <a:headEnd type="none" w="med" len="med"/>
                      <a:tailEnd type="none" w="med" len="med"/>
                    </a:lnB>
                  </a:tcPr>
                </a:tc>
                <a:tc>
                  <a:txBody>
                    <a:bodyPr/>
                    <a:lstStyle/>
                    <a:p>
                      <a:pPr marL="0" indent="0" algn="ctr">
                        <a:buNone/>
                      </a:pPr>
                      <a:r>
                        <a:rPr lang="en-US" sz="900" dirty="0">
                          <a:solidFill>
                            <a:srgbClr val="334155"/>
                          </a:solidFill>
                          <a:latin typeface="Calibri" pitchFamily="34" charset="0"/>
                          <a:ea typeface="Calibri" pitchFamily="34" charset="-122"/>
                          <a:cs typeface="Calibri" pitchFamily="34" charset="-120"/>
                        </a:rPr>
                        <a:t>2.25</a:t>
                      </a:r>
                      <a:endParaRPr lang="en-US" sz="900" dirty="0">
                        <a:latin typeface="Calibri" charset="0"/>
                        <a:ea typeface="Calibri" charset="0"/>
                        <a:cs typeface="Calibri" charset="0"/>
                      </a:endParaRPr>
                    </a:p>
                  </a:txBody>
                  <a:tcPr anchor="ctr">
                    <a:lnL w="6350" cap="flat" cmpd="sng" algn="ctr">
                      <a:solidFill>
                        <a:srgbClr val="C5D8D8"/>
                      </a:solidFill>
                      <a:prstDash val="solid"/>
                      <a:round/>
                      <a:headEnd type="none" w="med" len="med"/>
                      <a:tailEnd type="none" w="med" len="med"/>
                    </a:lnL>
                    <a:lnR w="6350" cap="flat" cmpd="sng" algn="ctr">
                      <a:solidFill>
                        <a:srgbClr val="C5D8D8"/>
                      </a:solidFill>
                      <a:prstDash val="solid"/>
                      <a:round/>
                      <a:headEnd type="none" w="med" len="med"/>
                      <a:tailEnd type="none" w="med" len="med"/>
                    </a:lnR>
                    <a:lnT w="6350" cap="flat" cmpd="sng" algn="ctr">
                      <a:solidFill>
                        <a:srgbClr val="C5D8D8"/>
                      </a:solidFill>
                      <a:prstDash val="solid"/>
                      <a:round/>
                      <a:headEnd type="none" w="med" len="med"/>
                      <a:tailEnd type="none" w="med" len="med"/>
                    </a:lnT>
                    <a:lnB w="6350" cap="flat" cmpd="sng" algn="ctr">
                      <a:solidFill>
                        <a:srgbClr val="C5D8D8"/>
                      </a:solidFill>
                      <a:prstDash val="solid"/>
                      <a:round/>
                      <a:headEnd type="none" w="med" len="med"/>
                      <a:tailEnd type="none" w="med" len="med"/>
                    </a:lnB>
                  </a:tcPr>
                </a:tc>
                <a:tc>
                  <a:txBody>
                    <a:bodyPr/>
                    <a:lstStyle/>
                    <a:p>
                      <a:pPr marL="0" indent="0" algn="ctr">
                        <a:buNone/>
                      </a:pPr>
                      <a:r>
                        <a:rPr lang="en-US" sz="900" dirty="0">
                          <a:solidFill>
                            <a:srgbClr val="334155"/>
                          </a:solidFill>
                          <a:latin typeface="Calibri" pitchFamily="34" charset="0"/>
                          <a:ea typeface="Calibri" pitchFamily="34" charset="-122"/>
                          <a:cs typeface="Calibri" pitchFamily="34" charset="-120"/>
                        </a:rPr>
                        <a:t>2.25</a:t>
                      </a:r>
                      <a:endParaRPr lang="en-US" sz="900" dirty="0">
                        <a:latin typeface="Calibri" charset="0"/>
                        <a:ea typeface="Calibri" charset="0"/>
                        <a:cs typeface="Calibri" charset="0"/>
                      </a:endParaRPr>
                    </a:p>
                  </a:txBody>
                  <a:tcPr anchor="ctr">
                    <a:lnL w="6350" cap="flat" cmpd="sng" algn="ctr">
                      <a:solidFill>
                        <a:srgbClr val="C5D8D8"/>
                      </a:solidFill>
                      <a:prstDash val="solid"/>
                      <a:round/>
                      <a:headEnd type="none" w="med" len="med"/>
                      <a:tailEnd type="none" w="med" len="med"/>
                    </a:lnL>
                    <a:lnR w="6350" cap="flat" cmpd="sng" algn="ctr">
                      <a:solidFill>
                        <a:srgbClr val="C5D8D8"/>
                      </a:solidFill>
                      <a:prstDash val="solid"/>
                      <a:round/>
                      <a:headEnd type="none" w="med" len="med"/>
                      <a:tailEnd type="none" w="med" len="med"/>
                    </a:lnR>
                    <a:lnT w="6350" cap="flat" cmpd="sng" algn="ctr">
                      <a:solidFill>
                        <a:srgbClr val="C5D8D8"/>
                      </a:solidFill>
                      <a:prstDash val="solid"/>
                      <a:round/>
                      <a:headEnd type="none" w="med" len="med"/>
                      <a:tailEnd type="none" w="med" len="med"/>
                    </a:lnT>
                    <a:lnB w="6350" cap="flat" cmpd="sng" algn="ctr">
                      <a:solidFill>
                        <a:srgbClr val="C5D8D8"/>
                      </a:solidFill>
                      <a:prstDash val="solid"/>
                      <a:round/>
                      <a:headEnd type="none" w="med" len="med"/>
                      <a:tailEnd type="none" w="med" len="med"/>
                    </a:lnB>
                  </a:tcPr>
                </a:tc>
                <a:tc>
                  <a:txBody>
                    <a:bodyPr/>
                    <a:lstStyle/>
                    <a:p>
                      <a:pPr marL="0" indent="0" algn="ctr">
                        <a:buNone/>
                      </a:pPr>
                      <a:r>
                        <a:rPr lang="en-US" sz="900" dirty="0">
                          <a:solidFill>
                            <a:srgbClr val="334155"/>
                          </a:solidFill>
                          <a:latin typeface="Calibri" pitchFamily="34" charset="0"/>
                          <a:ea typeface="Calibri" pitchFamily="34" charset="-122"/>
                          <a:cs typeface="Calibri" pitchFamily="34" charset="-120"/>
                        </a:rPr>
                        <a:t>6.00</a:t>
                      </a:r>
                      <a:endParaRPr lang="en-US" sz="900" dirty="0">
                        <a:latin typeface="Calibri" charset="0"/>
                        <a:ea typeface="Calibri" charset="0"/>
                        <a:cs typeface="Calibri" charset="0"/>
                      </a:endParaRPr>
                    </a:p>
                  </a:txBody>
                  <a:tcPr anchor="ctr">
                    <a:lnL w="6350" cap="flat" cmpd="sng" algn="ctr">
                      <a:solidFill>
                        <a:srgbClr val="C5D8D8"/>
                      </a:solidFill>
                      <a:prstDash val="solid"/>
                      <a:round/>
                      <a:headEnd type="none" w="med" len="med"/>
                      <a:tailEnd type="none" w="med" len="med"/>
                    </a:lnL>
                    <a:lnR w="6350" cap="flat" cmpd="sng" algn="ctr">
                      <a:solidFill>
                        <a:srgbClr val="C5D8D8"/>
                      </a:solidFill>
                      <a:prstDash val="solid"/>
                      <a:round/>
                      <a:headEnd type="none" w="med" len="med"/>
                      <a:tailEnd type="none" w="med" len="med"/>
                    </a:lnR>
                    <a:lnT w="6350" cap="flat" cmpd="sng" algn="ctr">
                      <a:solidFill>
                        <a:srgbClr val="C5D8D8"/>
                      </a:solidFill>
                      <a:prstDash val="solid"/>
                      <a:round/>
                      <a:headEnd type="none" w="med" len="med"/>
                      <a:tailEnd type="none" w="med" len="med"/>
                    </a:lnT>
                    <a:lnB w="6350" cap="flat" cmpd="sng" algn="ctr">
                      <a:solidFill>
                        <a:srgbClr val="C5D8D8"/>
                      </a:solidFill>
                      <a:prstDash val="solid"/>
                      <a:round/>
                      <a:headEnd type="none" w="med" len="med"/>
                      <a:tailEnd type="none" w="med" len="med"/>
                    </a:lnB>
                  </a:tcPr>
                </a:tc>
                <a:tc>
                  <a:txBody>
                    <a:bodyPr/>
                    <a:lstStyle/>
                    <a:p>
                      <a:pPr marL="0" indent="0" algn="ctr">
                        <a:buNone/>
                      </a:pPr>
                      <a:r>
                        <a:rPr lang="en-US" sz="900" b="1" dirty="0">
                          <a:solidFill>
                            <a:srgbClr val="F59E0B"/>
                          </a:solidFill>
                          <a:latin typeface="Calibri" pitchFamily="34" charset="0"/>
                          <a:ea typeface="Calibri" pitchFamily="34" charset="-122"/>
                          <a:cs typeface="Calibri" pitchFamily="34" charset="-120"/>
                        </a:rPr>
                        <a:t>Partial</a:t>
                      </a:r>
                      <a:endParaRPr lang="en-US" sz="900" dirty="0">
                        <a:latin typeface="Calibri" charset="0"/>
                        <a:ea typeface="Calibri" charset="0"/>
                        <a:cs typeface="Calibri" charset="0"/>
                      </a:endParaRPr>
                    </a:p>
                  </a:txBody>
                  <a:tcPr anchor="ctr">
                    <a:lnL w="6350" cap="flat" cmpd="sng" algn="ctr">
                      <a:solidFill>
                        <a:srgbClr val="C5D8D8"/>
                      </a:solidFill>
                      <a:prstDash val="solid"/>
                      <a:round/>
                      <a:headEnd type="none" w="med" len="med"/>
                      <a:tailEnd type="none" w="med" len="med"/>
                    </a:lnL>
                    <a:lnR w="6350" cap="flat" cmpd="sng" algn="ctr">
                      <a:solidFill>
                        <a:srgbClr val="C5D8D8"/>
                      </a:solidFill>
                      <a:prstDash val="solid"/>
                      <a:round/>
                      <a:headEnd type="none" w="med" len="med"/>
                      <a:tailEnd type="none" w="med" len="med"/>
                    </a:lnR>
                    <a:lnT w="6350" cap="flat" cmpd="sng" algn="ctr">
                      <a:solidFill>
                        <a:srgbClr val="C5D8D8"/>
                      </a:solidFill>
                      <a:prstDash val="solid"/>
                      <a:round/>
                      <a:headEnd type="none" w="med" len="med"/>
                      <a:tailEnd type="none" w="med" len="med"/>
                    </a:lnT>
                    <a:lnB w="6350" cap="flat" cmpd="sng" algn="ctr">
                      <a:solidFill>
                        <a:srgbClr val="C5D8D8"/>
                      </a:solidFill>
                      <a:prstDash val="solid"/>
                      <a:round/>
                      <a:headEnd type="none" w="med" len="med"/>
                      <a:tailEnd type="none" w="med" len="med"/>
                    </a:lnB>
                  </a:tcPr>
                </a:tc>
                <a:extLst>
                  <a:ext uri="{0D108BD9-81ED-4DB2-BD59-A6C34878D82A}">
                    <a16:rowId xmlns:a16="http://schemas.microsoft.com/office/drawing/2014/main" val="10001"/>
                  </a:ext>
                </a:extLst>
              </a:tr>
              <a:tr h="0">
                <a:tc>
                  <a:txBody>
                    <a:bodyPr/>
                    <a:lstStyle/>
                    <a:p>
                      <a:pPr marL="0" indent="0" algn="l">
                        <a:buNone/>
                      </a:pPr>
                      <a:r>
                        <a:rPr lang="en-US" sz="900" b="1" dirty="0">
                          <a:solidFill>
                            <a:srgbClr val="334155"/>
                          </a:solidFill>
                          <a:latin typeface="Calibri" pitchFamily="34" charset="0"/>
                          <a:ea typeface="Calibri" pitchFamily="34" charset="-122"/>
                          <a:cs typeface="Calibri" pitchFamily="34" charset="-120"/>
                        </a:rPr>
                        <a:t>Onshore Wind</a:t>
                      </a:r>
                      <a:endParaRPr lang="en-US" sz="900" dirty="0">
                        <a:latin typeface="Calibri" charset="0"/>
                        <a:ea typeface="Calibri" charset="0"/>
                        <a:cs typeface="Calibri" charset="0"/>
                      </a:endParaRPr>
                    </a:p>
                  </a:txBody>
                  <a:tcPr anchor="ctr">
                    <a:lnL w="6350" cap="flat" cmpd="sng" algn="ctr">
                      <a:solidFill>
                        <a:srgbClr val="C5D8D8"/>
                      </a:solidFill>
                      <a:prstDash val="solid"/>
                      <a:round/>
                      <a:headEnd type="none" w="med" len="med"/>
                      <a:tailEnd type="none" w="med" len="med"/>
                    </a:lnL>
                    <a:lnR w="6350" cap="flat" cmpd="sng" algn="ctr">
                      <a:solidFill>
                        <a:srgbClr val="C5D8D8"/>
                      </a:solidFill>
                      <a:prstDash val="solid"/>
                      <a:round/>
                      <a:headEnd type="none" w="med" len="med"/>
                      <a:tailEnd type="none" w="med" len="med"/>
                    </a:lnR>
                    <a:lnT w="6350" cap="flat" cmpd="sng" algn="ctr">
                      <a:solidFill>
                        <a:srgbClr val="C5D8D8"/>
                      </a:solidFill>
                      <a:prstDash val="solid"/>
                      <a:round/>
                      <a:headEnd type="none" w="med" len="med"/>
                      <a:tailEnd type="none" w="med" len="med"/>
                    </a:lnT>
                    <a:lnB w="6350" cap="flat" cmpd="sng" algn="ctr">
                      <a:solidFill>
                        <a:srgbClr val="C5D8D8"/>
                      </a:solidFill>
                      <a:prstDash val="solid"/>
                      <a:round/>
                      <a:headEnd type="none" w="med" len="med"/>
                      <a:tailEnd type="none" w="med" len="med"/>
                    </a:lnB>
                  </a:tcPr>
                </a:tc>
                <a:tc>
                  <a:txBody>
                    <a:bodyPr/>
                    <a:lstStyle/>
                    <a:p>
                      <a:pPr marL="0" indent="0" algn="ctr">
                        <a:buNone/>
                      </a:pPr>
                      <a:r>
                        <a:rPr lang="en-US" sz="900" dirty="0">
                          <a:solidFill>
                            <a:srgbClr val="334155"/>
                          </a:solidFill>
                          <a:latin typeface="Calibri" pitchFamily="34" charset="0"/>
                          <a:ea typeface="Calibri" pitchFamily="34" charset="-122"/>
                          <a:cs typeface="Calibri" pitchFamily="34" charset="-120"/>
                        </a:rPr>
                        <a:t>1.0</a:t>
                      </a:r>
                      <a:endParaRPr lang="en-US" sz="900" dirty="0">
                        <a:latin typeface="Calibri" charset="0"/>
                        <a:ea typeface="Calibri" charset="0"/>
                        <a:cs typeface="Calibri" charset="0"/>
                      </a:endParaRPr>
                    </a:p>
                  </a:txBody>
                  <a:tcPr anchor="ctr">
                    <a:lnL w="6350" cap="flat" cmpd="sng" algn="ctr">
                      <a:solidFill>
                        <a:srgbClr val="C5D8D8"/>
                      </a:solidFill>
                      <a:prstDash val="solid"/>
                      <a:round/>
                      <a:headEnd type="none" w="med" len="med"/>
                      <a:tailEnd type="none" w="med" len="med"/>
                    </a:lnL>
                    <a:lnR w="6350" cap="flat" cmpd="sng" algn="ctr">
                      <a:solidFill>
                        <a:srgbClr val="C5D8D8"/>
                      </a:solidFill>
                      <a:prstDash val="solid"/>
                      <a:round/>
                      <a:headEnd type="none" w="med" len="med"/>
                      <a:tailEnd type="none" w="med" len="med"/>
                    </a:lnR>
                    <a:lnT w="6350" cap="flat" cmpd="sng" algn="ctr">
                      <a:solidFill>
                        <a:srgbClr val="C5D8D8"/>
                      </a:solidFill>
                      <a:prstDash val="solid"/>
                      <a:round/>
                      <a:headEnd type="none" w="med" len="med"/>
                      <a:tailEnd type="none" w="med" len="med"/>
                    </a:lnT>
                    <a:lnB w="6350" cap="flat" cmpd="sng" algn="ctr">
                      <a:solidFill>
                        <a:srgbClr val="C5D8D8"/>
                      </a:solidFill>
                      <a:prstDash val="solid"/>
                      <a:round/>
                      <a:headEnd type="none" w="med" len="med"/>
                      <a:tailEnd type="none" w="med" len="med"/>
                    </a:lnB>
                  </a:tcPr>
                </a:tc>
                <a:tc>
                  <a:txBody>
                    <a:bodyPr/>
                    <a:lstStyle/>
                    <a:p>
                      <a:pPr marL="0" indent="0" algn="ctr">
                        <a:buNone/>
                      </a:pPr>
                      <a:r>
                        <a:rPr lang="en-US" sz="900" dirty="0">
                          <a:solidFill>
                            <a:srgbClr val="334155"/>
                          </a:solidFill>
                          <a:latin typeface="Calibri" pitchFamily="34" charset="0"/>
                          <a:ea typeface="Calibri" pitchFamily="34" charset="-122"/>
                          <a:cs typeface="Calibri" pitchFamily="34" charset="-120"/>
                        </a:rPr>
                        <a:t>1.75</a:t>
                      </a:r>
                      <a:endParaRPr lang="en-US" sz="900" dirty="0">
                        <a:latin typeface="Calibri" charset="0"/>
                        <a:ea typeface="Calibri" charset="0"/>
                        <a:cs typeface="Calibri" charset="0"/>
                      </a:endParaRPr>
                    </a:p>
                  </a:txBody>
                  <a:tcPr anchor="ctr">
                    <a:lnL w="6350" cap="flat" cmpd="sng" algn="ctr">
                      <a:solidFill>
                        <a:srgbClr val="C5D8D8"/>
                      </a:solidFill>
                      <a:prstDash val="solid"/>
                      <a:round/>
                      <a:headEnd type="none" w="med" len="med"/>
                      <a:tailEnd type="none" w="med" len="med"/>
                    </a:lnL>
                    <a:lnR w="6350" cap="flat" cmpd="sng" algn="ctr">
                      <a:solidFill>
                        <a:srgbClr val="C5D8D8"/>
                      </a:solidFill>
                      <a:prstDash val="solid"/>
                      <a:round/>
                      <a:headEnd type="none" w="med" len="med"/>
                      <a:tailEnd type="none" w="med" len="med"/>
                    </a:lnR>
                    <a:lnT w="6350" cap="flat" cmpd="sng" algn="ctr">
                      <a:solidFill>
                        <a:srgbClr val="C5D8D8"/>
                      </a:solidFill>
                      <a:prstDash val="solid"/>
                      <a:round/>
                      <a:headEnd type="none" w="med" len="med"/>
                      <a:tailEnd type="none" w="med" len="med"/>
                    </a:lnT>
                    <a:lnB w="6350" cap="flat" cmpd="sng" algn="ctr">
                      <a:solidFill>
                        <a:srgbClr val="C5D8D8"/>
                      </a:solidFill>
                      <a:prstDash val="solid"/>
                      <a:round/>
                      <a:headEnd type="none" w="med" len="med"/>
                      <a:tailEnd type="none" w="med" len="med"/>
                    </a:lnB>
                  </a:tcPr>
                </a:tc>
                <a:tc>
                  <a:txBody>
                    <a:bodyPr/>
                    <a:lstStyle/>
                    <a:p>
                      <a:pPr marL="0" indent="0" algn="ctr">
                        <a:buNone/>
                      </a:pPr>
                      <a:r>
                        <a:rPr lang="en-US" sz="900" dirty="0">
                          <a:solidFill>
                            <a:srgbClr val="334155"/>
                          </a:solidFill>
                          <a:latin typeface="Calibri" pitchFamily="34" charset="0"/>
                          <a:ea typeface="Calibri" pitchFamily="34" charset="-122"/>
                          <a:cs typeface="Calibri" pitchFamily="34" charset="-120"/>
                        </a:rPr>
                        <a:t>1.90</a:t>
                      </a:r>
                      <a:endParaRPr lang="en-US" sz="900" dirty="0">
                        <a:latin typeface="Calibri" charset="0"/>
                        <a:ea typeface="Calibri" charset="0"/>
                        <a:cs typeface="Calibri" charset="0"/>
                      </a:endParaRPr>
                    </a:p>
                  </a:txBody>
                  <a:tcPr anchor="ctr">
                    <a:lnL w="6350" cap="flat" cmpd="sng" algn="ctr">
                      <a:solidFill>
                        <a:srgbClr val="C5D8D8"/>
                      </a:solidFill>
                      <a:prstDash val="solid"/>
                      <a:round/>
                      <a:headEnd type="none" w="med" len="med"/>
                      <a:tailEnd type="none" w="med" len="med"/>
                    </a:lnL>
                    <a:lnR w="6350" cap="flat" cmpd="sng" algn="ctr">
                      <a:solidFill>
                        <a:srgbClr val="C5D8D8"/>
                      </a:solidFill>
                      <a:prstDash val="solid"/>
                      <a:round/>
                      <a:headEnd type="none" w="med" len="med"/>
                      <a:tailEnd type="none" w="med" len="med"/>
                    </a:lnR>
                    <a:lnT w="6350" cap="flat" cmpd="sng" algn="ctr">
                      <a:solidFill>
                        <a:srgbClr val="C5D8D8"/>
                      </a:solidFill>
                      <a:prstDash val="solid"/>
                      <a:round/>
                      <a:headEnd type="none" w="med" len="med"/>
                      <a:tailEnd type="none" w="med" len="med"/>
                    </a:lnT>
                    <a:lnB w="6350" cap="flat" cmpd="sng" algn="ctr">
                      <a:solidFill>
                        <a:srgbClr val="C5D8D8"/>
                      </a:solidFill>
                      <a:prstDash val="solid"/>
                      <a:round/>
                      <a:headEnd type="none" w="med" len="med"/>
                      <a:tailEnd type="none" w="med" len="med"/>
                    </a:lnB>
                  </a:tcPr>
                </a:tc>
                <a:tc>
                  <a:txBody>
                    <a:bodyPr/>
                    <a:lstStyle/>
                    <a:p>
                      <a:pPr marL="0" indent="0" algn="ctr">
                        <a:buNone/>
                      </a:pPr>
                      <a:r>
                        <a:rPr lang="en-US" sz="900" dirty="0">
                          <a:solidFill>
                            <a:srgbClr val="F59E0B"/>
                          </a:solidFill>
                          <a:latin typeface="Calibri" pitchFamily="34" charset="0"/>
                          <a:ea typeface="Calibri" pitchFamily="34" charset="-122"/>
                          <a:cs typeface="Calibri" pitchFamily="34" charset="-120"/>
                        </a:rPr>
                        <a:t>1.0*</a:t>
                      </a:r>
                      <a:endParaRPr lang="en-US" sz="900" dirty="0">
                        <a:latin typeface="Calibri" charset="0"/>
                        <a:ea typeface="Calibri" charset="0"/>
                        <a:cs typeface="Calibri" charset="0"/>
                      </a:endParaRPr>
                    </a:p>
                  </a:txBody>
                  <a:tcPr anchor="ctr">
                    <a:lnL w="6350" cap="flat" cmpd="sng" algn="ctr">
                      <a:solidFill>
                        <a:srgbClr val="C5D8D8"/>
                      </a:solidFill>
                      <a:prstDash val="solid"/>
                      <a:round/>
                      <a:headEnd type="none" w="med" len="med"/>
                      <a:tailEnd type="none" w="med" len="med"/>
                    </a:lnL>
                    <a:lnR w="6350" cap="flat" cmpd="sng" algn="ctr">
                      <a:solidFill>
                        <a:srgbClr val="C5D8D8"/>
                      </a:solidFill>
                      <a:prstDash val="solid"/>
                      <a:round/>
                      <a:headEnd type="none" w="med" len="med"/>
                      <a:tailEnd type="none" w="med" len="med"/>
                    </a:lnR>
                    <a:lnT w="6350" cap="flat" cmpd="sng" algn="ctr">
                      <a:solidFill>
                        <a:srgbClr val="C5D8D8"/>
                      </a:solidFill>
                      <a:prstDash val="solid"/>
                      <a:round/>
                      <a:headEnd type="none" w="med" len="med"/>
                      <a:tailEnd type="none" w="med" len="med"/>
                    </a:lnT>
                    <a:lnB w="6350" cap="flat" cmpd="sng" algn="ctr">
                      <a:solidFill>
                        <a:srgbClr val="C5D8D8"/>
                      </a:solidFill>
                      <a:prstDash val="solid"/>
                      <a:round/>
                      <a:headEnd type="none" w="med" len="med"/>
                      <a:tailEnd type="none" w="med" len="med"/>
                    </a:lnB>
                  </a:tcPr>
                </a:tc>
                <a:tc>
                  <a:txBody>
                    <a:bodyPr/>
                    <a:lstStyle/>
                    <a:p>
                      <a:pPr marL="0" indent="0" algn="ctr">
                        <a:buNone/>
                      </a:pPr>
                      <a:r>
                        <a:rPr lang="en-US" sz="900" dirty="0">
                          <a:solidFill>
                            <a:srgbClr val="F59E0B"/>
                          </a:solidFill>
                          <a:latin typeface="Calibri" pitchFamily="34" charset="0"/>
                          <a:ea typeface="Calibri" pitchFamily="34" charset="-122"/>
                          <a:cs typeface="Calibri" pitchFamily="34" charset="-120"/>
                        </a:rPr>
                        <a:t>1.0*</a:t>
                      </a:r>
                      <a:endParaRPr lang="en-US" sz="900" dirty="0">
                        <a:latin typeface="Calibri" charset="0"/>
                        <a:ea typeface="Calibri" charset="0"/>
                        <a:cs typeface="Calibri" charset="0"/>
                      </a:endParaRPr>
                    </a:p>
                  </a:txBody>
                  <a:tcPr anchor="ctr">
                    <a:lnL w="6350" cap="flat" cmpd="sng" algn="ctr">
                      <a:solidFill>
                        <a:srgbClr val="C5D8D8"/>
                      </a:solidFill>
                      <a:prstDash val="solid"/>
                      <a:round/>
                      <a:headEnd type="none" w="med" len="med"/>
                      <a:tailEnd type="none" w="med" len="med"/>
                    </a:lnL>
                    <a:lnR w="6350" cap="flat" cmpd="sng" algn="ctr">
                      <a:solidFill>
                        <a:srgbClr val="C5D8D8"/>
                      </a:solidFill>
                      <a:prstDash val="solid"/>
                      <a:round/>
                      <a:headEnd type="none" w="med" len="med"/>
                      <a:tailEnd type="none" w="med" len="med"/>
                    </a:lnR>
                    <a:lnT w="6350" cap="flat" cmpd="sng" algn="ctr">
                      <a:solidFill>
                        <a:srgbClr val="C5D8D8"/>
                      </a:solidFill>
                      <a:prstDash val="solid"/>
                      <a:round/>
                      <a:headEnd type="none" w="med" len="med"/>
                      <a:tailEnd type="none" w="med" len="med"/>
                    </a:lnT>
                    <a:lnB w="6350" cap="flat" cmpd="sng" algn="ctr">
                      <a:solidFill>
                        <a:srgbClr val="C5D8D8"/>
                      </a:solidFill>
                      <a:prstDash val="solid"/>
                      <a:round/>
                      <a:headEnd type="none" w="med" len="med"/>
                      <a:tailEnd type="none" w="med" len="med"/>
                    </a:lnB>
                  </a:tcPr>
                </a:tc>
                <a:tc>
                  <a:txBody>
                    <a:bodyPr/>
                    <a:lstStyle/>
                    <a:p>
                      <a:pPr marL="0" indent="0" algn="ctr">
                        <a:buNone/>
                      </a:pPr>
                      <a:r>
                        <a:rPr lang="en-US" sz="900" dirty="0">
                          <a:solidFill>
                            <a:srgbClr val="F59E0B"/>
                          </a:solidFill>
                          <a:latin typeface="Calibri" pitchFamily="34" charset="0"/>
                          <a:ea typeface="Calibri" pitchFamily="34" charset="-122"/>
                          <a:cs typeface="Calibri" pitchFamily="34" charset="-120"/>
                        </a:rPr>
                        <a:t>1.0*</a:t>
                      </a:r>
                      <a:endParaRPr lang="en-US" sz="900" dirty="0">
                        <a:latin typeface="Calibri" charset="0"/>
                        <a:ea typeface="Calibri" charset="0"/>
                        <a:cs typeface="Calibri" charset="0"/>
                      </a:endParaRPr>
                    </a:p>
                  </a:txBody>
                  <a:tcPr anchor="ctr">
                    <a:lnL w="6350" cap="flat" cmpd="sng" algn="ctr">
                      <a:solidFill>
                        <a:srgbClr val="C5D8D8"/>
                      </a:solidFill>
                      <a:prstDash val="solid"/>
                      <a:round/>
                      <a:headEnd type="none" w="med" len="med"/>
                      <a:tailEnd type="none" w="med" len="med"/>
                    </a:lnL>
                    <a:lnR w="6350" cap="flat" cmpd="sng" algn="ctr">
                      <a:solidFill>
                        <a:srgbClr val="C5D8D8"/>
                      </a:solidFill>
                      <a:prstDash val="solid"/>
                      <a:round/>
                      <a:headEnd type="none" w="med" len="med"/>
                      <a:tailEnd type="none" w="med" len="med"/>
                    </a:lnR>
                    <a:lnT w="6350" cap="flat" cmpd="sng" algn="ctr">
                      <a:solidFill>
                        <a:srgbClr val="C5D8D8"/>
                      </a:solidFill>
                      <a:prstDash val="solid"/>
                      <a:round/>
                      <a:headEnd type="none" w="med" len="med"/>
                      <a:tailEnd type="none" w="med" len="med"/>
                    </a:lnT>
                    <a:lnB w="6350" cap="flat" cmpd="sng" algn="ctr">
                      <a:solidFill>
                        <a:srgbClr val="C5D8D8"/>
                      </a:solidFill>
                      <a:prstDash val="solid"/>
                      <a:round/>
                      <a:headEnd type="none" w="med" len="med"/>
                      <a:tailEnd type="none" w="med" len="med"/>
                    </a:lnB>
                  </a:tcPr>
                </a:tc>
                <a:tc>
                  <a:txBody>
                    <a:bodyPr/>
                    <a:lstStyle/>
                    <a:p>
                      <a:pPr marL="0" indent="0" algn="ctr">
                        <a:buNone/>
                      </a:pPr>
                      <a:r>
                        <a:rPr lang="en-US" sz="900" b="1" dirty="0">
                          <a:solidFill>
                            <a:srgbClr val="F59E0B"/>
                          </a:solidFill>
                          <a:latin typeface="Calibri" pitchFamily="34" charset="0"/>
                          <a:ea typeface="Calibri" pitchFamily="34" charset="-122"/>
                          <a:cs typeface="Calibri" pitchFamily="34" charset="-120"/>
                        </a:rPr>
                        <a:t>Partial</a:t>
                      </a:r>
                      <a:endParaRPr lang="en-US" sz="900" dirty="0">
                        <a:latin typeface="Calibri" charset="0"/>
                        <a:ea typeface="Calibri" charset="0"/>
                        <a:cs typeface="Calibri" charset="0"/>
                      </a:endParaRPr>
                    </a:p>
                  </a:txBody>
                  <a:tcPr anchor="ctr">
                    <a:lnL w="6350" cap="flat" cmpd="sng" algn="ctr">
                      <a:solidFill>
                        <a:srgbClr val="C5D8D8"/>
                      </a:solidFill>
                      <a:prstDash val="solid"/>
                      <a:round/>
                      <a:headEnd type="none" w="med" len="med"/>
                      <a:tailEnd type="none" w="med" len="med"/>
                    </a:lnL>
                    <a:lnR w="6350" cap="flat" cmpd="sng" algn="ctr">
                      <a:solidFill>
                        <a:srgbClr val="C5D8D8"/>
                      </a:solidFill>
                      <a:prstDash val="solid"/>
                      <a:round/>
                      <a:headEnd type="none" w="med" len="med"/>
                      <a:tailEnd type="none" w="med" len="med"/>
                    </a:lnR>
                    <a:lnT w="6350" cap="flat" cmpd="sng" algn="ctr">
                      <a:solidFill>
                        <a:srgbClr val="C5D8D8"/>
                      </a:solidFill>
                      <a:prstDash val="solid"/>
                      <a:round/>
                      <a:headEnd type="none" w="med" len="med"/>
                      <a:tailEnd type="none" w="med" len="med"/>
                    </a:lnT>
                    <a:lnB w="6350" cap="flat" cmpd="sng" algn="ctr">
                      <a:solidFill>
                        <a:srgbClr val="C5D8D8"/>
                      </a:solidFill>
                      <a:prstDash val="solid"/>
                      <a:round/>
                      <a:headEnd type="none" w="med" len="med"/>
                      <a:tailEnd type="none" w="med" len="med"/>
                    </a:lnB>
                  </a:tcPr>
                </a:tc>
                <a:extLst>
                  <a:ext uri="{0D108BD9-81ED-4DB2-BD59-A6C34878D82A}">
                    <a16:rowId xmlns:a16="http://schemas.microsoft.com/office/drawing/2014/main" val="10002"/>
                  </a:ext>
                </a:extLst>
              </a:tr>
              <a:tr h="0">
                <a:tc>
                  <a:txBody>
                    <a:bodyPr/>
                    <a:lstStyle/>
                    <a:p>
                      <a:pPr marL="0" indent="0" algn="l">
                        <a:buNone/>
                      </a:pPr>
                      <a:r>
                        <a:rPr lang="en-US" sz="900" b="1" dirty="0">
                          <a:solidFill>
                            <a:srgbClr val="334155"/>
                          </a:solidFill>
                          <a:latin typeface="Calibri" pitchFamily="34" charset="0"/>
                          <a:ea typeface="Calibri" pitchFamily="34" charset="-122"/>
                          <a:cs typeface="Calibri" pitchFamily="34" charset="-120"/>
                        </a:rPr>
                        <a:t>Hydro RoR</a:t>
                      </a:r>
                      <a:endParaRPr lang="en-US" sz="900" dirty="0">
                        <a:latin typeface="Calibri" charset="0"/>
                        <a:ea typeface="Calibri" charset="0"/>
                        <a:cs typeface="Calibri" charset="0"/>
                      </a:endParaRPr>
                    </a:p>
                  </a:txBody>
                  <a:tcPr anchor="ctr">
                    <a:lnL w="6350" cap="flat" cmpd="sng" algn="ctr">
                      <a:solidFill>
                        <a:srgbClr val="C5D8D8"/>
                      </a:solidFill>
                      <a:prstDash val="solid"/>
                      <a:round/>
                      <a:headEnd type="none" w="med" len="med"/>
                      <a:tailEnd type="none" w="med" len="med"/>
                    </a:lnL>
                    <a:lnR w="6350" cap="flat" cmpd="sng" algn="ctr">
                      <a:solidFill>
                        <a:srgbClr val="C5D8D8"/>
                      </a:solidFill>
                      <a:prstDash val="solid"/>
                      <a:round/>
                      <a:headEnd type="none" w="med" len="med"/>
                      <a:tailEnd type="none" w="med" len="med"/>
                    </a:lnR>
                    <a:lnT w="6350" cap="flat" cmpd="sng" algn="ctr">
                      <a:solidFill>
                        <a:srgbClr val="C5D8D8"/>
                      </a:solidFill>
                      <a:prstDash val="solid"/>
                      <a:round/>
                      <a:headEnd type="none" w="med" len="med"/>
                      <a:tailEnd type="none" w="med" len="med"/>
                    </a:lnT>
                    <a:lnB w="6350" cap="flat" cmpd="sng" algn="ctr">
                      <a:solidFill>
                        <a:srgbClr val="C5D8D8"/>
                      </a:solidFill>
                      <a:prstDash val="solid"/>
                      <a:round/>
                      <a:headEnd type="none" w="med" len="med"/>
                      <a:tailEnd type="none" w="med" len="med"/>
                    </a:lnB>
                  </a:tcPr>
                </a:tc>
                <a:tc>
                  <a:txBody>
                    <a:bodyPr/>
                    <a:lstStyle/>
                    <a:p>
                      <a:pPr marL="0" indent="0" algn="ctr">
                        <a:buNone/>
                      </a:pPr>
                      <a:r>
                        <a:rPr lang="en-US" sz="900" dirty="0">
                          <a:solidFill>
                            <a:srgbClr val="334155"/>
                          </a:solidFill>
                          <a:latin typeface="Calibri" pitchFamily="34" charset="0"/>
                          <a:ea typeface="Calibri" pitchFamily="34" charset="-122"/>
                          <a:cs typeface="Calibri" pitchFamily="34" charset="-120"/>
                        </a:rPr>
                        <a:t>1.0</a:t>
                      </a:r>
                      <a:endParaRPr lang="en-US" sz="900" dirty="0">
                        <a:latin typeface="Calibri" charset="0"/>
                        <a:ea typeface="Calibri" charset="0"/>
                        <a:cs typeface="Calibri" charset="0"/>
                      </a:endParaRPr>
                    </a:p>
                  </a:txBody>
                  <a:tcPr anchor="ctr">
                    <a:lnL w="6350" cap="flat" cmpd="sng" algn="ctr">
                      <a:solidFill>
                        <a:srgbClr val="C5D8D8"/>
                      </a:solidFill>
                      <a:prstDash val="solid"/>
                      <a:round/>
                      <a:headEnd type="none" w="med" len="med"/>
                      <a:tailEnd type="none" w="med" len="med"/>
                    </a:lnL>
                    <a:lnR w="6350" cap="flat" cmpd="sng" algn="ctr">
                      <a:solidFill>
                        <a:srgbClr val="C5D8D8"/>
                      </a:solidFill>
                      <a:prstDash val="solid"/>
                      <a:round/>
                      <a:headEnd type="none" w="med" len="med"/>
                      <a:tailEnd type="none" w="med" len="med"/>
                    </a:lnR>
                    <a:lnT w="6350" cap="flat" cmpd="sng" algn="ctr">
                      <a:solidFill>
                        <a:srgbClr val="C5D8D8"/>
                      </a:solidFill>
                      <a:prstDash val="solid"/>
                      <a:round/>
                      <a:headEnd type="none" w="med" len="med"/>
                      <a:tailEnd type="none" w="med" len="med"/>
                    </a:lnT>
                    <a:lnB w="6350" cap="flat" cmpd="sng" algn="ctr">
                      <a:solidFill>
                        <a:srgbClr val="C5D8D8"/>
                      </a:solidFill>
                      <a:prstDash val="solid"/>
                      <a:round/>
                      <a:headEnd type="none" w="med" len="med"/>
                      <a:tailEnd type="none" w="med" len="med"/>
                    </a:lnB>
                  </a:tcPr>
                </a:tc>
                <a:tc>
                  <a:txBody>
                    <a:bodyPr/>
                    <a:lstStyle/>
                    <a:p>
                      <a:pPr marL="0" indent="0" algn="ctr">
                        <a:buNone/>
                      </a:pPr>
                      <a:r>
                        <a:rPr lang="en-US" sz="900" dirty="0">
                          <a:solidFill>
                            <a:srgbClr val="F59E0B"/>
                          </a:solidFill>
                          <a:latin typeface="Calibri" pitchFamily="34" charset="0"/>
                          <a:ea typeface="Calibri" pitchFamily="34" charset="-122"/>
                          <a:cs typeface="Calibri" pitchFamily="34" charset="-120"/>
                        </a:rPr>
                        <a:t>1.0*</a:t>
                      </a:r>
                      <a:endParaRPr lang="en-US" sz="900" dirty="0">
                        <a:latin typeface="Calibri" charset="0"/>
                        <a:ea typeface="Calibri" charset="0"/>
                        <a:cs typeface="Calibri" charset="0"/>
                      </a:endParaRPr>
                    </a:p>
                  </a:txBody>
                  <a:tcPr anchor="ctr">
                    <a:lnL w="6350" cap="flat" cmpd="sng" algn="ctr">
                      <a:solidFill>
                        <a:srgbClr val="C5D8D8"/>
                      </a:solidFill>
                      <a:prstDash val="solid"/>
                      <a:round/>
                      <a:headEnd type="none" w="med" len="med"/>
                      <a:tailEnd type="none" w="med" len="med"/>
                    </a:lnL>
                    <a:lnR w="6350" cap="flat" cmpd="sng" algn="ctr">
                      <a:solidFill>
                        <a:srgbClr val="C5D8D8"/>
                      </a:solidFill>
                      <a:prstDash val="solid"/>
                      <a:round/>
                      <a:headEnd type="none" w="med" len="med"/>
                      <a:tailEnd type="none" w="med" len="med"/>
                    </a:lnR>
                    <a:lnT w="6350" cap="flat" cmpd="sng" algn="ctr">
                      <a:solidFill>
                        <a:srgbClr val="C5D8D8"/>
                      </a:solidFill>
                      <a:prstDash val="solid"/>
                      <a:round/>
                      <a:headEnd type="none" w="med" len="med"/>
                      <a:tailEnd type="none" w="med" len="med"/>
                    </a:lnT>
                    <a:lnB w="6350" cap="flat" cmpd="sng" algn="ctr">
                      <a:solidFill>
                        <a:srgbClr val="C5D8D8"/>
                      </a:solidFill>
                      <a:prstDash val="solid"/>
                      <a:round/>
                      <a:headEnd type="none" w="med" len="med"/>
                      <a:tailEnd type="none" w="med" len="med"/>
                    </a:lnB>
                  </a:tcPr>
                </a:tc>
                <a:tc>
                  <a:txBody>
                    <a:bodyPr/>
                    <a:lstStyle/>
                    <a:p>
                      <a:pPr marL="0" indent="0" algn="ctr">
                        <a:buNone/>
                      </a:pPr>
                      <a:r>
                        <a:rPr lang="en-US" sz="900" dirty="0">
                          <a:solidFill>
                            <a:srgbClr val="334155"/>
                          </a:solidFill>
                          <a:latin typeface="Calibri" pitchFamily="34" charset="0"/>
                          <a:ea typeface="Calibri" pitchFamily="34" charset="-122"/>
                          <a:cs typeface="Calibri" pitchFamily="34" charset="-120"/>
                        </a:rPr>
                        <a:t>1.30</a:t>
                      </a:r>
                      <a:endParaRPr lang="en-US" sz="900" dirty="0">
                        <a:latin typeface="Calibri" charset="0"/>
                        <a:ea typeface="Calibri" charset="0"/>
                        <a:cs typeface="Calibri" charset="0"/>
                      </a:endParaRPr>
                    </a:p>
                  </a:txBody>
                  <a:tcPr anchor="ctr">
                    <a:lnL w="6350" cap="flat" cmpd="sng" algn="ctr">
                      <a:solidFill>
                        <a:srgbClr val="C5D8D8"/>
                      </a:solidFill>
                      <a:prstDash val="solid"/>
                      <a:round/>
                      <a:headEnd type="none" w="med" len="med"/>
                      <a:tailEnd type="none" w="med" len="med"/>
                    </a:lnL>
                    <a:lnR w="6350" cap="flat" cmpd="sng" algn="ctr">
                      <a:solidFill>
                        <a:srgbClr val="C5D8D8"/>
                      </a:solidFill>
                      <a:prstDash val="solid"/>
                      <a:round/>
                      <a:headEnd type="none" w="med" len="med"/>
                      <a:tailEnd type="none" w="med" len="med"/>
                    </a:lnR>
                    <a:lnT w="6350" cap="flat" cmpd="sng" algn="ctr">
                      <a:solidFill>
                        <a:srgbClr val="C5D8D8"/>
                      </a:solidFill>
                      <a:prstDash val="solid"/>
                      <a:round/>
                      <a:headEnd type="none" w="med" len="med"/>
                      <a:tailEnd type="none" w="med" len="med"/>
                    </a:lnT>
                    <a:lnB w="6350" cap="flat" cmpd="sng" algn="ctr">
                      <a:solidFill>
                        <a:srgbClr val="C5D8D8"/>
                      </a:solidFill>
                      <a:prstDash val="solid"/>
                      <a:round/>
                      <a:headEnd type="none" w="med" len="med"/>
                      <a:tailEnd type="none" w="med" len="med"/>
                    </a:lnB>
                  </a:tcPr>
                </a:tc>
                <a:tc>
                  <a:txBody>
                    <a:bodyPr/>
                    <a:lstStyle/>
                    <a:p>
                      <a:pPr marL="0" indent="0" algn="ctr">
                        <a:buNone/>
                      </a:pPr>
                      <a:r>
                        <a:rPr lang="en-US" sz="900" dirty="0">
                          <a:solidFill>
                            <a:srgbClr val="334155"/>
                          </a:solidFill>
                          <a:latin typeface="Calibri" pitchFamily="34" charset="0"/>
                          <a:ea typeface="Calibri" pitchFamily="34" charset="-122"/>
                          <a:cs typeface="Calibri" pitchFamily="34" charset="-120"/>
                        </a:rPr>
                        <a:t>1.50</a:t>
                      </a:r>
                      <a:endParaRPr lang="en-US" sz="900" dirty="0">
                        <a:latin typeface="Calibri" charset="0"/>
                        <a:ea typeface="Calibri" charset="0"/>
                        <a:cs typeface="Calibri" charset="0"/>
                      </a:endParaRPr>
                    </a:p>
                  </a:txBody>
                  <a:tcPr anchor="ctr">
                    <a:lnL w="6350" cap="flat" cmpd="sng" algn="ctr">
                      <a:solidFill>
                        <a:srgbClr val="C5D8D8"/>
                      </a:solidFill>
                      <a:prstDash val="solid"/>
                      <a:round/>
                      <a:headEnd type="none" w="med" len="med"/>
                      <a:tailEnd type="none" w="med" len="med"/>
                    </a:lnL>
                    <a:lnR w="6350" cap="flat" cmpd="sng" algn="ctr">
                      <a:solidFill>
                        <a:srgbClr val="C5D8D8"/>
                      </a:solidFill>
                      <a:prstDash val="solid"/>
                      <a:round/>
                      <a:headEnd type="none" w="med" len="med"/>
                      <a:tailEnd type="none" w="med" len="med"/>
                    </a:lnR>
                    <a:lnT w="6350" cap="flat" cmpd="sng" algn="ctr">
                      <a:solidFill>
                        <a:srgbClr val="C5D8D8"/>
                      </a:solidFill>
                      <a:prstDash val="solid"/>
                      <a:round/>
                      <a:headEnd type="none" w="med" len="med"/>
                      <a:tailEnd type="none" w="med" len="med"/>
                    </a:lnT>
                    <a:lnB w="6350" cap="flat" cmpd="sng" algn="ctr">
                      <a:solidFill>
                        <a:srgbClr val="C5D8D8"/>
                      </a:solidFill>
                      <a:prstDash val="solid"/>
                      <a:round/>
                      <a:headEnd type="none" w="med" len="med"/>
                      <a:tailEnd type="none" w="med" len="med"/>
                    </a:lnB>
                  </a:tcPr>
                </a:tc>
                <a:tc>
                  <a:txBody>
                    <a:bodyPr/>
                    <a:lstStyle/>
                    <a:p>
                      <a:pPr marL="0" indent="0" algn="ctr">
                        <a:buNone/>
                      </a:pPr>
                      <a:r>
                        <a:rPr lang="en-US" sz="900" dirty="0">
                          <a:solidFill>
                            <a:srgbClr val="334155"/>
                          </a:solidFill>
                          <a:latin typeface="Calibri" pitchFamily="34" charset="0"/>
                          <a:ea typeface="Calibri" pitchFamily="34" charset="-122"/>
                          <a:cs typeface="Calibri" pitchFamily="34" charset="-120"/>
                        </a:rPr>
                        <a:t>0.95</a:t>
                      </a:r>
                      <a:endParaRPr lang="en-US" sz="900" dirty="0">
                        <a:latin typeface="Calibri" charset="0"/>
                        <a:ea typeface="Calibri" charset="0"/>
                        <a:cs typeface="Calibri" charset="0"/>
                      </a:endParaRPr>
                    </a:p>
                  </a:txBody>
                  <a:tcPr anchor="ctr">
                    <a:lnL w="6350" cap="flat" cmpd="sng" algn="ctr">
                      <a:solidFill>
                        <a:srgbClr val="C5D8D8"/>
                      </a:solidFill>
                      <a:prstDash val="solid"/>
                      <a:round/>
                      <a:headEnd type="none" w="med" len="med"/>
                      <a:tailEnd type="none" w="med" len="med"/>
                    </a:lnL>
                    <a:lnR w="6350" cap="flat" cmpd="sng" algn="ctr">
                      <a:solidFill>
                        <a:srgbClr val="C5D8D8"/>
                      </a:solidFill>
                      <a:prstDash val="solid"/>
                      <a:round/>
                      <a:headEnd type="none" w="med" len="med"/>
                      <a:tailEnd type="none" w="med" len="med"/>
                    </a:lnR>
                    <a:lnT w="6350" cap="flat" cmpd="sng" algn="ctr">
                      <a:solidFill>
                        <a:srgbClr val="C5D8D8"/>
                      </a:solidFill>
                      <a:prstDash val="solid"/>
                      <a:round/>
                      <a:headEnd type="none" w="med" len="med"/>
                      <a:tailEnd type="none" w="med" len="med"/>
                    </a:lnT>
                    <a:lnB w="6350" cap="flat" cmpd="sng" algn="ctr">
                      <a:solidFill>
                        <a:srgbClr val="C5D8D8"/>
                      </a:solidFill>
                      <a:prstDash val="solid"/>
                      <a:round/>
                      <a:headEnd type="none" w="med" len="med"/>
                      <a:tailEnd type="none" w="med" len="med"/>
                    </a:lnB>
                  </a:tcPr>
                </a:tc>
                <a:tc>
                  <a:txBody>
                    <a:bodyPr/>
                    <a:lstStyle/>
                    <a:p>
                      <a:pPr marL="0" indent="0" algn="ctr">
                        <a:buNone/>
                      </a:pPr>
                      <a:r>
                        <a:rPr lang="en-US" sz="900" dirty="0">
                          <a:solidFill>
                            <a:srgbClr val="F59E0B"/>
                          </a:solidFill>
                          <a:latin typeface="Calibri" pitchFamily="34" charset="0"/>
                          <a:ea typeface="Calibri" pitchFamily="34" charset="-122"/>
                          <a:cs typeface="Calibri" pitchFamily="34" charset="-120"/>
                        </a:rPr>
                        <a:t>1.0*</a:t>
                      </a:r>
                      <a:endParaRPr lang="en-US" sz="900" dirty="0">
                        <a:latin typeface="Calibri" charset="0"/>
                        <a:ea typeface="Calibri" charset="0"/>
                        <a:cs typeface="Calibri" charset="0"/>
                      </a:endParaRPr>
                    </a:p>
                  </a:txBody>
                  <a:tcPr anchor="ctr">
                    <a:lnL w="6350" cap="flat" cmpd="sng" algn="ctr">
                      <a:solidFill>
                        <a:srgbClr val="C5D8D8"/>
                      </a:solidFill>
                      <a:prstDash val="solid"/>
                      <a:round/>
                      <a:headEnd type="none" w="med" len="med"/>
                      <a:tailEnd type="none" w="med" len="med"/>
                    </a:lnL>
                    <a:lnR w="6350" cap="flat" cmpd="sng" algn="ctr">
                      <a:solidFill>
                        <a:srgbClr val="C5D8D8"/>
                      </a:solidFill>
                      <a:prstDash val="solid"/>
                      <a:round/>
                      <a:headEnd type="none" w="med" len="med"/>
                      <a:tailEnd type="none" w="med" len="med"/>
                    </a:lnR>
                    <a:lnT w="6350" cap="flat" cmpd="sng" algn="ctr">
                      <a:solidFill>
                        <a:srgbClr val="C5D8D8"/>
                      </a:solidFill>
                      <a:prstDash val="solid"/>
                      <a:round/>
                      <a:headEnd type="none" w="med" len="med"/>
                      <a:tailEnd type="none" w="med" len="med"/>
                    </a:lnT>
                    <a:lnB w="6350" cap="flat" cmpd="sng" algn="ctr">
                      <a:solidFill>
                        <a:srgbClr val="C5D8D8"/>
                      </a:solidFill>
                      <a:prstDash val="solid"/>
                      <a:round/>
                      <a:headEnd type="none" w="med" len="med"/>
                      <a:tailEnd type="none" w="med" len="med"/>
                    </a:lnB>
                  </a:tcPr>
                </a:tc>
                <a:tc>
                  <a:txBody>
                    <a:bodyPr/>
                    <a:lstStyle/>
                    <a:p>
                      <a:pPr marL="0" indent="0" algn="ctr">
                        <a:buNone/>
                      </a:pPr>
                      <a:r>
                        <a:rPr lang="en-US" sz="900" b="1" dirty="0">
                          <a:solidFill>
                            <a:srgbClr val="10B981"/>
                          </a:solidFill>
                          <a:latin typeface="Calibri" pitchFamily="34" charset="0"/>
                          <a:ea typeface="Calibri" pitchFamily="34" charset="-122"/>
                          <a:cs typeface="Calibri" pitchFamily="34" charset="-120"/>
                        </a:rPr>
                        <a:t>Good</a:t>
                      </a:r>
                      <a:endParaRPr lang="en-US" sz="900" dirty="0">
                        <a:latin typeface="Calibri" charset="0"/>
                        <a:ea typeface="Calibri" charset="0"/>
                        <a:cs typeface="Calibri" charset="0"/>
                      </a:endParaRPr>
                    </a:p>
                  </a:txBody>
                  <a:tcPr anchor="ctr">
                    <a:lnL w="6350" cap="flat" cmpd="sng" algn="ctr">
                      <a:solidFill>
                        <a:srgbClr val="C5D8D8"/>
                      </a:solidFill>
                      <a:prstDash val="solid"/>
                      <a:round/>
                      <a:headEnd type="none" w="med" len="med"/>
                      <a:tailEnd type="none" w="med" len="med"/>
                    </a:lnL>
                    <a:lnR w="6350" cap="flat" cmpd="sng" algn="ctr">
                      <a:solidFill>
                        <a:srgbClr val="C5D8D8"/>
                      </a:solidFill>
                      <a:prstDash val="solid"/>
                      <a:round/>
                      <a:headEnd type="none" w="med" len="med"/>
                      <a:tailEnd type="none" w="med" len="med"/>
                    </a:lnR>
                    <a:lnT w="6350" cap="flat" cmpd="sng" algn="ctr">
                      <a:solidFill>
                        <a:srgbClr val="C5D8D8"/>
                      </a:solidFill>
                      <a:prstDash val="solid"/>
                      <a:round/>
                      <a:headEnd type="none" w="med" len="med"/>
                      <a:tailEnd type="none" w="med" len="med"/>
                    </a:lnT>
                    <a:lnB w="6350" cap="flat" cmpd="sng" algn="ctr">
                      <a:solidFill>
                        <a:srgbClr val="C5D8D8"/>
                      </a:solidFill>
                      <a:prstDash val="solid"/>
                      <a:round/>
                      <a:headEnd type="none" w="med" len="med"/>
                      <a:tailEnd type="none" w="med" len="med"/>
                    </a:lnB>
                  </a:tcPr>
                </a:tc>
                <a:extLst>
                  <a:ext uri="{0D108BD9-81ED-4DB2-BD59-A6C34878D82A}">
                    <a16:rowId xmlns:a16="http://schemas.microsoft.com/office/drawing/2014/main" val="10003"/>
                  </a:ext>
                </a:extLst>
              </a:tr>
              <a:tr h="0">
                <a:tc>
                  <a:txBody>
                    <a:bodyPr/>
                    <a:lstStyle/>
                    <a:p>
                      <a:pPr marL="0" indent="0" algn="l">
                        <a:buNone/>
                      </a:pPr>
                      <a:r>
                        <a:rPr lang="en-US" sz="900" b="1" dirty="0">
                          <a:solidFill>
                            <a:srgbClr val="334155"/>
                          </a:solidFill>
                          <a:latin typeface="Calibri" pitchFamily="34" charset="0"/>
                          <a:ea typeface="Calibri" pitchFamily="34" charset="-122"/>
                          <a:cs typeface="Calibri" pitchFamily="34" charset="-120"/>
                        </a:rPr>
                        <a:t>Hydro Storage</a:t>
                      </a:r>
                      <a:endParaRPr lang="en-US" sz="900" dirty="0">
                        <a:latin typeface="Calibri" charset="0"/>
                        <a:ea typeface="Calibri" charset="0"/>
                        <a:cs typeface="Calibri" charset="0"/>
                      </a:endParaRPr>
                    </a:p>
                  </a:txBody>
                  <a:tcPr anchor="ctr">
                    <a:lnL w="6350" cap="flat" cmpd="sng" algn="ctr">
                      <a:solidFill>
                        <a:srgbClr val="C5D8D8"/>
                      </a:solidFill>
                      <a:prstDash val="solid"/>
                      <a:round/>
                      <a:headEnd type="none" w="med" len="med"/>
                      <a:tailEnd type="none" w="med" len="med"/>
                    </a:lnL>
                    <a:lnR w="6350" cap="flat" cmpd="sng" algn="ctr">
                      <a:solidFill>
                        <a:srgbClr val="C5D8D8"/>
                      </a:solidFill>
                      <a:prstDash val="solid"/>
                      <a:round/>
                      <a:headEnd type="none" w="med" len="med"/>
                      <a:tailEnd type="none" w="med" len="med"/>
                    </a:lnR>
                    <a:lnT w="6350" cap="flat" cmpd="sng" algn="ctr">
                      <a:solidFill>
                        <a:srgbClr val="C5D8D8"/>
                      </a:solidFill>
                      <a:prstDash val="solid"/>
                      <a:round/>
                      <a:headEnd type="none" w="med" len="med"/>
                      <a:tailEnd type="none" w="med" len="med"/>
                    </a:lnT>
                    <a:lnB w="6350" cap="flat" cmpd="sng" algn="ctr">
                      <a:solidFill>
                        <a:srgbClr val="C5D8D8"/>
                      </a:solidFill>
                      <a:prstDash val="solid"/>
                      <a:round/>
                      <a:headEnd type="none" w="med" len="med"/>
                      <a:tailEnd type="none" w="med" len="med"/>
                    </a:lnB>
                  </a:tcPr>
                </a:tc>
                <a:tc>
                  <a:txBody>
                    <a:bodyPr/>
                    <a:lstStyle/>
                    <a:p>
                      <a:pPr marL="0" indent="0" algn="ctr">
                        <a:buNone/>
                      </a:pPr>
                      <a:r>
                        <a:rPr lang="en-US" sz="900" dirty="0">
                          <a:solidFill>
                            <a:srgbClr val="334155"/>
                          </a:solidFill>
                          <a:latin typeface="Calibri" pitchFamily="34" charset="0"/>
                          <a:ea typeface="Calibri" pitchFamily="34" charset="-122"/>
                          <a:cs typeface="Calibri" pitchFamily="34" charset="-120"/>
                        </a:rPr>
                        <a:t>1.0</a:t>
                      </a:r>
                      <a:endParaRPr lang="en-US" sz="900" dirty="0">
                        <a:latin typeface="Calibri" charset="0"/>
                        <a:ea typeface="Calibri" charset="0"/>
                        <a:cs typeface="Calibri" charset="0"/>
                      </a:endParaRPr>
                    </a:p>
                  </a:txBody>
                  <a:tcPr anchor="ctr">
                    <a:lnL w="6350" cap="flat" cmpd="sng" algn="ctr">
                      <a:solidFill>
                        <a:srgbClr val="C5D8D8"/>
                      </a:solidFill>
                      <a:prstDash val="solid"/>
                      <a:round/>
                      <a:headEnd type="none" w="med" len="med"/>
                      <a:tailEnd type="none" w="med" len="med"/>
                    </a:lnL>
                    <a:lnR w="6350" cap="flat" cmpd="sng" algn="ctr">
                      <a:solidFill>
                        <a:srgbClr val="C5D8D8"/>
                      </a:solidFill>
                      <a:prstDash val="solid"/>
                      <a:round/>
                      <a:headEnd type="none" w="med" len="med"/>
                      <a:tailEnd type="none" w="med" len="med"/>
                    </a:lnR>
                    <a:lnT w="6350" cap="flat" cmpd="sng" algn="ctr">
                      <a:solidFill>
                        <a:srgbClr val="C5D8D8"/>
                      </a:solidFill>
                      <a:prstDash val="solid"/>
                      <a:round/>
                      <a:headEnd type="none" w="med" len="med"/>
                      <a:tailEnd type="none" w="med" len="med"/>
                    </a:lnT>
                    <a:lnB w="6350" cap="flat" cmpd="sng" algn="ctr">
                      <a:solidFill>
                        <a:srgbClr val="C5D8D8"/>
                      </a:solidFill>
                      <a:prstDash val="solid"/>
                      <a:round/>
                      <a:headEnd type="none" w="med" len="med"/>
                      <a:tailEnd type="none" w="med" len="med"/>
                    </a:lnB>
                  </a:tcPr>
                </a:tc>
                <a:tc>
                  <a:txBody>
                    <a:bodyPr/>
                    <a:lstStyle/>
                    <a:p>
                      <a:pPr marL="0" indent="0" algn="ctr">
                        <a:buNone/>
                      </a:pPr>
                      <a:r>
                        <a:rPr lang="en-US" sz="900" dirty="0">
                          <a:solidFill>
                            <a:srgbClr val="F59E0B"/>
                          </a:solidFill>
                          <a:latin typeface="Calibri" pitchFamily="34" charset="0"/>
                          <a:ea typeface="Calibri" pitchFamily="34" charset="-122"/>
                          <a:cs typeface="Calibri" pitchFamily="34" charset="-120"/>
                        </a:rPr>
                        <a:t>1.0*</a:t>
                      </a:r>
                      <a:endParaRPr lang="en-US" sz="900" dirty="0">
                        <a:latin typeface="Calibri" charset="0"/>
                        <a:ea typeface="Calibri" charset="0"/>
                        <a:cs typeface="Calibri" charset="0"/>
                      </a:endParaRPr>
                    </a:p>
                  </a:txBody>
                  <a:tcPr anchor="ctr">
                    <a:lnL w="6350" cap="flat" cmpd="sng" algn="ctr">
                      <a:solidFill>
                        <a:srgbClr val="C5D8D8"/>
                      </a:solidFill>
                      <a:prstDash val="solid"/>
                      <a:round/>
                      <a:headEnd type="none" w="med" len="med"/>
                      <a:tailEnd type="none" w="med" len="med"/>
                    </a:lnL>
                    <a:lnR w="6350" cap="flat" cmpd="sng" algn="ctr">
                      <a:solidFill>
                        <a:srgbClr val="C5D8D8"/>
                      </a:solidFill>
                      <a:prstDash val="solid"/>
                      <a:round/>
                      <a:headEnd type="none" w="med" len="med"/>
                      <a:tailEnd type="none" w="med" len="med"/>
                    </a:lnR>
                    <a:lnT w="6350" cap="flat" cmpd="sng" algn="ctr">
                      <a:solidFill>
                        <a:srgbClr val="C5D8D8"/>
                      </a:solidFill>
                      <a:prstDash val="solid"/>
                      <a:round/>
                      <a:headEnd type="none" w="med" len="med"/>
                      <a:tailEnd type="none" w="med" len="med"/>
                    </a:lnT>
                    <a:lnB w="6350" cap="flat" cmpd="sng" algn="ctr">
                      <a:solidFill>
                        <a:srgbClr val="C5D8D8"/>
                      </a:solidFill>
                      <a:prstDash val="solid"/>
                      <a:round/>
                      <a:headEnd type="none" w="med" len="med"/>
                      <a:tailEnd type="none" w="med" len="med"/>
                    </a:lnB>
                  </a:tcPr>
                </a:tc>
                <a:tc>
                  <a:txBody>
                    <a:bodyPr/>
                    <a:lstStyle/>
                    <a:p>
                      <a:pPr marL="0" indent="0" algn="ctr">
                        <a:buNone/>
                      </a:pPr>
                      <a:r>
                        <a:rPr lang="en-US" sz="900" dirty="0">
                          <a:solidFill>
                            <a:srgbClr val="334155"/>
                          </a:solidFill>
                          <a:latin typeface="Calibri" pitchFamily="34" charset="0"/>
                          <a:ea typeface="Calibri" pitchFamily="34" charset="-122"/>
                          <a:cs typeface="Calibri" pitchFamily="34" charset="-120"/>
                        </a:rPr>
                        <a:t>1.50</a:t>
                      </a:r>
                      <a:endParaRPr lang="en-US" sz="900" dirty="0">
                        <a:latin typeface="Calibri" charset="0"/>
                        <a:ea typeface="Calibri" charset="0"/>
                        <a:cs typeface="Calibri" charset="0"/>
                      </a:endParaRPr>
                    </a:p>
                  </a:txBody>
                  <a:tcPr anchor="ctr">
                    <a:lnL w="6350" cap="flat" cmpd="sng" algn="ctr">
                      <a:solidFill>
                        <a:srgbClr val="C5D8D8"/>
                      </a:solidFill>
                      <a:prstDash val="solid"/>
                      <a:round/>
                      <a:headEnd type="none" w="med" len="med"/>
                      <a:tailEnd type="none" w="med" len="med"/>
                    </a:lnL>
                    <a:lnR w="6350" cap="flat" cmpd="sng" algn="ctr">
                      <a:solidFill>
                        <a:srgbClr val="C5D8D8"/>
                      </a:solidFill>
                      <a:prstDash val="solid"/>
                      <a:round/>
                      <a:headEnd type="none" w="med" len="med"/>
                      <a:tailEnd type="none" w="med" len="med"/>
                    </a:lnR>
                    <a:lnT w="6350" cap="flat" cmpd="sng" algn="ctr">
                      <a:solidFill>
                        <a:srgbClr val="C5D8D8"/>
                      </a:solidFill>
                      <a:prstDash val="solid"/>
                      <a:round/>
                      <a:headEnd type="none" w="med" len="med"/>
                      <a:tailEnd type="none" w="med" len="med"/>
                    </a:lnT>
                    <a:lnB w="6350" cap="flat" cmpd="sng" algn="ctr">
                      <a:solidFill>
                        <a:srgbClr val="C5D8D8"/>
                      </a:solidFill>
                      <a:prstDash val="solid"/>
                      <a:round/>
                      <a:headEnd type="none" w="med" len="med"/>
                      <a:tailEnd type="none" w="med" len="med"/>
                    </a:lnB>
                  </a:tcPr>
                </a:tc>
                <a:tc>
                  <a:txBody>
                    <a:bodyPr/>
                    <a:lstStyle/>
                    <a:p>
                      <a:pPr marL="0" indent="0" algn="ctr">
                        <a:buNone/>
                      </a:pPr>
                      <a:r>
                        <a:rPr lang="en-US" sz="900" dirty="0">
                          <a:solidFill>
                            <a:srgbClr val="334155"/>
                          </a:solidFill>
                          <a:latin typeface="Calibri" pitchFamily="34" charset="0"/>
                          <a:ea typeface="Calibri" pitchFamily="34" charset="-122"/>
                          <a:cs typeface="Calibri" pitchFamily="34" charset="-120"/>
                        </a:rPr>
                        <a:t>2.50</a:t>
                      </a:r>
                      <a:endParaRPr lang="en-US" sz="900" dirty="0">
                        <a:latin typeface="Calibri" charset="0"/>
                        <a:ea typeface="Calibri" charset="0"/>
                        <a:cs typeface="Calibri" charset="0"/>
                      </a:endParaRPr>
                    </a:p>
                  </a:txBody>
                  <a:tcPr anchor="ctr">
                    <a:lnL w="6350" cap="flat" cmpd="sng" algn="ctr">
                      <a:solidFill>
                        <a:srgbClr val="C5D8D8"/>
                      </a:solidFill>
                      <a:prstDash val="solid"/>
                      <a:round/>
                      <a:headEnd type="none" w="med" len="med"/>
                      <a:tailEnd type="none" w="med" len="med"/>
                    </a:lnL>
                    <a:lnR w="6350" cap="flat" cmpd="sng" algn="ctr">
                      <a:solidFill>
                        <a:srgbClr val="C5D8D8"/>
                      </a:solidFill>
                      <a:prstDash val="solid"/>
                      <a:round/>
                      <a:headEnd type="none" w="med" len="med"/>
                      <a:tailEnd type="none" w="med" len="med"/>
                    </a:lnR>
                    <a:lnT w="6350" cap="flat" cmpd="sng" algn="ctr">
                      <a:solidFill>
                        <a:srgbClr val="C5D8D8"/>
                      </a:solidFill>
                      <a:prstDash val="solid"/>
                      <a:round/>
                      <a:headEnd type="none" w="med" len="med"/>
                      <a:tailEnd type="none" w="med" len="med"/>
                    </a:lnT>
                    <a:lnB w="6350" cap="flat" cmpd="sng" algn="ctr">
                      <a:solidFill>
                        <a:srgbClr val="C5D8D8"/>
                      </a:solidFill>
                      <a:prstDash val="solid"/>
                      <a:round/>
                      <a:headEnd type="none" w="med" len="med"/>
                      <a:tailEnd type="none" w="med" len="med"/>
                    </a:lnB>
                  </a:tcPr>
                </a:tc>
                <a:tc>
                  <a:txBody>
                    <a:bodyPr/>
                    <a:lstStyle/>
                    <a:p>
                      <a:pPr marL="0" indent="0" algn="ctr">
                        <a:buNone/>
                      </a:pPr>
                      <a:r>
                        <a:rPr lang="en-US" sz="900" dirty="0">
                          <a:solidFill>
                            <a:srgbClr val="334155"/>
                          </a:solidFill>
                          <a:latin typeface="Calibri" pitchFamily="34" charset="0"/>
                          <a:ea typeface="Calibri" pitchFamily="34" charset="-122"/>
                          <a:cs typeface="Calibri" pitchFamily="34" charset="-120"/>
                        </a:rPr>
                        <a:t>1.10</a:t>
                      </a:r>
                      <a:endParaRPr lang="en-US" sz="900" dirty="0">
                        <a:latin typeface="Calibri" charset="0"/>
                        <a:ea typeface="Calibri" charset="0"/>
                        <a:cs typeface="Calibri" charset="0"/>
                      </a:endParaRPr>
                    </a:p>
                  </a:txBody>
                  <a:tcPr anchor="ctr">
                    <a:lnL w="6350" cap="flat" cmpd="sng" algn="ctr">
                      <a:solidFill>
                        <a:srgbClr val="C5D8D8"/>
                      </a:solidFill>
                      <a:prstDash val="solid"/>
                      <a:round/>
                      <a:headEnd type="none" w="med" len="med"/>
                      <a:tailEnd type="none" w="med" len="med"/>
                    </a:lnL>
                    <a:lnR w="6350" cap="flat" cmpd="sng" algn="ctr">
                      <a:solidFill>
                        <a:srgbClr val="C5D8D8"/>
                      </a:solidFill>
                      <a:prstDash val="solid"/>
                      <a:round/>
                      <a:headEnd type="none" w="med" len="med"/>
                      <a:tailEnd type="none" w="med" len="med"/>
                    </a:lnR>
                    <a:lnT w="6350" cap="flat" cmpd="sng" algn="ctr">
                      <a:solidFill>
                        <a:srgbClr val="C5D8D8"/>
                      </a:solidFill>
                      <a:prstDash val="solid"/>
                      <a:round/>
                      <a:headEnd type="none" w="med" len="med"/>
                      <a:tailEnd type="none" w="med" len="med"/>
                    </a:lnT>
                    <a:lnB w="6350" cap="flat" cmpd="sng" algn="ctr">
                      <a:solidFill>
                        <a:srgbClr val="C5D8D8"/>
                      </a:solidFill>
                      <a:prstDash val="solid"/>
                      <a:round/>
                      <a:headEnd type="none" w="med" len="med"/>
                      <a:tailEnd type="none" w="med" len="med"/>
                    </a:lnB>
                  </a:tcPr>
                </a:tc>
                <a:tc>
                  <a:txBody>
                    <a:bodyPr/>
                    <a:lstStyle/>
                    <a:p>
                      <a:pPr marL="0" indent="0" algn="ctr">
                        <a:buNone/>
                      </a:pPr>
                      <a:r>
                        <a:rPr lang="en-US" sz="900" dirty="0">
                          <a:solidFill>
                            <a:srgbClr val="F59E0B"/>
                          </a:solidFill>
                          <a:latin typeface="Calibri" pitchFamily="34" charset="0"/>
                          <a:ea typeface="Calibri" pitchFamily="34" charset="-122"/>
                          <a:cs typeface="Calibri" pitchFamily="34" charset="-120"/>
                        </a:rPr>
                        <a:t>1.0*</a:t>
                      </a:r>
                      <a:endParaRPr lang="en-US" sz="900" dirty="0">
                        <a:latin typeface="Calibri" charset="0"/>
                        <a:ea typeface="Calibri" charset="0"/>
                        <a:cs typeface="Calibri" charset="0"/>
                      </a:endParaRPr>
                    </a:p>
                  </a:txBody>
                  <a:tcPr anchor="ctr">
                    <a:lnL w="6350" cap="flat" cmpd="sng" algn="ctr">
                      <a:solidFill>
                        <a:srgbClr val="C5D8D8"/>
                      </a:solidFill>
                      <a:prstDash val="solid"/>
                      <a:round/>
                      <a:headEnd type="none" w="med" len="med"/>
                      <a:tailEnd type="none" w="med" len="med"/>
                    </a:lnL>
                    <a:lnR w="6350" cap="flat" cmpd="sng" algn="ctr">
                      <a:solidFill>
                        <a:srgbClr val="C5D8D8"/>
                      </a:solidFill>
                      <a:prstDash val="solid"/>
                      <a:round/>
                      <a:headEnd type="none" w="med" len="med"/>
                      <a:tailEnd type="none" w="med" len="med"/>
                    </a:lnR>
                    <a:lnT w="6350" cap="flat" cmpd="sng" algn="ctr">
                      <a:solidFill>
                        <a:srgbClr val="C5D8D8"/>
                      </a:solidFill>
                      <a:prstDash val="solid"/>
                      <a:round/>
                      <a:headEnd type="none" w="med" len="med"/>
                      <a:tailEnd type="none" w="med" len="med"/>
                    </a:lnT>
                    <a:lnB w="6350" cap="flat" cmpd="sng" algn="ctr">
                      <a:solidFill>
                        <a:srgbClr val="C5D8D8"/>
                      </a:solidFill>
                      <a:prstDash val="solid"/>
                      <a:round/>
                      <a:headEnd type="none" w="med" len="med"/>
                      <a:tailEnd type="none" w="med" len="med"/>
                    </a:lnB>
                  </a:tcPr>
                </a:tc>
                <a:tc>
                  <a:txBody>
                    <a:bodyPr/>
                    <a:lstStyle/>
                    <a:p>
                      <a:pPr marL="0" indent="0" algn="ctr">
                        <a:buNone/>
                      </a:pPr>
                      <a:r>
                        <a:rPr lang="en-US" sz="900" b="1" dirty="0">
                          <a:solidFill>
                            <a:srgbClr val="F59E0B"/>
                          </a:solidFill>
                          <a:latin typeface="Calibri" pitchFamily="34" charset="0"/>
                          <a:ea typeface="Calibri" pitchFamily="34" charset="-122"/>
                          <a:cs typeface="Calibri" pitchFamily="34" charset="-120"/>
                        </a:rPr>
                        <a:t>Partial</a:t>
                      </a:r>
                      <a:endParaRPr lang="en-US" sz="900" dirty="0">
                        <a:latin typeface="Calibri" charset="0"/>
                        <a:ea typeface="Calibri" charset="0"/>
                        <a:cs typeface="Calibri" charset="0"/>
                      </a:endParaRPr>
                    </a:p>
                  </a:txBody>
                  <a:tcPr anchor="ctr">
                    <a:lnL w="6350" cap="flat" cmpd="sng" algn="ctr">
                      <a:solidFill>
                        <a:srgbClr val="C5D8D8"/>
                      </a:solidFill>
                      <a:prstDash val="solid"/>
                      <a:round/>
                      <a:headEnd type="none" w="med" len="med"/>
                      <a:tailEnd type="none" w="med" len="med"/>
                    </a:lnL>
                    <a:lnR w="6350" cap="flat" cmpd="sng" algn="ctr">
                      <a:solidFill>
                        <a:srgbClr val="C5D8D8"/>
                      </a:solidFill>
                      <a:prstDash val="solid"/>
                      <a:round/>
                      <a:headEnd type="none" w="med" len="med"/>
                      <a:tailEnd type="none" w="med" len="med"/>
                    </a:lnR>
                    <a:lnT w="6350" cap="flat" cmpd="sng" algn="ctr">
                      <a:solidFill>
                        <a:srgbClr val="C5D8D8"/>
                      </a:solidFill>
                      <a:prstDash val="solid"/>
                      <a:round/>
                      <a:headEnd type="none" w="med" len="med"/>
                      <a:tailEnd type="none" w="med" len="med"/>
                    </a:lnT>
                    <a:lnB w="6350" cap="flat" cmpd="sng" algn="ctr">
                      <a:solidFill>
                        <a:srgbClr val="C5D8D8"/>
                      </a:solidFill>
                      <a:prstDash val="solid"/>
                      <a:round/>
                      <a:headEnd type="none" w="med" len="med"/>
                      <a:tailEnd type="none" w="med" len="med"/>
                    </a:lnB>
                  </a:tcPr>
                </a:tc>
                <a:extLst>
                  <a:ext uri="{0D108BD9-81ED-4DB2-BD59-A6C34878D82A}">
                    <a16:rowId xmlns:a16="http://schemas.microsoft.com/office/drawing/2014/main" val="10004"/>
                  </a:ext>
                </a:extLst>
              </a:tr>
              <a:tr h="0">
                <a:tc>
                  <a:txBody>
                    <a:bodyPr/>
                    <a:lstStyle/>
                    <a:p>
                      <a:pPr marL="0" indent="0" algn="l">
                        <a:buNone/>
                      </a:pPr>
                      <a:r>
                        <a:rPr lang="en-US" sz="900" b="1" dirty="0">
                          <a:solidFill>
                            <a:srgbClr val="334155"/>
                          </a:solidFill>
                          <a:latin typeface="Calibri" pitchFamily="34" charset="0"/>
                          <a:ea typeface="Calibri" pitchFamily="34" charset="-122"/>
                          <a:cs typeface="Calibri" pitchFamily="34" charset="-120"/>
                        </a:rPr>
                        <a:t>Coal</a:t>
                      </a:r>
                      <a:endParaRPr lang="en-US" sz="900" dirty="0">
                        <a:latin typeface="Calibri" charset="0"/>
                        <a:ea typeface="Calibri" charset="0"/>
                        <a:cs typeface="Calibri" charset="0"/>
                      </a:endParaRPr>
                    </a:p>
                  </a:txBody>
                  <a:tcPr anchor="ctr">
                    <a:lnL w="6350" cap="flat" cmpd="sng" algn="ctr">
                      <a:solidFill>
                        <a:srgbClr val="C5D8D8"/>
                      </a:solidFill>
                      <a:prstDash val="solid"/>
                      <a:round/>
                      <a:headEnd type="none" w="med" len="med"/>
                      <a:tailEnd type="none" w="med" len="med"/>
                    </a:lnL>
                    <a:lnR w="6350" cap="flat" cmpd="sng" algn="ctr">
                      <a:solidFill>
                        <a:srgbClr val="C5D8D8"/>
                      </a:solidFill>
                      <a:prstDash val="solid"/>
                      <a:round/>
                      <a:headEnd type="none" w="med" len="med"/>
                      <a:tailEnd type="none" w="med" len="med"/>
                    </a:lnR>
                    <a:lnT w="6350" cap="flat" cmpd="sng" algn="ctr">
                      <a:solidFill>
                        <a:srgbClr val="C5D8D8"/>
                      </a:solidFill>
                      <a:prstDash val="solid"/>
                      <a:round/>
                      <a:headEnd type="none" w="med" len="med"/>
                      <a:tailEnd type="none" w="med" len="med"/>
                    </a:lnT>
                    <a:lnB w="6350" cap="flat" cmpd="sng" algn="ctr">
                      <a:solidFill>
                        <a:srgbClr val="C5D8D8"/>
                      </a:solidFill>
                      <a:prstDash val="solid"/>
                      <a:round/>
                      <a:headEnd type="none" w="med" len="med"/>
                      <a:tailEnd type="none" w="med" len="med"/>
                    </a:lnB>
                  </a:tcPr>
                </a:tc>
                <a:tc>
                  <a:txBody>
                    <a:bodyPr/>
                    <a:lstStyle/>
                    <a:p>
                      <a:pPr marL="0" indent="0" algn="ctr">
                        <a:buNone/>
                      </a:pPr>
                      <a:r>
                        <a:rPr lang="en-US" sz="900" dirty="0">
                          <a:solidFill>
                            <a:srgbClr val="334155"/>
                          </a:solidFill>
                          <a:latin typeface="Calibri" pitchFamily="34" charset="0"/>
                          <a:ea typeface="Calibri" pitchFamily="34" charset="-122"/>
                          <a:cs typeface="Calibri" pitchFamily="34" charset="-120"/>
                        </a:rPr>
                        <a:t>1.0</a:t>
                      </a:r>
                      <a:endParaRPr lang="en-US" sz="900" dirty="0">
                        <a:latin typeface="Calibri" charset="0"/>
                        <a:ea typeface="Calibri" charset="0"/>
                        <a:cs typeface="Calibri" charset="0"/>
                      </a:endParaRPr>
                    </a:p>
                  </a:txBody>
                  <a:tcPr anchor="ctr">
                    <a:lnL w="6350" cap="flat" cmpd="sng" algn="ctr">
                      <a:solidFill>
                        <a:srgbClr val="C5D8D8"/>
                      </a:solidFill>
                      <a:prstDash val="solid"/>
                      <a:round/>
                      <a:headEnd type="none" w="med" len="med"/>
                      <a:tailEnd type="none" w="med" len="med"/>
                    </a:lnL>
                    <a:lnR w="6350" cap="flat" cmpd="sng" algn="ctr">
                      <a:solidFill>
                        <a:srgbClr val="C5D8D8"/>
                      </a:solidFill>
                      <a:prstDash val="solid"/>
                      <a:round/>
                      <a:headEnd type="none" w="med" len="med"/>
                      <a:tailEnd type="none" w="med" len="med"/>
                    </a:lnR>
                    <a:lnT w="6350" cap="flat" cmpd="sng" algn="ctr">
                      <a:solidFill>
                        <a:srgbClr val="C5D8D8"/>
                      </a:solidFill>
                      <a:prstDash val="solid"/>
                      <a:round/>
                      <a:headEnd type="none" w="med" len="med"/>
                      <a:tailEnd type="none" w="med" len="med"/>
                    </a:lnT>
                    <a:lnB w="6350" cap="flat" cmpd="sng" algn="ctr">
                      <a:solidFill>
                        <a:srgbClr val="C5D8D8"/>
                      </a:solidFill>
                      <a:prstDash val="solid"/>
                      <a:round/>
                      <a:headEnd type="none" w="med" len="med"/>
                      <a:tailEnd type="none" w="med" len="med"/>
                    </a:lnB>
                  </a:tcPr>
                </a:tc>
                <a:tc>
                  <a:txBody>
                    <a:bodyPr/>
                    <a:lstStyle/>
                    <a:p>
                      <a:pPr marL="0" indent="0" algn="ctr">
                        <a:buNone/>
                      </a:pPr>
                      <a:r>
                        <a:rPr lang="en-US" sz="900" dirty="0">
                          <a:solidFill>
                            <a:srgbClr val="334155"/>
                          </a:solidFill>
                          <a:latin typeface="Calibri" pitchFamily="34" charset="0"/>
                          <a:ea typeface="Calibri" pitchFamily="34" charset="-122"/>
                          <a:cs typeface="Calibri" pitchFamily="34" charset="-120"/>
                        </a:rPr>
                        <a:t>1.60</a:t>
                      </a:r>
                      <a:endParaRPr lang="en-US" sz="900" dirty="0">
                        <a:latin typeface="Calibri" charset="0"/>
                        <a:ea typeface="Calibri" charset="0"/>
                        <a:cs typeface="Calibri" charset="0"/>
                      </a:endParaRPr>
                    </a:p>
                  </a:txBody>
                  <a:tcPr anchor="ctr">
                    <a:lnL w="6350" cap="flat" cmpd="sng" algn="ctr">
                      <a:solidFill>
                        <a:srgbClr val="C5D8D8"/>
                      </a:solidFill>
                      <a:prstDash val="solid"/>
                      <a:round/>
                      <a:headEnd type="none" w="med" len="med"/>
                      <a:tailEnd type="none" w="med" len="med"/>
                    </a:lnL>
                    <a:lnR w="6350" cap="flat" cmpd="sng" algn="ctr">
                      <a:solidFill>
                        <a:srgbClr val="C5D8D8"/>
                      </a:solidFill>
                      <a:prstDash val="solid"/>
                      <a:round/>
                      <a:headEnd type="none" w="med" len="med"/>
                      <a:tailEnd type="none" w="med" len="med"/>
                    </a:lnR>
                    <a:lnT w="6350" cap="flat" cmpd="sng" algn="ctr">
                      <a:solidFill>
                        <a:srgbClr val="C5D8D8"/>
                      </a:solidFill>
                      <a:prstDash val="solid"/>
                      <a:round/>
                      <a:headEnd type="none" w="med" len="med"/>
                      <a:tailEnd type="none" w="med" len="med"/>
                    </a:lnT>
                    <a:lnB w="6350" cap="flat" cmpd="sng" algn="ctr">
                      <a:solidFill>
                        <a:srgbClr val="C5D8D8"/>
                      </a:solidFill>
                      <a:prstDash val="solid"/>
                      <a:round/>
                      <a:headEnd type="none" w="med" len="med"/>
                      <a:tailEnd type="none" w="med" len="med"/>
                    </a:lnB>
                  </a:tcPr>
                </a:tc>
                <a:tc>
                  <a:txBody>
                    <a:bodyPr/>
                    <a:lstStyle/>
                    <a:p>
                      <a:pPr marL="0" indent="0" algn="ctr">
                        <a:buNone/>
                      </a:pPr>
                      <a:r>
                        <a:rPr lang="en-US" sz="900" dirty="0">
                          <a:solidFill>
                            <a:srgbClr val="334155"/>
                          </a:solidFill>
                          <a:latin typeface="Calibri" pitchFamily="34" charset="0"/>
                          <a:ea typeface="Calibri" pitchFamily="34" charset="-122"/>
                          <a:cs typeface="Calibri" pitchFamily="34" charset="-120"/>
                        </a:rPr>
                        <a:t>2.00</a:t>
                      </a:r>
                      <a:endParaRPr lang="en-US" sz="900" dirty="0">
                        <a:latin typeface="Calibri" charset="0"/>
                        <a:ea typeface="Calibri" charset="0"/>
                        <a:cs typeface="Calibri" charset="0"/>
                      </a:endParaRPr>
                    </a:p>
                  </a:txBody>
                  <a:tcPr anchor="ctr">
                    <a:lnL w="6350" cap="flat" cmpd="sng" algn="ctr">
                      <a:solidFill>
                        <a:srgbClr val="C5D8D8"/>
                      </a:solidFill>
                      <a:prstDash val="solid"/>
                      <a:round/>
                      <a:headEnd type="none" w="med" len="med"/>
                      <a:tailEnd type="none" w="med" len="med"/>
                    </a:lnL>
                    <a:lnR w="6350" cap="flat" cmpd="sng" algn="ctr">
                      <a:solidFill>
                        <a:srgbClr val="C5D8D8"/>
                      </a:solidFill>
                      <a:prstDash val="solid"/>
                      <a:round/>
                      <a:headEnd type="none" w="med" len="med"/>
                      <a:tailEnd type="none" w="med" len="med"/>
                    </a:lnR>
                    <a:lnT w="6350" cap="flat" cmpd="sng" algn="ctr">
                      <a:solidFill>
                        <a:srgbClr val="C5D8D8"/>
                      </a:solidFill>
                      <a:prstDash val="solid"/>
                      <a:round/>
                      <a:headEnd type="none" w="med" len="med"/>
                      <a:tailEnd type="none" w="med" len="med"/>
                    </a:lnT>
                    <a:lnB w="6350" cap="flat" cmpd="sng" algn="ctr">
                      <a:solidFill>
                        <a:srgbClr val="C5D8D8"/>
                      </a:solidFill>
                      <a:prstDash val="solid"/>
                      <a:round/>
                      <a:headEnd type="none" w="med" len="med"/>
                      <a:tailEnd type="none" w="med" len="med"/>
                    </a:lnB>
                  </a:tcPr>
                </a:tc>
                <a:tc>
                  <a:txBody>
                    <a:bodyPr/>
                    <a:lstStyle/>
                    <a:p>
                      <a:pPr marL="0" indent="0" algn="ctr">
                        <a:buNone/>
                      </a:pPr>
                      <a:r>
                        <a:rPr lang="en-US" sz="900" dirty="0">
                          <a:solidFill>
                            <a:srgbClr val="F59E0B"/>
                          </a:solidFill>
                          <a:latin typeface="Calibri" pitchFamily="34" charset="0"/>
                          <a:ea typeface="Calibri" pitchFamily="34" charset="-122"/>
                          <a:cs typeface="Calibri" pitchFamily="34" charset="-120"/>
                        </a:rPr>
                        <a:t>1.0*</a:t>
                      </a:r>
                      <a:endParaRPr lang="en-US" sz="900" dirty="0">
                        <a:latin typeface="Calibri" charset="0"/>
                        <a:ea typeface="Calibri" charset="0"/>
                        <a:cs typeface="Calibri" charset="0"/>
                      </a:endParaRPr>
                    </a:p>
                  </a:txBody>
                  <a:tcPr anchor="ctr">
                    <a:lnL w="6350" cap="flat" cmpd="sng" algn="ctr">
                      <a:solidFill>
                        <a:srgbClr val="C5D8D8"/>
                      </a:solidFill>
                      <a:prstDash val="solid"/>
                      <a:round/>
                      <a:headEnd type="none" w="med" len="med"/>
                      <a:tailEnd type="none" w="med" len="med"/>
                    </a:lnL>
                    <a:lnR w="6350" cap="flat" cmpd="sng" algn="ctr">
                      <a:solidFill>
                        <a:srgbClr val="C5D8D8"/>
                      </a:solidFill>
                      <a:prstDash val="solid"/>
                      <a:round/>
                      <a:headEnd type="none" w="med" len="med"/>
                      <a:tailEnd type="none" w="med" len="med"/>
                    </a:lnR>
                    <a:lnT w="6350" cap="flat" cmpd="sng" algn="ctr">
                      <a:solidFill>
                        <a:srgbClr val="C5D8D8"/>
                      </a:solidFill>
                      <a:prstDash val="solid"/>
                      <a:round/>
                      <a:headEnd type="none" w="med" len="med"/>
                      <a:tailEnd type="none" w="med" len="med"/>
                    </a:lnT>
                    <a:lnB w="6350" cap="flat" cmpd="sng" algn="ctr">
                      <a:solidFill>
                        <a:srgbClr val="C5D8D8"/>
                      </a:solidFill>
                      <a:prstDash val="solid"/>
                      <a:round/>
                      <a:headEnd type="none" w="med" len="med"/>
                      <a:tailEnd type="none" w="med" len="med"/>
                    </a:lnB>
                  </a:tcPr>
                </a:tc>
                <a:tc>
                  <a:txBody>
                    <a:bodyPr/>
                    <a:lstStyle/>
                    <a:p>
                      <a:pPr marL="0" indent="0" algn="ctr">
                        <a:buNone/>
                      </a:pPr>
                      <a:r>
                        <a:rPr lang="en-US" sz="900" dirty="0">
                          <a:solidFill>
                            <a:srgbClr val="F59E0B"/>
                          </a:solidFill>
                          <a:latin typeface="Calibri" pitchFamily="34" charset="0"/>
                          <a:ea typeface="Calibri" pitchFamily="34" charset="-122"/>
                          <a:cs typeface="Calibri" pitchFamily="34" charset="-120"/>
                        </a:rPr>
                        <a:t>1.0*</a:t>
                      </a:r>
                      <a:endParaRPr lang="en-US" sz="900" dirty="0">
                        <a:latin typeface="Calibri" charset="0"/>
                        <a:ea typeface="Calibri" charset="0"/>
                        <a:cs typeface="Calibri" charset="0"/>
                      </a:endParaRPr>
                    </a:p>
                  </a:txBody>
                  <a:tcPr anchor="ctr">
                    <a:lnL w="6350" cap="flat" cmpd="sng" algn="ctr">
                      <a:solidFill>
                        <a:srgbClr val="C5D8D8"/>
                      </a:solidFill>
                      <a:prstDash val="solid"/>
                      <a:round/>
                      <a:headEnd type="none" w="med" len="med"/>
                      <a:tailEnd type="none" w="med" len="med"/>
                    </a:lnL>
                    <a:lnR w="6350" cap="flat" cmpd="sng" algn="ctr">
                      <a:solidFill>
                        <a:srgbClr val="C5D8D8"/>
                      </a:solidFill>
                      <a:prstDash val="solid"/>
                      <a:round/>
                      <a:headEnd type="none" w="med" len="med"/>
                      <a:tailEnd type="none" w="med" len="med"/>
                    </a:lnR>
                    <a:lnT w="6350" cap="flat" cmpd="sng" algn="ctr">
                      <a:solidFill>
                        <a:srgbClr val="C5D8D8"/>
                      </a:solidFill>
                      <a:prstDash val="solid"/>
                      <a:round/>
                      <a:headEnd type="none" w="med" len="med"/>
                      <a:tailEnd type="none" w="med" len="med"/>
                    </a:lnT>
                    <a:lnB w="6350" cap="flat" cmpd="sng" algn="ctr">
                      <a:solidFill>
                        <a:srgbClr val="C5D8D8"/>
                      </a:solidFill>
                      <a:prstDash val="solid"/>
                      <a:round/>
                      <a:headEnd type="none" w="med" len="med"/>
                      <a:tailEnd type="none" w="med" len="med"/>
                    </a:lnB>
                  </a:tcPr>
                </a:tc>
                <a:tc>
                  <a:txBody>
                    <a:bodyPr/>
                    <a:lstStyle/>
                    <a:p>
                      <a:pPr marL="0" indent="0" algn="ctr">
                        <a:buNone/>
                      </a:pPr>
                      <a:r>
                        <a:rPr lang="en-US" sz="900" dirty="0">
                          <a:solidFill>
                            <a:srgbClr val="F59E0B"/>
                          </a:solidFill>
                          <a:latin typeface="Calibri" pitchFamily="34" charset="0"/>
                          <a:ea typeface="Calibri" pitchFamily="34" charset="-122"/>
                          <a:cs typeface="Calibri" pitchFamily="34" charset="-120"/>
                        </a:rPr>
                        <a:t>1.0*</a:t>
                      </a:r>
                      <a:endParaRPr lang="en-US" sz="900" dirty="0">
                        <a:latin typeface="Calibri" charset="0"/>
                        <a:ea typeface="Calibri" charset="0"/>
                        <a:cs typeface="Calibri" charset="0"/>
                      </a:endParaRPr>
                    </a:p>
                  </a:txBody>
                  <a:tcPr anchor="ctr">
                    <a:lnL w="6350" cap="flat" cmpd="sng" algn="ctr">
                      <a:solidFill>
                        <a:srgbClr val="C5D8D8"/>
                      </a:solidFill>
                      <a:prstDash val="solid"/>
                      <a:round/>
                      <a:headEnd type="none" w="med" len="med"/>
                      <a:tailEnd type="none" w="med" len="med"/>
                    </a:lnL>
                    <a:lnR w="6350" cap="flat" cmpd="sng" algn="ctr">
                      <a:solidFill>
                        <a:srgbClr val="C5D8D8"/>
                      </a:solidFill>
                      <a:prstDash val="solid"/>
                      <a:round/>
                      <a:headEnd type="none" w="med" len="med"/>
                      <a:tailEnd type="none" w="med" len="med"/>
                    </a:lnR>
                    <a:lnT w="6350" cap="flat" cmpd="sng" algn="ctr">
                      <a:solidFill>
                        <a:srgbClr val="C5D8D8"/>
                      </a:solidFill>
                      <a:prstDash val="solid"/>
                      <a:round/>
                      <a:headEnd type="none" w="med" len="med"/>
                      <a:tailEnd type="none" w="med" len="med"/>
                    </a:lnT>
                    <a:lnB w="6350" cap="flat" cmpd="sng" algn="ctr">
                      <a:solidFill>
                        <a:srgbClr val="C5D8D8"/>
                      </a:solidFill>
                      <a:prstDash val="solid"/>
                      <a:round/>
                      <a:headEnd type="none" w="med" len="med"/>
                      <a:tailEnd type="none" w="med" len="med"/>
                    </a:lnB>
                  </a:tcPr>
                </a:tc>
                <a:tc>
                  <a:txBody>
                    <a:bodyPr/>
                    <a:lstStyle/>
                    <a:p>
                      <a:pPr marL="0" indent="0" algn="ctr">
                        <a:buNone/>
                      </a:pPr>
                      <a:r>
                        <a:rPr lang="en-US" sz="900" b="1" dirty="0">
                          <a:solidFill>
                            <a:srgbClr val="F59E0B"/>
                          </a:solidFill>
                          <a:latin typeface="Calibri" pitchFamily="34" charset="0"/>
                          <a:ea typeface="Calibri" pitchFamily="34" charset="-122"/>
                          <a:cs typeface="Calibri" pitchFamily="34" charset="-120"/>
                        </a:rPr>
                        <a:t>Partial</a:t>
                      </a:r>
                      <a:endParaRPr lang="en-US" sz="900" dirty="0">
                        <a:latin typeface="Calibri" charset="0"/>
                        <a:ea typeface="Calibri" charset="0"/>
                        <a:cs typeface="Calibri" charset="0"/>
                      </a:endParaRPr>
                    </a:p>
                  </a:txBody>
                  <a:tcPr anchor="ctr">
                    <a:lnL w="6350" cap="flat" cmpd="sng" algn="ctr">
                      <a:solidFill>
                        <a:srgbClr val="C5D8D8"/>
                      </a:solidFill>
                      <a:prstDash val="solid"/>
                      <a:round/>
                      <a:headEnd type="none" w="med" len="med"/>
                      <a:tailEnd type="none" w="med" len="med"/>
                    </a:lnL>
                    <a:lnR w="6350" cap="flat" cmpd="sng" algn="ctr">
                      <a:solidFill>
                        <a:srgbClr val="C5D8D8"/>
                      </a:solidFill>
                      <a:prstDash val="solid"/>
                      <a:round/>
                      <a:headEnd type="none" w="med" len="med"/>
                      <a:tailEnd type="none" w="med" len="med"/>
                    </a:lnR>
                    <a:lnT w="6350" cap="flat" cmpd="sng" algn="ctr">
                      <a:solidFill>
                        <a:srgbClr val="C5D8D8"/>
                      </a:solidFill>
                      <a:prstDash val="solid"/>
                      <a:round/>
                      <a:headEnd type="none" w="med" len="med"/>
                      <a:tailEnd type="none" w="med" len="med"/>
                    </a:lnT>
                    <a:lnB w="6350" cap="flat" cmpd="sng" algn="ctr">
                      <a:solidFill>
                        <a:srgbClr val="C5D8D8"/>
                      </a:solidFill>
                      <a:prstDash val="solid"/>
                      <a:round/>
                      <a:headEnd type="none" w="med" len="med"/>
                      <a:tailEnd type="none" w="med" len="med"/>
                    </a:lnB>
                  </a:tcPr>
                </a:tc>
                <a:extLst>
                  <a:ext uri="{0D108BD9-81ED-4DB2-BD59-A6C34878D82A}">
                    <a16:rowId xmlns:a16="http://schemas.microsoft.com/office/drawing/2014/main" val="10005"/>
                  </a:ext>
                </a:extLst>
              </a:tr>
              <a:tr h="0">
                <a:tc>
                  <a:txBody>
                    <a:bodyPr/>
                    <a:lstStyle/>
                    <a:p>
                      <a:pPr marL="0" indent="0" algn="l">
                        <a:buNone/>
                      </a:pPr>
                      <a:r>
                        <a:rPr lang="en-US" sz="900" b="1" dirty="0">
                          <a:solidFill>
                            <a:srgbClr val="334155"/>
                          </a:solidFill>
                          <a:latin typeface="Calibri" pitchFamily="34" charset="0"/>
                          <a:ea typeface="Calibri" pitchFamily="34" charset="-122"/>
                          <a:cs typeface="Calibri" pitchFamily="34" charset="-120"/>
                        </a:rPr>
                        <a:t>CCGT</a:t>
                      </a:r>
                      <a:endParaRPr lang="en-US" sz="900" dirty="0">
                        <a:latin typeface="Calibri" charset="0"/>
                        <a:ea typeface="Calibri" charset="0"/>
                        <a:cs typeface="Calibri" charset="0"/>
                      </a:endParaRPr>
                    </a:p>
                  </a:txBody>
                  <a:tcPr anchor="ctr">
                    <a:lnL w="6350" cap="flat" cmpd="sng" algn="ctr">
                      <a:solidFill>
                        <a:srgbClr val="C5D8D8"/>
                      </a:solidFill>
                      <a:prstDash val="solid"/>
                      <a:round/>
                      <a:headEnd type="none" w="med" len="med"/>
                      <a:tailEnd type="none" w="med" len="med"/>
                    </a:lnL>
                    <a:lnR w="6350" cap="flat" cmpd="sng" algn="ctr">
                      <a:solidFill>
                        <a:srgbClr val="C5D8D8"/>
                      </a:solidFill>
                      <a:prstDash val="solid"/>
                      <a:round/>
                      <a:headEnd type="none" w="med" len="med"/>
                      <a:tailEnd type="none" w="med" len="med"/>
                    </a:lnR>
                    <a:lnT w="6350" cap="flat" cmpd="sng" algn="ctr">
                      <a:solidFill>
                        <a:srgbClr val="C5D8D8"/>
                      </a:solidFill>
                      <a:prstDash val="solid"/>
                      <a:round/>
                      <a:headEnd type="none" w="med" len="med"/>
                      <a:tailEnd type="none" w="med" len="med"/>
                    </a:lnT>
                    <a:lnB w="6350" cap="flat" cmpd="sng" algn="ctr">
                      <a:solidFill>
                        <a:srgbClr val="C5D8D8"/>
                      </a:solidFill>
                      <a:prstDash val="solid"/>
                      <a:round/>
                      <a:headEnd type="none" w="med" len="med"/>
                      <a:tailEnd type="none" w="med" len="med"/>
                    </a:lnB>
                  </a:tcPr>
                </a:tc>
                <a:tc>
                  <a:txBody>
                    <a:bodyPr/>
                    <a:lstStyle/>
                    <a:p>
                      <a:pPr marL="0" indent="0" algn="ctr">
                        <a:buNone/>
                      </a:pPr>
                      <a:r>
                        <a:rPr lang="en-US" sz="900" dirty="0">
                          <a:solidFill>
                            <a:srgbClr val="334155"/>
                          </a:solidFill>
                          <a:latin typeface="Calibri" pitchFamily="34" charset="0"/>
                          <a:ea typeface="Calibri" pitchFamily="34" charset="-122"/>
                          <a:cs typeface="Calibri" pitchFamily="34" charset="-120"/>
                        </a:rPr>
                        <a:t>1.0</a:t>
                      </a:r>
                      <a:endParaRPr lang="en-US" sz="900" dirty="0">
                        <a:latin typeface="Calibri" charset="0"/>
                        <a:ea typeface="Calibri" charset="0"/>
                        <a:cs typeface="Calibri" charset="0"/>
                      </a:endParaRPr>
                    </a:p>
                  </a:txBody>
                  <a:tcPr anchor="ctr">
                    <a:lnL w="6350" cap="flat" cmpd="sng" algn="ctr">
                      <a:solidFill>
                        <a:srgbClr val="C5D8D8"/>
                      </a:solidFill>
                      <a:prstDash val="solid"/>
                      <a:round/>
                      <a:headEnd type="none" w="med" len="med"/>
                      <a:tailEnd type="none" w="med" len="med"/>
                    </a:lnL>
                    <a:lnR w="6350" cap="flat" cmpd="sng" algn="ctr">
                      <a:solidFill>
                        <a:srgbClr val="C5D8D8"/>
                      </a:solidFill>
                      <a:prstDash val="solid"/>
                      <a:round/>
                      <a:headEnd type="none" w="med" len="med"/>
                      <a:tailEnd type="none" w="med" len="med"/>
                    </a:lnR>
                    <a:lnT w="6350" cap="flat" cmpd="sng" algn="ctr">
                      <a:solidFill>
                        <a:srgbClr val="C5D8D8"/>
                      </a:solidFill>
                      <a:prstDash val="solid"/>
                      <a:round/>
                      <a:headEnd type="none" w="med" len="med"/>
                      <a:tailEnd type="none" w="med" len="med"/>
                    </a:lnT>
                    <a:lnB w="6350" cap="flat" cmpd="sng" algn="ctr">
                      <a:solidFill>
                        <a:srgbClr val="C5D8D8"/>
                      </a:solidFill>
                      <a:prstDash val="solid"/>
                      <a:round/>
                      <a:headEnd type="none" w="med" len="med"/>
                      <a:tailEnd type="none" w="med" len="med"/>
                    </a:lnB>
                  </a:tcPr>
                </a:tc>
                <a:tc>
                  <a:txBody>
                    <a:bodyPr/>
                    <a:lstStyle/>
                    <a:p>
                      <a:pPr marL="0" indent="0" algn="ctr">
                        <a:buNone/>
                      </a:pPr>
                      <a:r>
                        <a:rPr lang="en-US" sz="900" dirty="0">
                          <a:solidFill>
                            <a:srgbClr val="334155"/>
                          </a:solidFill>
                          <a:latin typeface="Calibri" pitchFamily="34" charset="0"/>
                          <a:ea typeface="Calibri" pitchFamily="34" charset="-122"/>
                          <a:cs typeface="Calibri" pitchFamily="34" charset="-120"/>
                        </a:rPr>
                        <a:t>1.10</a:t>
                      </a:r>
                      <a:endParaRPr lang="en-US" sz="900" dirty="0">
                        <a:latin typeface="Calibri" charset="0"/>
                        <a:ea typeface="Calibri" charset="0"/>
                        <a:cs typeface="Calibri" charset="0"/>
                      </a:endParaRPr>
                    </a:p>
                  </a:txBody>
                  <a:tcPr anchor="ctr">
                    <a:lnL w="6350" cap="flat" cmpd="sng" algn="ctr">
                      <a:solidFill>
                        <a:srgbClr val="C5D8D8"/>
                      </a:solidFill>
                      <a:prstDash val="solid"/>
                      <a:round/>
                      <a:headEnd type="none" w="med" len="med"/>
                      <a:tailEnd type="none" w="med" len="med"/>
                    </a:lnL>
                    <a:lnR w="6350" cap="flat" cmpd="sng" algn="ctr">
                      <a:solidFill>
                        <a:srgbClr val="C5D8D8"/>
                      </a:solidFill>
                      <a:prstDash val="solid"/>
                      <a:round/>
                      <a:headEnd type="none" w="med" len="med"/>
                      <a:tailEnd type="none" w="med" len="med"/>
                    </a:lnR>
                    <a:lnT w="6350" cap="flat" cmpd="sng" algn="ctr">
                      <a:solidFill>
                        <a:srgbClr val="C5D8D8"/>
                      </a:solidFill>
                      <a:prstDash val="solid"/>
                      <a:round/>
                      <a:headEnd type="none" w="med" len="med"/>
                      <a:tailEnd type="none" w="med" len="med"/>
                    </a:lnT>
                    <a:lnB w="6350" cap="flat" cmpd="sng" algn="ctr">
                      <a:solidFill>
                        <a:srgbClr val="C5D8D8"/>
                      </a:solidFill>
                      <a:prstDash val="solid"/>
                      <a:round/>
                      <a:headEnd type="none" w="med" len="med"/>
                      <a:tailEnd type="none" w="med" len="med"/>
                    </a:lnB>
                  </a:tcPr>
                </a:tc>
                <a:tc>
                  <a:txBody>
                    <a:bodyPr/>
                    <a:lstStyle/>
                    <a:p>
                      <a:pPr marL="0" indent="0" algn="ctr">
                        <a:buNone/>
                      </a:pPr>
                      <a:r>
                        <a:rPr lang="en-US" sz="900" dirty="0">
                          <a:solidFill>
                            <a:srgbClr val="334155"/>
                          </a:solidFill>
                          <a:latin typeface="Calibri" pitchFamily="34" charset="0"/>
                          <a:ea typeface="Calibri" pitchFamily="34" charset="-122"/>
                          <a:cs typeface="Calibri" pitchFamily="34" charset="-120"/>
                        </a:rPr>
                        <a:t>1.90</a:t>
                      </a:r>
                      <a:endParaRPr lang="en-US" sz="900" dirty="0">
                        <a:latin typeface="Calibri" charset="0"/>
                        <a:ea typeface="Calibri" charset="0"/>
                        <a:cs typeface="Calibri" charset="0"/>
                      </a:endParaRPr>
                    </a:p>
                  </a:txBody>
                  <a:tcPr anchor="ctr">
                    <a:lnL w="6350" cap="flat" cmpd="sng" algn="ctr">
                      <a:solidFill>
                        <a:srgbClr val="C5D8D8"/>
                      </a:solidFill>
                      <a:prstDash val="solid"/>
                      <a:round/>
                      <a:headEnd type="none" w="med" len="med"/>
                      <a:tailEnd type="none" w="med" len="med"/>
                    </a:lnL>
                    <a:lnR w="6350" cap="flat" cmpd="sng" algn="ctr">
                      <a:solidFill>
                        <a:srgbClr val="C5D8D8"/>
                      </a:solidFill>
                      <a:prstDash val="solid"/>
                      <a:round/>
                      <a:headEnd type="none" w="med" len="med"/>
                      <a:tailEnd type="none" w="med" len="med"/>
                    </a:lnR>
                    <a:lnT w="6350" cap="flat" cmpd="sng" algn="ctr">
                      <a:solidFill>
                        <a:srgbClr val="C5D8D8"/>
                      </a:solidFill>
                      <a:prstDash val="solid"/>
                      <a:round/>
                      <a:headEnd type="none" w="med" len="med"/>
                      <a:tailEnd type="none" w="med" len="med"/>
                    </a:lnT>
                    <a:lnB w="6350" cap="flat" cmpd="sng" algn="ctr">
                      <a:solidFill>
                        <a:srgbClr val="C5D8D8"/>
                      </a:solidFill>
                      <a:prstDash val="solid"/>
                      <a:round/>
                      <a:headEnd type="none" w="med" len="med"/>
                      <a:tailEnd type="none" w="med" len="med"/>
                    </a:lnB>
                  </a:tcPr>
                </a:tc>
                <a:tc>
                  <a:txBody>
                    <a:bodyPr/>
                    <a:lstStyle/>
                    <a:p>
                      <a:pPr marL="0" indent="0" algn="ctr">
                        <a:buNone/>
                      </a:pPr>
                      <a:r>
                        <a:rPr lang="en-US" sz="900" dirty="0">
                          <a:solidFill>
                            <a:srgbClr val="F59E0B"/>
                          </a:solidFill>
                          <a:latin typeface="Calibri" pitchFamily="34" charset="0"/>
                          <a:ea typeface="Calibri" pitchFamily="34" charset="-122"/>
                          <a:cs typeface="Calibri" pitchFamily="34" charset="-120"/>
                        </a:rPr>
                        <a:t>1.0*</a:t>
                      </a:r>
                      <a:endParaRPr lang="en-US" sz="900" dirty="0">
                        <a:latin typeface="Calibri" charset="0"/>
                        <a:ea typeface="Calibri" charset="0"/>
                        <a:cs typeface="Calibri" charset="0"/>
                      </a:endParaRPr>
                    </a:p>
                  </a:txBody>
                  <a:tcPr anchor="ctr">
                    <a:lnL w="6350" cap="flat" cmpd="sng" algn="ctr">
                      <a:solidFill>
                        <a:srgbClr val="C5D8D8"/>
                      </a:solidFill>
                      <a:prstDash val="solid"/>
                      <a:round/>
                      <a:headEnd type="none" w="med" len="med"/>
                      <a:tailEnd type="none" w="med" len="med"/>
                    </a:lnL>
                    <a:lnR w="6350" cap="flat" cmpd="sng" algn="ctr">
                      <a:solidFill>
                        <a:srgbClr val="C5D8D8"/>
                      </a:solidFill>
                      <a:prstDash val="solid"/>
                      <a:round/>
                      <a:headEnd type="none" w="med" len="med"/>
                      <a:tailEnd type="none" w="med" len="med"/>
                    </a:lnR>
                    <a:lnT w="6350" cap="flat" cmpd="sng" algn="ctr">
                      <a:solidFill>
                        <a:srgbClr val="C5D8D8"/>
                      </a:solidFill>
                      <a:prstDash val="solid"/>
                      <a:round/>
                      <a:headEnd type="none" w="med" len="med"/>
                      <a:tailEnd type="none" w="med" len="med"/>
                    </a:lnT>
                    <a:lnB w="6350" cap="flat" cmpd="sng" algn="ctr">
                      <a:solidFill>
                        <a:srgbClr val="C5D8D8"/>
                      </a:solidFill>
                      <a:prstDash val="solid"/>
                      <a:round/>
                      <a:headEnd type="none" w="med" len="med"/>
                      <a:tailEnd type="none" w="med" len="med"/>
                    </a:lnB>
                  </a:tcPr>
                </a:tc>
                <a:tc>
                  <a:txBody>
                    <a:bodyPr/>
                    <a:lstStyle/>
                    <a:p>
                      <a:pPr marL="0" indent="0" algn="ctr">
                        <a:buNone/>
                      </a:pPr>
                      <a:r>
                        <a:rPr lang="en-US" sz="900" dirty="0">
                          <a:solidFill>
                            <a:srgbClr val="F59E0B"/>
                          </a:solidFill>
                          <a:latin typeface="Calibri" pitchFamily="34" charset="0"/>
                          <a:ea typeface="Calibri" pitchFamily="34" charset="-122"/>
                          <a:cs typeface="Calibri" pitchFamily="34" charset="-120"/>
                        </a:rPr>
                        <a:t>1.0*</a:t>
                      </a:r>
                      <a:endParaRPr lang="en-US" sz="900" dirty="0">
                        <a:latin typeface="Calibri" charset="0"/>
                        <a:ea typeface="Calibri" charset="0"/>
                        <a:cs typeface="Calibri" charset="0"/>
                      </a:endParaRPr>
                    </a:p>
                  </a:txBody>
                  <a:tcPr anchor="ctr">
                    <a:lnL w="6350" cap="flat" cmpd="sng" algn="ctr">
                      <a:solidFill>
                        <a:srgbClr val="C5D8D8"/>
                      </a:solidFill>
                      <a:prstDash val="solid"/>
                      <a:round/>
                      <a:headEnd type="none" w="med" len="med"/>
                      <a:tailEnd type="none" w="med" len="med"/>
                    </a:lnL>
                    <a:lnR w="6350" cap="flat" cmpd="sng" algn="ctr">
                      <a:solidFill>
                        <a:srgbClr val="C5D8D8"/>
                      </a:solidFill>
                      <a:prstDash val="solid"/>
                      <a:round/>
                      <a:headEnd type="none" w="med" len="med"/>
                      <a:tailEnd type="none" w="med" len="med"/>
                    </a:lnR>
                    <a:lnT w="6350" cap="flat" cmpd="sng" algn="ctr">
                      <a:solidFill>
                        <a:srgbClr val="C5D8D8"/>
                      </a:solidFill>
                      <a:prstDash val="solid"/>
                      <a:round/>
                      <a:headEnd type="none" w="med" len="med"/>
                      <a:tailEnd type="none" w="med" len="med"/>
                    </a:lnT>
                    <a:lnB w="6350" cap="flat" cmpd="sng" algn="ctr">
                      <a:solidFill>
                        <a:srgbClr val="C5D8D8"/>
                      </a:solidFill>
                      <a:prstDash val="solid"/>
                      <a:round/>
                      <a:headEnd type="none" w="med" len="med"/>
                      <a:tailEnd type="none" w="med" len="med"/>
                    </a:lnB>
                  </a:tcPr>
                </a:tc>
                <a:tc>
                  <a:txBody>
                    <a:bodyPr/>
                    <a:lstStyle/>
                    <a:p>
                      <a:pPr marL="0" indent="0" algn="ctr">
                        <a:buNone/>
                      </a:pPr>
                      <a:r>
                        <a:rPr lang="en-US" sz="900" dirty="0">
                          <a:solidFill>
                            <a:srgbClr val="F59E0B"/>
                          </a:solidFill>
                          <a:latin typeface="Calibri" pitchFamily="34" charset="0"/>
                          <a:ea typeface="Calibri" pitchFamily="34" charset="-122"/>
                          <a:cs typeface="Calibri" pitchFamily="34" charset="-120"/>
                        </a:rPr>
                        <a:t>1.0*</a:t>
                      </a:r>
                      <a:endParaRPr lang="en-US" sz="900" dirty="0">
                        <a:latin typeface="Calibri" charset="0"/>
                        <a:ea typeface="Calibri" charset="0"/>
                        <a:cs typeface="Calibri" charset="0"/>
                      </a:endParaRPr>
                    </a:p>
                  </a:txBody>
                  <a:tcPr anchor="ctr">
                    <a:lnL w="6350" cap="flat" cmpd="sng" algn="ctr">
                      <a:solidFill>
                        <a:srgbClr val="C5D8D8"/>
                      </a:solidFill>
                      <a:prstDash val="solid"/>
                      <a:round/>
                      <a:headEnd type="none" w="med" len="med"/>
                      <a:tailEnd type="none" w="med" len="med"/>
                    </a:lnL>
                    <a:lnR w="6350" cap="flat" cmpd="sng" algn="ctr">
                      <a:solidFill>
                        <a:srgbClr val="C5D8D8"/>
                      </a:solidFill>
                      <a:prstDash val="solid"/>
                      <a:round/>
                      <a:headEnd type="none" w="med" len="med"/>
                      <a:tailEnd type="none" w="med" len="med"/>
                    </a:lnR>
                    <a:lnT w="6350" cap="flat" cmpd="sng" algn="ctr">
                      <a:solidFill>
                        <a:srgbClr val="C5D8D8"/>
                      </a:solidFill>
                      <a:prstDash val="solid"/>
                      <a:round/>
                      <a:headEnd type="none" w="med" len="med"/>
                      <a:tailEnd type="none" w="med" len="med"/>
                    </a:lnT>
                    <a:lnB w="6350" cap="flat" cmpd="sng" algn="ctr">
                      <a:solidFill>
                        <a:srgbClr val="C5D8D8"/>
                      </a:solidFill>
                      <a:prstDash val="solid"/>
                      <a:round/>
                      <a:headEnd type="none" w="med" len="med"/>
                      <a:tailEnd type="none" w="med" len="med"/>
                    </a:lnB>
                  </a:tcPr>
                </a:tc>
                <a:tc>
                  <a:txBody>
                    <a:bodyPr/>
                    <a:lstStyle/>
                    <a:p>
                      <a:pPr marL="0" indent="0" algn="ctr">
                        <a:buNone/>
                      </a:pPr>
                      <a:r>
                        <a:rPr lang="en-US" sz="900" b="1" dirty="0">
                          <a:solidFill>
                            <a:srgbClr val="F59E0B"/>
                          </a:solidFill>
                          <a:latin typeface="Calibri" pitchFamily="34" charset="0"/>
                          <a:ea typeface="Calibri" pitchFamily="34" charset="-122"/>
                          <a:cs typeface="Calibri" pitchFamily="34" charset="-120"/>
                        </a:rPr>
                        <a:t>Partial</a:t>
                      </a:r>
                      <a:endParaRPr lang="en-US" sz="900" dirty="0">
                        <a:latin typeface="Calibri" charset="0"/>
                        <a:ea typeface="Calibri" charset="0"/>
                        <a:cs typeface="Calibri" charset="0"/>
                      </a:endParaRPr>
                    </a:p>
                  </a:txBody>
                  <a:tcPr anchor="ctr">
                    <a:lnL w="6350" cap="flat" cmpd="sng" algn="ctr">
                      <a:solidFill>
                        <a:srgbClr val="C5D8D8"/>
                      </a:solidFill>
                      <a:prstDash val="solid"/>
                      <a:round/>
                      <a:headEnd type="none" w="med" len="med"/>
                      <a:tailEnd type="none" w="med" len="med"/>
                    </a:lnL>
                    <a:lnR w="6350" cap="flat" cmpd="sng" algn="ctr">
                      <a:solidFill>
                        <a:srgbClr val="C5D8D8"/>
                      </a:solidFill>
                      <a:prstDash val="solid"/>
                      <a:round/>
                      <a:headEnd type="none" w="med" len="med"/>
                      <a:tailEnd type="none" w="med" len="med"/>
                    </a:lnR>
                    <a:lnT w="6350" cap="flat" cmpd="sng" algn="ctr">
                      <a:solidFill>
                        <a:srgbClr val="C5D8D8"/>
                      </a:solidFill>
                      <a:prstDash val="solid"/>
                      <a:round/>
                      <a:headEnd type="none" w="med" len="med"/>
                      <a:tailEnd type="none" w="med" len="med"/>
                    </a:lnT>
                    <a:lnB w="6350" cap="flat" cmpd="sng" algn="ctr">
                      <a:solidFill>
                        <a:srgbClr val="C5D8D8"/>
                      </a:solidFill>
                      <a:prstDash val="solid"/>
                      <a:round/>
                      <a:headEnd type="none" w="med" len="med"/>
                      <a:tailEnd type="none" w="med" len="med"/>
                    </a:lnB>
                  </a:tcPr>
                </a:tc>
                <a:extLst>
                  <a:ext uri="{0D108BD9-81ED-4DB2-BD59-A6C34878D82A}">
                    <a16:rowId xmlns:a16="http://schemas.microsoft.com/office/drawing/2014/main" val="10006"/>
                  </a:ext>
                </a:extLst>
              </a:tr>
              <a:tr h="0">
                <a:tc>
                  <a:txBody>
                    <a:bodyPr/>
                    <a:lstStyle/>
                    <a:p>
                      <a:pPr marL="0" indent="0" algn="l">
                        <a:buNone/>
                      </a:pPr>
                      <a:r>
                        <a:rPr lang="en-US" sz="900" b="1" dirty="0">
                          <a:solidFill>
                            <a:srgbClr val="334155"/>
                          </a:solidFill>
                          <a:latin typeface="Calibri" pitchFamily="34" charset="0"/>
                          <a:ea typeface="Calibri" pitchFamily="34" charset="-122"/>
                          <a:cs typeface="Calibri" pitchFamily="34" charset="-120"/>
                        </a:rPr>
                        <a:t>BESS 4h</a:t>
                      </a:r>
                      <a:endParaRPr lang="en-US" sz="900" dirty="0">
                        <a:latin typeface="Calibri" charset="0"/>
                        <a:ea typeface="Calibri" charset="0"/>
                        <a:cs typeface="Calibri" charset="0"/>
                      </a:endParaRPr>
                    </a:p>
                  </a:txBody>
                  <a:tcPr anchor="ctr">
                    <a:lnL w="6350" cap="flat" cmpd="sng" algn="ctr">
                      <a:solidFill>
                        <a:srgbClr val="C5D8D8"/>
                      </a:solidFill>
                      <a:prstDash val="solid"/>
                      <a:round/>
                      <a:headEnd type="none" w="med" len="med"/>
                      <a:tailEnd type="none" w="med" len="med"/>
                    </a:lnL>
                    <a:lnR w="6350" cap="flat" cmpd="sng" algn="ctr">
                      <a:solidFill>
                        <a:srgbClr val="C5D8D8"/>
                      </a:solidFill>
                      <a:prstDash val="solid"/>
                      <a:round/>
                      <a:headEnd type="none" w="med" len="med"/>
                      <a:tailEnd type="none" w="med" len="med"/>
                    </a:lnR>
                    <a:lnT w="6350" cap="flat" cmpd="sng" algn="ctr">
                      <a:solidFill>
                        <a:srgbClr val="C5D8D8"/>
                      </a:solidFill>
                      <a:prstDash val="solid"/>
                      <a:round/>
                      <a:headEnd type="none" w="med" len="med"/>
                      <a:tailEnd type="none" w="med" len="med"/>
                    </a:lnT>
                    <a:lnB w="6350" cap="flat" cmpd="sng" algn="ctr">
                      <a:solidFill>
                        <a:srgbClr val="C5D8D8"/>
                      </a:solidFill>
                      <a:prstDash val="solid"/>
                      <a:round/>
                      <a:headEnd type="none" w="med" len="med"/>
                      <a:tailEnd type="none" w="med" len="med"/>
                    </a:lnB>
                  </a:tcPr>
                </a:tc>
                <a:tc>
                  <a:txBody>
                    <a:bodyPr/>
                    <a:lstStyle/>
                    <a:p>
                      <a:pPr marL="0" indent="0" algn="ctr">
                        <a:buNone/>
                      </a:pPr>
                      <a:r>
                        <a:rPr lang="en-US" sz="900" dirty="0">
                          <a:solidFill>
                            <a:srgbClr val="334155"/>
                          </a:solidFill>
                          <a:latin typeface="Calibri" pitchFamily="34" charset="0"/>
                          <a:ea typeface="Calibri" pitchFamily="34" charset="-122"/>
                          <a:cs typeface="Calibri" pitchFamily="34" charset="-120"/>
                        </a:rPr>
                        <a:t>1.0</a:t>
                      </a:r>
                      <a:endParaRPr lang="en-US" sz="900" dirty="0">
                        <a:latin typeface="Calibri" charset="0"/>
                        <a:ea typeface="Calibri" charset="0"/>
                        <a:cs typeface="Calibri" charset="0"/>
                      </a:endParaRPr>
                    </a:p>
                  </a:txBody>
                  <a:tcPr anchor="ctr">
                    <a:lnL w="6350" cap="flat" cmpd="sng" algn="ctr">
                      <a:solidFill>
                        <a:srgbClr val="C5D8D8"/>
                      </a:solidFill>
                      <a:prstDash val="solid"/>
                      <a:round/>
                      <a:headEnd type="none" w="med" len="med"/>
                      <a:tailEnd type="none" w="med" len="med"/>
                    </a:lnL>
                    <a:lnR w="6350" cap="flat" cmpd="sng" algn="ctr">
                      <a:solidFill>
                        <a:srgbClr val="C5D8D8"/>
                      </a:solidFill>
                      <a:prstDash val="solid"/>
                      <a:round/>
                      <a:headEnd type="none" w="med" len="med"/>
                      <a:tailEnd type="none" w="med" len="med"/>
                    </a:lnR>
                    <a:lnT w="6350" cap="flat" cmpd="sng" algn="ctr">
                      <a:solidFill>
                        <a:srgbClr val="C5D8D8"/>
                      </a:solidFill>
                      <a:prstDash val="solid"/>
                      <a:round/>
                      <a:headEnd type="none" w="med" len="med"/>
                      <a:tailEnd type="none" w="med" len="med"/>
                    </a:lnT>
                    <a:lnB w="6350" cap="flat" cmpd="sng" algn="ctr">
                      <a:solidFill>
                        <a:srgbClr val="C5D8D8"/>
                      </a:solidFill>
                      <a:prstDash val="solid"/>
                      <a:round/>
                      <a:headEnd type="none" w="med" len="med"/>
                      <a:tailEnd type="none" w="med" len="med"/>
                    </a:lnB>
                  </a:tcPr>
                </a:tc>
                <a:tc>
                  <a:txBody>
                    <a:bodyPr/>
                    <a:lstStyle/>
                    <a:p>
                      <a:pPr marL="0" indent="0" algn="ctr">
                        <a:buNone/>
                      </a:pPr>
                      <a:r>
                        <a:rPr lang="en-US" sz="900" dirty="0">
                          <a:solidFill>
                            <a:srgbClr val="334155"/>
                          </a:solidFill>
                          <a:latin typeface="Calibri" pitchFamily="34" charset="0"/>
                          <a:ea typeface="Calibri" pitchFamily="34" charset="-122"/>
                          <a:cs typeface="Calibri" pitchFamily="34" charset="-120"/>
                        </a:rPr>
                        <a:t>1.0</a:t>
                      </a:r>
                      <a:endParaRPr lang="en-US" sz="900" dirty="0">
                        <a:latin typeface="Calibri" charset="0"/>
                        <a:ea typeface="Calibri" charset="0"/>
                        <a:cs typeface="Calibri" charset="0"/>
                      </a:endParaRPr>
                    </a:p>
                  </a:txBody>
                  <a:tcPr anchor="ctr">
                    <a:lnL w="6350" cap="flat" cmpd="sng" algn="ctr">
                      <a:solidFill>
                        <a:srgbClr val="C5D8D8"/>
                      </a:solidFill>
                      <a:prstDash val="solid"/>
                      <a:round/>
                      <a:headEnd type="none" w="med" len="med"/>
                      <a:tailEnd type="none" w="med" len="med"/>
                    </a:lnL>
                    <a:lnR w="6350" cap="flat" cmpd="sng" algn="ctr">
                      <a:solidFill>
                        <a:srgbClr val="C5D8D8"/>
                      </a:solidFill>
                      <a:prstDash val="solid"/>
                      <a:round/>
                      <a:headEnd type="none" w="med" len="med"/>
                      <a:tailEnd type="none" w="med" len="med"/>
                    </a:lnR>
                    <a:lnT w="6350" cap="flat" cmpd="sng" algn="ctr">
                      <a:solidFill>
                        <a:srgbClr val="C5D8D8"/>
                      </a:solidFill>
                      <a:prstDash val="solid"/>
                      <a:round/>
                      <a:headEnd type="none" w="med" len="med"/>
                      <a:tailEnd type="none" w="med" len="med"/>
                    </a:lnT>
                    <a:lnB w="6350" cap="flat" cmpd="sng" algn="ctr">
                      <a:solidFill>
                        <a:srgbClr val="C5D8D8"/>
                      </a:solidFill>
                      <a:prstDash val="solid"/>
                      <a:round/>
                      <a:headEnd type="none" w="med" len="med"/>
                      <a:tailEnd type="none" w="med" len="med"/>
                    </a:lnB>
                  </a:tcPr>
                </a:tc>
                <a:tc>
                  <a:txBody>
                    <a:bodyPr/>
                    <a:lstStyle/>
                    <a:p>
                      <a:pPr marL="0" indent="0" algn="ctr">
                        <a:buNone/>
                      </a:pPr>
                      <a:r>
                        <a:rPr lang="en-US" sz="900" dirty="0">
                          <a:solidFill>
                            <a:srgbClr val="334155"/>
                          </a:solidFill>
                          <a:latin typeface="Calibri" pitchFamily="34" charset="0"/>
                          <a:ea typeface="Calibri" pitchFamily="34" charset="-122"/>
                          <a:cs typeface="Calibri" pitchFamily="34" charset="-120"/>
                        </a:rPr>
                        <a:t>1.0</a:t>
                      </a:r>
                      <a:endParaRPr lang="en-US" sz="900" dirty="0">
                        <a:latin typeface="Calibri" charset="0"/>
                        <a:ea typeface="Calibri" charset="0"/>
                        <a:cs typeface="Calibri" charset="0"/>
                      </a:endParaRPr>
                    </a:p>
                  </a:txBody>
                  <a:tcPr anchor="ctr">
                    <a:lnL w="6350" cap="flat" cmpd="sng" algn="ctr">
                      <a:solidFill>
                        <a:srgbClr val="C5D8D8"/>
                      </a:solidFill>
                      <a:prstDash val="solid"/>
                      <a:round/>
                      <a:headEnd type="none" w="med" len="med"/>
                      <a:tailEnd type="none" w="med" len="med"/>
                    </a:lnL>
                    <a:lnR w="6350" cap="flat" cmpd="sng" algn="ctr">
                      <a:solidFill>
                        <a:srgbClr val="C5D8D8"/>
                      </a:solidFill>
                      <a:prstDash val="solid"/>
                      <a:round/>
                      <a:headEnd type="none" w="med" len="med"/>
                      <a:tailEnd type="none" w="med" len="med"/>
                    </a:lnR>
                    <a:lnT w="6350" cap="flat" cmpd="sng" algn="ctr">
                      <a:solidFill>
                        <a:srgbClr val="C5D8D8"/>
                      </a:solidFill>
                      <a:prstDash val="solid"/>
                      <a:round/>
                      <a:headEnd type="none" w="med" len="med"/>
                      <a:tailEnd type="none" w="med" len="med"/>
                    </a:lnT>
                    <a:lnB w="6350" cap="flat" cmpd="sng" algn="ctr">
                      <a:solidFill>
                        <a:srgbClr val="C5D8D8"/>
                      </a:solidFill>
                      <a:prstDash val="solid"/>
                      <a:round/>
                      <a:headEnd type="none" w="med" len="med"/>
                      <a:tailEnd type="none" w="med" len="med"/>
                    </a:lnB>
                  </a:tcPr>
                </a:tc>
                <a:tc>
                  <a:txBody>
                    <a:bodyPr/>
                    <a:lstStyle/>
                    <a:p>
                      <a:pPr marL="0" indent="0" algn="ctr">
                        <a:buNone/>
                      </a:pPr>
                      <a:r>
                        <a:rPr lang="en-US" sz="900" dirty="0">
                          <a:solidFill>
                            <a:srgbClr val="334155"/>
                          </a:solidFill>
                          <a:latin typeface="Calibri" pitchFamily="34" charset="0"/>
                          <a:ea typeface="Calibri" pitchFamily="34" charset="-122"/>
                          <a:cs typeface="Calibri" pitchFamily="34" charset="-120"/>
                        </a:rPr>
                        <a:t>1.0</a:t>
                      </a:r>
                      <a:endParaRPr lang="en-US" sz="900" dirty="0">
                        <a:latin typeface="Calibri" charset="0"/>
                        <a:ea typeface="Calibri" charset="0"/>
                        <a:cs typeface="Calibri" charset="0"/>
                      </a:endParaRPr>
                    </a:p>
                  </a:txBody>
                  <a:tcPr anchor="ctr">
                    <a:lnL w="6350" cap="flat" cmpd="sng" algn="ctr">
                      <a:solidFill>
                        <a:srgbClr val="C5D8D8"/>
                      </a:solidFill>
                      <a:prstDash val="solid"/>
                      <a:round/>
                      <a:headEnd type="none" w="med" len="med"/>
                      <a:tailEnd type="none" w="med" len="med"/>
                    </a:lnL>
                    <a:lnR w="6350" cap="flat" cmpd="sng" algn="ctr">
                      <a:solidFill>
                        <a:srgbClr val="C5D8D8"/>
                      </a:solidFill>
                      <a:prstDash val="solid"/>
                      <a:round/>
                      <a:headEnd type="none" w="med" len="med"/>
                      <a:tailEnd type="none" w="med" len="med"/>
                    </a:lnR>
                    <a:lnT w="6350" cap="flat" cmpd="sng" algn="ctr">
                      <a:solidFill>
                        <a:srgbClr val="C5D8D8"/>
                      </a:solidFill>
                      <a:prstDash val="solid"/>
                      <a:round/>
                      <a:headEnd type="none" w="med" len="med"/>
                      <a:tailEnd type="none" w="med" len="med"/>
                    </a:lnT>
                    <a:lnB w="6350" cap="flat" cmpd="sng" algn="ctr">
                      <a:solidFill>
                        <a:srgbClr val="C5D8D8"/>
                      </a:solidFill>
                      <a:prstDash val="solid"/>
                      <a:round/>
                      <a:headEnd type="none" w="med" len="med"/>
                      <a:tailEnd type="none" w="med" len="med"/>
                    </a:lnB>
                  </a:tcPr>
                </a:tc>
                <a:tc>
                  <a:txBody>
                    <a:bodyPr/>
                    <a:lstStyle/>
                    <a:p>
                      <a:pPr marL="0" indent="0" algn="ctr">
                        <a:buNone/>
                      </a:pPr>
                      <a:r>
                        <a:rPr lang="en-US" sz="900" b="0" dirty="0">
                          <a:solidFill>
                            <a:srgbClr val="334155"/>
                          </a:solidFill>
                          <a:latin typeface="Calibri" pitchFamily="34" charset="0"/>
                          <a:ea typeface="Calibri" pitchFamily="34" charset="-122"/>
                          <a:cs typeface="Calibri" pitchFamily="34" charset="-120"/>
                        </a:rPr>
                        <a:t>1.0</a:t>
                      </a:r>
                      <a:endParaRPr lang="en-US" sz="900" b="0" dirty="0">
                        <a:latin typeface="Calibri" charset="0"/>
                        <a:ea typeface="Calibri" charset="0"/>
                        <a:cs typeface="Calibri" charset="0"/>
                      </a:endParaRPr>
                    </a:p>
                  </a:txBody>
                  <a:tcPr anchor="ctr">
                    <a:lnL w="6350" cap="flat" cmpd="sng" algn="ctr">
                      <a:solidFill>
                        <a:srgbClr val="C5D8D8"/>
                      </a:solidFill>
                      <a:prstDash val="solid"/>
                      <a:round/>
                      <a:headEnd type="none" w="med" len="med"/>
                      <a:tailEnd type="none" w="med" len="med"/>
                    </a:lnL>
                    <a:lnR w="6350" cap="flat" cmpd="sng" algn="ctr">
                      <a:solidFill>
                        <a:srgbClr val="C5D8D8"/>
                      </a:solidFill>
                      <a:prstDash val="solid"/>
                      <a:round/>
                      <a:headEnd type="none" w="med" len="med"/>
                      <a:tailEnd type="none" w="med" len="med"/>
                    </a:lnR>
                    <a:lnT w="6350" cap="flat" cmpd="sng" algn="ctr">
                      <a:solidFill>
                        <a:srgbClr val="C5D8D8"/>
                      </a:solidFill>
                      <a:prstDash val="solid"/>
                      <a:round/>
                      <a:headEnd type="none" w="med" len="med"/>
                      <a:tailEnd type="none" w="med" len="med"/>
                    </a:lnT>
                    <a:lnB w="6350" cap="flat" cmpd="sng" algn="ctr">
                      <a:solidFill>
                        <a:srgbClr val="C5D8D8"/>
                      </a:solidFill>
                      <a:prstDash val="solid"/>
                      <a:round/>
                      <a:headEnd type="none" w="med" len="med"/>
                      <a:tailEnd type="none" w="med" len="med"/>
                    </a:lnB>
                  </a:tcPr>
                </a:tc>
                <a:tc>
                  <a:txBody>
                    <a:bodyPr/>
                    <a:lstStyle/>
                    <a:p>
                      <a:pPr marL="0" indent="0" algn="ctr">
                        <a:buNone/>
                      </a:pPr>
                      <a:r>
                        <a:rPr lang="en-US" sz="900" dirty="0">
                          <a:solidFill>
                            <a:srgbClr val="334155"/>
                          </a:solidFill>
                          <a:latin typeface="Calibri" pitchFamily="34" charset="0"/>
                          <a:ea typeface="Calibri" pitchFamily="34" charset="-122"/>
                          <a:cs typeface="Calibri" pitchFamily="34" charset="-120"/>
                        </a:rPr>
                        <a:t>1.0</a:t>
                      </a:r>
                      <a:endParaRPr lang="en-US" sz="900" dirty="0">
                        <a:latin typeface="Calibri" charset="0"/>
                        <a:ea typeface="Calibri" charset="0"/>
                        <a:cs typeface="Calibri" charset="0"/>
                      </a:endParaRPr>
                    </a:p>
                  </a:txBody>
                  <a:tcPr anchor="ctr">
                    <a:lnL w="6350" cap="flat" cmpd="sng" algn="ctr">
                      <a:solidFill>
                        <a:srgbClr val="C5D8D8"/>
                      </a:solidFill>
                      <a:prstDash val="solid"/>
                      <a:round/>
                      <a:headEnd type="none" w="med" len="med"/>
                      <a:tailEnd type="none" w="med" len="med"/>
                    </a:lnL>
                    <a:lnR w="6350" cap="flat" cmpd="sng" algn="ctr">
                      <a:solidFill>
                        <a:srgbClr val="C5D8D8"/>
                      </a:solidFill>
                      <a:prstDash val="solid"/>
                      <a:round/>
                      <a:headEnd type="none" w="med" len="med"/>
                      <a:tailEnd type="none" w="med" len="med"/>
                    </a:lnR>
                    <a:lnT w="6350" cap="flat" cmpd="sng" algn="ctr">
                      <a:solidFill>
                        <a:srgbClr val="C5D8D8"/>
                      </a:solidFill>
                      <a:prstDash val="solid"/>
                      <a:round/>
                      <a:headEnd type="none" w="med" len="med"/>
                      <a:tailEnd type="none" w="med" len="med"/>
                    </a:lnT>
                    <a:lnB w="6350" cap="flat" cmpd="sng" algn="ctr">
                      <a:solidFill>
                        <a:srgbClr val="C5D8D8"/>
                      </a:solidFill>
                      <a:prstDash val="solid"/>
                      <a:round/>
                      <a:headEnd type="none" w="med" len="med"/>
                      <a:tailEnd type="none" w="med" len="med"/>
                    </a:lnB>
                  </a:tcPr>
                </a:tc>
                <a:tc>
                  <a:txBody>
                    <a:bodyPr/>
                    <a:lstStyle/>
                    <a:p>
                      <a:pPr marL="0" indent="0" algn="ctr">
                        <a:buNone/>
                      </a:pPr>
                      <a:r>
                        <a:rPr lang="en-US" sz="900" b="1" dirty="0">
                          <a:solidFill>
                            <a:srgbClr val="EF4444"/>
                          </a:solidFill>
                          <a:latin typeface="Calibri" pitchFamily="34" charset="0"/>
                          <a:ea typeface="Calibri" pitchFamily="34" charset="-122"/>
                          <a:cs typeface="Calibri" pitchFamily="34" charset="-120"/>
                        </a:rPr>
                        <a:t>Low</a:t>
                      </a:r>
                      <a:endParaRPr lang="en-US" sz="900" dirty="0">
                        <a:latin typeface="Calibri" charset="0"/>
                        <a:ea typeface="Calibri" charset="0"/>
                        <a:cs typeface="Calibri" charset="0"/>
                      </a:endParaRPr>
                    </a:p>
                  </a:txBody>
                  <a:tcPr anchor="ctr">
                    <a:lnL w="6350" cap="flat" cmpd="sng" algn="ctr">
                      <a:solidFill>
                        <a:srgbClr val="C5D8D8"/>
                      </a:solidFill>
                      <a:prstDash val="solid"/>
                      <a:round/>
                      <a:headEnd type="none" w="med" len="med"/>
                      <a:tailEnd type="none" w="med" len="med"/>
                    </a:lnL>
                    <a:lnR w="6350" cap="flat" cmpd="sng" algn="ctr">
                      <a:solidFill>
                        <a:srgbClr val="C5D8D8"/>
                      </a:solidFill>
                      <a:prstDash val="solid"/>
                      <a:round/>
                      <a:headEnd type="none" w="med" len="med"/>
                      <a:tailEnd type="none" w="med" len="med"/>
                    </a:lnR>
                    <a:lnT w="6350" cap="flat" cmpd="sng" algn="ctr">
                      <a:solidFill>
                        <a:srgbClr val="C5D8D8"/>
                      </a:solidFill>
                      <a:prstDash val="solid"/>
                      <a:round/>
                      <a:headEnd type="none" w="med" len="med"/>
                      <a:tailEnd type="none" w="med" len="med"/>
                    </a:lnT>
                    <a:lnB w="6350" cap="flat" cmpd="sng" algn="ctr">
                      <a:solidFill>
                        <a:srgbClr val="C5D8D8"/>
                      </a:solidFill>
                      <a:prstDash val="solid"/>
                      <a:round/>
                      <a:headEnd type="none" w="med" len="med"/>
                      <a:tailEnd type="none" w="med" len="med"/>
                    </a:lnB>
                  </a:tcPr>
                </a:tc>
                <a:extLst>
                  <a:ext uri="{0D108BD9-81ED-4DB2-BD59-A6C34878D82A}">
                    <a16:rowId xmlns:a16="http://schemas.microsoft.com/office/drawing/2014/main" val="10007"/>
                  </a:ext>
                </a:extLst>
              </a:tr>
              <a:tr h="0">
                <a:tc>
                  <a:txBody>
                    <a:bodyPr/>
                    <a:lstStyle/>
                    <a:p>
                      <a:pPr marL="0" indent="0" algn="l">
                        <a:buNone/>
                      </a:pPr>
                      <a:r>
                        <a:rPr lang="en-US" sz="900" b="1" dirty="0">
                          <a:solidFill>
                            <a:srgbClr val="334155"/>
                          </a:solidFill>
                          <a:latin typeface="Calibri" pitchFamily="34" charset="0"/>
                          <a:ea typeface="Calibri" pitchFamily="34" charset="-122"/>
                          <a:cs typeface="Calibri" pitchFamily="34" charset="-120"/>
                        </a:rPr>
                        <a:t>Diesel</a:t>
                      </a:r>
                      <a:endParaRPr lang="en-US" sz="900" dirty="0">
                        <a:latin typeface="Calibri" charset="0"/>
                        <a:ea typeface="Calibri" charset="0"/>
                        <a:cs typeface="Calibri" charset="0"/>
                      </a:endParaRPr>
                    </a:p>
                  </a:txBody>
                  <a:tcPr anchor="ctr">
                    <a:lnL w="6350" cap="flat" cmpd="sng" algn="ctr">
                      <a:solidFill>
                        <a:srgbClr val="C5D8D8"/>
                      </a:solidFill>
                      <a:prstDash val="solid"/>
                      <a:round/>
                      <a:headEnd type="none" w="med" len="med"/>
                      <a:tailEnd type="none" w="med" len="med"/>
                    </a:lnL>
                    <a:lnR w="6350" cap="flat" cmpd="sng" algn="ctr">
                      <a:solidFill>
                        <a:srgbClr val="C5D8D8"/>
                      </a:solidFill>
                      <a:prstDash val="solid"/>
                      <a:round/>
                      <a:headEnd type="none" w="med" len="med"/>
                      <a:tailEnd type="none" w="med" len="med"/>
                    </a:lnR>
                    <a:lnT w="6350" cap="flat" cmpd="sng" algn="ctr">
                      <a:solidFill>
                        <a:srgbClr val="C5D8D8"/>
                      </a:solidFill>
                      <a:prstDash val="solid"/>
                      <a:round/>
                      <a:headEnd type="none" w="med" len="med"/>
                      <a:tailEnd type="none" w="med" len="med"/>
                    </a:lnT>
                    <a:lnB w="6350" cap="flat" cmpd="sng" algn="ctr">
                      <a:solidFill>
                        <a:srgbClr val="C5D8D8"/>
                      </a:solidFill>
                      <a:prstDash val="solid"/>
                      <a:round/>
                      <a:headEnd type="none" w="med" len="med"/>
                      <a:tailEnd type="none" w="med" len="med"/>
                    </a:lnB>
                  </a:tcPr>
                </a:tc>
                <a:tc>
                  <a:txBody>
                    <a:bodyPr/>
                    <a:lstStyle/>
                    <a:p>
                      <a:pPr marL="0" indent="0" algn="ctr">
                        <a:buNone/>
                      </a:pPr>
                      <a:r>
                        <a:rPr lang="en-US" sz="900" dirty="0">
                          <a:solidFill>
                            <a:srgbClr val="334155"/>
                          </a:solidFill>
                          <a:latin typeface="Calibri" pitchFamily="34" charset="0"/>
                          <a:ea typeface="Calibri" pitchFamily="34" charset="-122"/>
                          <a:cs typeface="Calibri" pitchFamily="34" charset="-120"/>
                        </a:rPr>
                        <a:t>1.0</a:t>
                      </a:r>
                      <a:endParaRPr lang="en-US" sz="900" dirty="0">
                        <a:latin typeface="Calibri" charset="0"/>
                        <a:ea typeface="Calibri" charset="0"/>
                        <a:cs typeface="Calibri" charset="0"/>
                      </a:endParaRPr>
                    </a:p>
                  </a:txBody>
                  <a:tcPr anchor="ctr">
                    <a:lnL w="6350" cap="flat" cmpd="sng" algn="ctr">
                      <a:solidFill>
                        <a:srgbClr val="C5D8D8"/>
                      </a:solidFill>
                      <a:prstDash val="solid"/>
                      <a:round/>
                      <a:headEnd type="none" w="med" len="med"/>
                      <a:tailEnd type="none" w="med" len="med"/>
                    </a:lnL>
                    <a:lnR w="6350" cap="flat" cmpd="sng" algn="ctr">
                      <a:solidFill>
                        <a:srgbClr val="C5D8D8"/>
                      </a:solidFill>
                      <a:prstDash val="solid"/>
                      <a:round/>
                      <a:headEnd type="none" w="med" len="med"/>
                      <a:tailEnd type="none" w="med" len="med"/>
                    </a:lnR>
                    <a:lnT w="6350" cap="flat" cmpd="sng" algn="ctr">
                      <a:solidFill>
                        <a:srgbClr val="C5D8D8"/>
                      </a:solidFill>
                      <a:prstDash val="solid"/>
                      <a:round/>
                      <a:headEnd type="none" w="med" len="med"/>
                      <a:tailEnd type="none" w="med" len="med"/>
                    </a:lnT>
                    <a:lnB w="6350" cap="flat" cmpd="sng" algn="ctr">
                      <a:solidFill>
                        <a:srgbClr val="C5D8D8"/>
                      </a:solidFill>
                      <a:prstDash val="solid"/>
                      <a:round/>
                      <a:headEnd type="none" w="med" len="med"/>
                      <a:tailEnd type="none" w="med" len="med"/>
                    </a:lnB>
                  </a:tcPr>
                </a:tc>
                <a:tc>
                  <a:txBody>
                    <a:bodyPr/>
                    <a:lstStyle/>
                    <a:p>
                      <a:pPr marL="0" indent="0" algn="ctr">
                        <a:buNone/>
                      </a:pPr>
                      <a:r>
                        <a:rPr lang="en-US" sz="900" dirty="0">
                          <a:solidFill>
                            <a:srgbClr val="334155"/>
                          </a:solidFill>
                          <a:latin typeface="Calibri" pitchFamily="34" charset="0"/>
                          <a:ea typeface="Calibri" pitchFamily="34" charset="-122"/>
                          <a:cs typeface="Calibri" pitchFamily="34" charset="-120"/>
                        </a:rPr>
                        <a:t>1.10</a:t>
                      </a:r>
                      <a:endParaRPr lang="en-US" sz="900" dirty="0">
                        <a:latin typeface="Calibri" charset="0"/>
                        <a:ea typeface="Calibri" charset="0"/>
                        <a:cs typeface="Calibri" charset="0"/>
                      </a:endParaRPr>
                    </a:p>
                  </a:txBody>
                  <a:tcPr anchor="ctr">
                    <a:lnL w="6350" cap="flat" cmpd="sng" algn="ctr">
                      <a:solidFill>
                        <a:srgbClr val="C5D8D8"/>
                      </a:solidFill>
                      <a:prstDash val="solid"/>
                      <a:round/>
                      <a:headEnd type="none" w="med" len="med"/>
                      <a:tailEnd type="none" w="med" len="med"/>
                    </a:lnL>
                    <a:lnR w="6350" cap="flat" cmpd="sng" algn="ctr">
                      <a:solidFill>
                        <a:srgbClr val="C5D8D8"/>
                      </a:solidFill>
                      <a:prstDash val="solid"/>
                      <a:round/>
                      <a:headEnd type="none" w="med" len="med"/>
                      <a:tailEnd type="none" w="med" len="med"/>
                    </a:lnR>
                    <a:lnT w="6350" cap="flat" cmpd="sng" algn="ctr">
                      <a:solidFill>
                        <a:srgbClr val="C5D8D8"/>
                      </a:solidFill>
                      <a:prstDash val="solid"/>
                      <a:round/>
                      <a:headEnd type="none" w="med" len="med"/>
                      <a:tailEnd type="none" w="med" len="med"/>
                    </a:lnT>
                    <a:lnB w="6350" cap="flat" cmpd="sng" algn="ctr">
                      <a:solidFill>
                        <a:srgbClr val="C5D8D8"/>
                      </a:solidFill>
                      <a:prstDash val="solid"/>
                      <a:round/>
                      <a:headEnd type="none" w="med" len="med"/>
                      <a:tailEnd type="none" w="med" len="med"/>
                    </a:lnB>
                  </a:tcPr>
                </a:tc>
                <a:tc>
                  <a:txBody>
                    <a:bodyPr/>
                    <a:lstStyle/>
                    <a:p>
                      <a:pPr marL="0" indent="0" algn="ctr">
                        <a:buNone/>
                      </a:pPr>
                      <a:r>
                        <a:rPr lang="en-US" sz="900" dirty="0">
                          <a:solidFill>
                            <a:srgbClr val="334155"/>
                          </a:solidFill>
                          <a:latin typeface="Calibri" pitchFamily="34" charset="0"/>
                          <a:ea typeface="Calibri" pitchFamily="34" charset="-122"/>
                          <a:cs typeface="Calibri" pitchFamily="34" charset="-120"/>
                        </a:rPr>
                        <a:t>1.40</a:t>
                      </a:r>
                      <a:endParaRPr lang="en-US" sz="900" dirty="0">
                        <a:latin typeface="Calibri" charset="0"/>
                        <a:ea typeface="Calibri" charset="0"/>
                        <a:cs typeface="Calibri" charset="0"/>
                      </a:endParaRPr>
                    </a:p>
                  </a:txBody>
                  <a:tcPr anchor="ctr">
                    <a:lnL w="6350" cap="flat" cmpd="sng" algn="ctr">
                      <a:solidFill>
                        <a:srgbClr val="C5D8D8"/>
                      </a:solidFill>
                      <a:prstDash val="solid"/>
                      <a:round/>
                      <a:headEnd type="none" w="med" len="med"/>
                      <a:tailEnd type="none" w="med" len="med"/>
                    </a:lnL>
                    <a:lnR w="6350" cap="flat" cmpd="sng" algn="ctr">
                      <a:solidFill>
                        <a:srgbClr val="C5D8D8"/>
                      </a:solidFill>
                      <a:prstDash val="solid"/>
                      <a:round/>
                      <a:headEnd type="none" w="med" len="med"/>
                      <a:tailEnd type="none" w="med" len="med"/>
                    </a:lnR>
                    <a:lnT w="6350" cap="flat" cmpd="sng" algn="ctr">
                      <a:solidFill>
                        <a:srgbClr val="C5D8D8"/>
                      </a:solidFill>
                      <a:prstDash val="solid"/>
                      <a:round/>
                      <a:headEnd type="none" w="med" len="med"/>
                      <a:tailEnd type="none" w="med" len="med"/>
                    </a:lnT>
                    <a:lnB w="6350" cap="flat" cmpd="sng" algn="ctr">
                      <a:solidFill>
                        <a:srgbClr val="C5D8D8"/>
                      </a:solidFill>
                      <a:prstDash val="solid"/>
                      <a:round/>
                      <a:headEnd type="none" w="med" len="med"/>
                      <a:tailEnd type="none" w="med" len="med"/>
                    </a:lnB>
                  </a:tcPr>
                </a:tc>
                <a:tc>
                  <a:txBody>
                    <a:bodyPr/>
                    <a:lstStyle/>
                    <a:p>
                      <a:pPr marL="0" indent="0" algn="ctr">
                        <a:buNone/>
                      </a:pPr>
                      <a:r>
                        <a:rPr lang="en-US" sz="900" dirty="0">
                          <a:solidFill>
                            <a:srgbClr val="334155"/>
                          </a:solidFill>
                          <a:latin typeface="Calibri" pitchFamily="34" charset="0"/>
                          <a:ea typeface="Calibri" pitchFamily="34" charset="-122"/>
                          <a:cs typeface="Calibri" pitchFamily="34" charset="-120"/>
                        </a:rPr>
                        <a:t>1.50</a:t>
                      </a:r>
                      <a:endParaRPr lang="en-US" sz="900" dirty="0">
                        <a:latin typeface="Calibri" charset="0"/>
                        <a:ea typeface="Calibri" charset="0"/>
                        <a:cs typeface="Calibri" charset="0"/>
                      </a:endParaRPr>
                    </a:p>
                  </a:txBody>
                  <a:tcPr anchor="ctr">
                    <a:lnL w="6350" cap="flat" cmpd="sng" algn="ctr">
                      <a:solidFill>
                        <a:srgbClr val="C5D8D8"/>
                      </a:solidFill>
                      <a:prstDash val="solid"/>
                      <a:round/>
                      <a:headEnd type="none" w="med" len="med"/>
                      <a:tailEnd type="none" w="med" len="med"/>
                    </a:lnL>
                    <a:lnR w="6350" cap="flat" cmpd="sng" algn="ctr">
                      <a:solidFill>
                        <a:srgbClr val="C5D8D8"/>
                      </a:solidFill>
                      <a:prstDash val="solid"/>
                      <a:round/>
                      <a:headEnd type="none" w="med" len="med"/>
                      <a:tailEnd type="none" w="med" len="med"/>
                    </a:lnR>
                    <a:lnT w="6350" cap="flat" cmpd="sng" algn="ctr">
                      <a:solidFill>
                        <a:srgbClr val="C5D8D8"/>
                      </a:solidFill>
                      <a:prstDash val="solid"/>
                      <a:round/>
                      <a:headEnd type="none" w="med" len="med"/>
                      <a:tailEnd type="none" w="med" len="med"/>
                    </a:lnT>
                    <a:lnB w="6350" cap="flat" cmpd="sng" algn="ctr">
                      <a:solidFill>
                        <a:srgbClr val="C5D8D8"/>
                      </a:solidFill>
                      <a:prstDash val="solid"/>
                      <a:round/>
                      <a:headEnd type="none" w="med" len="med"/>
                      <a:tailEnd type="none" w="med" len="med"/>
                    </a:lnB>
                  </a:tcPr>
                </a:tc>
                <a:tc>
                  <a:txBody>
                    <a:bodyPr/>
                    <a:lstStyle/>
                    <a:p>
                      <a:pPr marL="0" indent="0" algn="ctr">
                        <a:buNone/>
                      </a:pPr>
                      <a:r>
                        <a:rPr lang="en-US" sz="900" dirty="0">
                          <a:solidFill>
                            <a:srgbClr val="334155"/>
                          </a:solidFill>
                          <a:latin typeface="Calibri" pitchFamily="34" charset="0"/>
                          <a:ea typeface="Calibri" pitchFamily="34" charset="-122"/>
                          <a:cs typeface="Calibri" pitchFamily="34" charset="-120"/>
                        </a:rPr>
                        <a:t>1.50</a:t>
                      </a:r>
                      <a:endParaRPr lang="en-US" sz="900" dirty="0">
                        <a:latin typeface="Calibri" charset="0"/>
                        <a:ea typeface="Calibri" charset="0"/>
                        <a:cs typeface="Calibri" charset="0"/>
                      </a:endParaRPr>
                    </a:p>
                  </a:txBody>
                  <a:tcPr anchor="ctr">
                    <a:lnL w="6350" cap="flat" cmpd="sng" algn="ctr">
                      <a:solidFill>
                        <a:srgbClr val="C5D8D8"/>
                      </a:solidFill>
                      <a:prstDash val="solid"/>
                      <a:round/>
                      <a:headEnd type="none" w="med" len="med"/>
                      <a:tailEnd type="none" w="med" len="med"/>
                    </a:lnL>
                    <a:lnR w="6350" cap="flat" cmpd="sng" algn="ctr">
                      <a:solidFill>
                        <a:srgbClr val="C5D8D8"/>
                      </a:solidFill>
                      <a:prstDash val="solid"/>
                      <a:round/>
                      <a:headEnd type="none" w="med" len="med"/>
                      <a:tailEnd type="none" w="med" len="med"/>
                    </a:lnR>
                    <a:lnT w="6350" cap="flat" cmpd="sng" algn="ctr">
                      <a:solidFill>
                        <a:srgbClr val="C5D8D8"/>
                      </a:solidFill>
                      <a:prstDash val="solid"/>
                      <a:round/>
                      <a:headEnd type="none" w="med" len="med"/>
                      <a:tailEnd type="none" w="med" len="med"/>
                    </a:lnT>
                    <a:lnB w="6350" cap="flat" cmpd="sng" algn="ctr">
                      <a:solidFill>
                        <a:srgbClr val="C5D8D8"/>
                      </a:solidFill>
                      <a:prstDash val="solid"/>
                      <a:round/>
                      <a:headEnd type="none" w="med" len="med"/>
                      <a:tailEnd type="none" w="med" len="med"/>
                    </a:lnB>
                  </a:tcPr>
                </a:tc>
                <a:tc>
                  <a:txBody>
                    <a:bodyPr/>
                    <a:lstStyle/>
                    <a:p>
                      <a:pPr marL="0" indent="0" algn="ctr">
                        <a:buNone/>
                      </a:pPr>
                      <a:r>
                        <a:rPr lang="en-US" sz="900" dirty="0">
                          <a:solidFill>
                            <a:srgbClr val="334155"/>
                          </a:solidFill>
                          <a:latin typeface="Calibri" pitchFamily="34" charset="0"/>
                          <a:ea typeface="Calibri" pitchFamily="34" charset="-122"/>
                          <a:cs typeface="Calibri" pitchFamily="34" charset="-120"/>
                        </a:rPr>
                        <a:t>1.00</a:t>
                      </a:r>
                      <a:endParaRPr lang="en-US" sz="900" dirty="0">
                        <a:latin typeface="Calibri" charset="0"/>
                        <a:ea typeface="Calibri" charset="0"/>
                        <a:cs typeface="Calibri" charset="0"/>
                      </a:endParaRPr>
                    </a:p>
                  </a:txBody>
                  <a:tcPr anchor="ctr">
                    <a:lnL w="6350" cap="flat" cmpd="sng" algn="ctr">
                      <a:solidFill>
                        <a:srgbClr val="C5D8D8"/>
                      </a:solidFill>
                      <a:prstDash val="solid"/>
                      <a:round/>
                      <a:headEnd type="none" w="med" len="med"/>
                      <a:tailEnd type="none" w="med" len="med"/>
                    </a:lnL>
                    <a:lnR w="6350" cap="flat" cmpd="sng" algn="ctr">
                      <a:solidFill>
                        <a:srgbClr val="C5D8D8"/>
                      </a:solidFill>
                      <a:prstDash val="solid"/>
                      <a:round/>
                      <a:headEnd type="none" w="med" len="med"/>
                      <a:tailEnd type="none" w="med" len="med"/>
                    </a:lnR>
                    <a:lnT w="6350" cap="flat" cmpd="sng" algn="ctr">
                      <a:solidFill>
                        <a:srgbClr val="C5D8D8"/>
                      </a:solidFill>
                      <a:prstDash val="solid"/>
                      <a:round/>
                      <a:headEnd type="none" w="med" len="med"/>
                      <a:tailEnd type="none" w="med" len="med"/>
                    </a:lnT>
                    <a:lnB w="6350" cap="flat" cmpd="sng" algn="ctr">
                      <a:solidFill>
                        <a:srgbClr val="C5D8D8"/>
                      </a:solidFill>
                      <a:prstDash val="solid"/>
                      <a:round/>
                      <a:headEnd type="none" w="med" len="med"/>
                      <a:tailEnd type="none" w="med" len="med"/>
                    </a:lnB>
                  </a:tcPr>
                </a:tc>
                <a:tc>
                  <a:txBody>
                    <a:bodyPr/>
                    <a:lstStyle/>
                    <a:p>
                      <a:pPr marL="0" indent="0" algn="ctr">
                        <a:buNone/>
                      </a:pPr>
                      <a:r>
                        <a:rPr lang="en-US" sz="900" b="1" dirty="0">
                          <a:solidFill>
                            <a:srgbClr val="10B981"/>
                          </a:solidFill>
                          <a:latin typeface="Calibri" pitchFamily="34" charset="0"/>
                          <a:ea typeface="Calibri" pitchFamily="34" charset="-122"/>
                          <a:cs typeface="Calibri" pitchFamily="34" charset="-120"/>
                        </a:rPr>
                        <a:t>Good</a:t>
                      </a:r>
                      <a:endParaRPr lang="en-US" sz="900" dirty="0">
                        <a:latin typeface="Calibri" charset="0"/>
                        <a:ea typeface="Calibri" charset="0"/>
                        <a:cs typeface="Calibri" charset="0"/>
                      </a:endParaRPr>
                    </a:p>
                  </a:txBody>
                  <a:tcPr anchor="ctr">
                    <a:lnL w="6350" cap="flat" cmpd="sng" algn="ctr">
                      <a:solidFill>
                        <a:srgbClr val="C5D8D8"/>
                      </a:solidFill>
                      <a:prstDash val="solid"/>
                      <a:round/>
                      <a:headEnd type="none" w="med" len="med"/>
                      <a:tailEnd type="none" w="med" len="med"/>
                    </a:lnL>
                    <a:lnR w="6350" cap="flat" cmpd="sng" algn="ctr">
                      <a:solidFill>
                        <a:srgbClr val="C5D8D8"/>
                      </a:solidFill>
                      <a:prstDash val="solid"/>
                      <a:round/>
                      <a:headEnd type="none" w="med" len="med"/>
                      <a:tailEnd type="none" w="med" len="med"/>
                    </a:lnR>
                    <a:lnT w="6350" cap="flat" cmpd="sng" algn="ctr">
                      <a:solidFill>
                        <a:srgbClr val="C5D8D8"/>
                      </a:solidFill>
                      <a:prstDash val="solid"/>
                      <a:round/>
                      <a:headEnd type="none" w="med" len="med"/>
                      <a:tailEnd type="none" w="med" len="med"/>
                    </a:lnT>
                    <a:lnB w="6350" cap="flat" cmpd="sng" algn="ctr">
                      <a:solidFill>
                        <a:srgbClr val="C5D8D8"/>
                      </a:solidFill>
                      <a:prstDash val="solid"/>
                      <a:round/>
                      <a:headEnd type="none" w="med" len="med"/>
                      <a:tailEnd type="none" w="med" len="med"/>
                    </a:lnB>
                  </a:tcPr>
                </a:tc>
                <a:extLst>
                  <a:ext uri="{0D108BD9-81ED-4DB2-BD59-A6C34878D82A}">
                    <a16:rowId xmlns:a16="http://schemas.microsoft.com/office/drawing/2014/main" val="10008"/>
                  </a:ext>
                </a:extLst>
              </a:tr>
            </a:tbl>
          </a:graphicData>
        </a:graphic>
      </p:graphicFrame>
      <p:sp>
        <p:nvSpPr>
          <p:cNvPr id="5" name="Text 2"/>
          <p:cNvSpPr/>
          <p:nvPr/>
        </p:nvSpPr>
        <p:spPr>
          <a:xfrm>
            <a:off x="457200" y="3657600"/>
            <a:ext cx="8229600" cy="274320"/>
          </a:xfrm>
          <a:prstGeom prst="rect">
            <a:avLst/>
          </a:prstGeom>
          <a:noFill/>
          <a:ln/>
        </p:spPr>
        <p:txBody>
          <a:bodyPr wrap="square" lIns="0" tIns="0" rIns="0" bIns="0" rtlCol="0" anchor="ctr"/>
          <a:lstStyle/>
          <a:p>
            <a:pPr marL="0" indent="0">
              <a:buNone/>
            </a:pPr>
            <a:r>
              <a:rPr lang="en-US" sz="900" i="1" dirty="0">
                <a:solidFill>
                  <a:srgbClr val="64748B"/>
                </a:solidFill>
                <a:latin typeface="Calibri" pitchFamily="34" charset="0"/>
                <a:ea typeface="Calibri" pitchFamily="34" charset="-122"/>
                <a:cs typeface="Calibri" pitchFamily="34" charset="-120"/>
              </a:rPr>
              <a:t>* = Default 1.0 (assumption, needs sourcing)  |  Confidence: Good = ADB/utility project data; Partial = single source or estimate; Low = no country-specific data found</a:t>
            </a:r>
            <a:endParaRPr lang="en-US" sz="900" dirty="0"/>
          </a:p>
        </p:txBody>
      </p:sp>
      <p:sp>
        <p:nvSpPr>
          <p:cNvPr id="6" name="Shape 3"/>
          <p:cNvSpPr/>
          <p:nvPr/>
        </p:nvSpPr>
        <p:spPr>
          <a:xfrm>
            <a:off x="457200" y="3977640"/>
            <a:ext cx="8229600" cy="594360"/>
          </a:xfrm>
          <a:prstGeom prst="rect">
            <a:avLst/>
          </a:prstGeom>
          <a:solidFill>
            <a:srgbClr val="FFFFFF"/>
          </a:solidFill>
          <a:ln/>
          <a:effectLst>
            <a:outerShdw blurRad="50800" dist="12700" dir="8100000" algn="bl" rotWithShape="0">
              <a:srgbClr val="000000">
                <a:alpha val="5000"/>
              </a:srgbClr>
            </a:outerShdw>
          </a:effectLst>
        </p:spPr>
        <p:txBody>
          <a:bodyPr/>
          <a:lstStyle/>
          <a:p>
            <a:endParaRPr lang="LID4096"/>
          </a:p>
        </p:txBody>
      </p:sp>
      <p:pic>
        <p:nvPicPr>
          <p:cNvPr id="7" name="Image 0" descr="preencoded.png"/>
          <p:cNvPicPr>
            <a:picLocks noChangeAspect="1"/>
          </p:cNvPicPr>
          <p:nvPr/>
        </p:nvPicPr>
        <p:blipFill>
          <a:blip r:embed="rId3"/>
          <a:stretch>
            <a:fillRect/>
          </a:stretch>
        </p:blipFill>
        <p:spPr>
          <a:xfrm>
            <a:off x="640080" y="4069080"/>
            <a:ext cx="274320" cy="274320"/>
          </a:xfrm>
          <a:prstGeom prst="rect">
            <a:avLst/>
          </a:prstGeom>
        </p:spPr>
      </p:pic>
      <p:sp>
        <p:nvSpPr>
          <p:cNvPr id="8" name="Text 4"/>
          <p:cNvSpPr/>
          <p:nvPr/>
        </p:nvSpPr>
        <p:spPr>
          <a:xfrm>
            <a:off x="1005840" y="4041648"/>
            <a:ext cx="4572000" cy="228600"/>
          </a:xfrm>
          <a:prstGeom prst="rect">
            <a:avLst/>
          </a:prstGeom>
          <a:noFill/>
          <a:ln/>
        </p:spPr>
        <p:txBody>
          <a:bodyPr wrap="square" lIns="0" tIns="0" rIns="0" bIns="0" rtlCol="0" anchor="ctr"/>
          <a:lstStyle/>
          <a:p>
            <a:pPr marL="0" indent="0">
              <a:buNone/>
            </a:pPr>
            <a:r>
              <a:rPr lang="en-US" sz="1100" b="1" dirty="0">
                <a:solidFill>
                  <a:srgbClr val="0A595F"/>
                </a:solidFill>
                <a:latin typeface="Calibri" pitchFamily="34" charset="0"/>
                <a:ea typeface="Calibri" pitchFamily="34" charset="-122"/>
                <a:cs typeface="Calibri" pitchFamily="34" charset="-120"/>
              </a:rPr>
              <a:t>13 Cross-Border Interconnectors Parameterized</a:t>
            </a:r>
            <a:endParaRPr lang="en-US" sz="1100" dirty="0"/>
          </a:p>
        </p:txBody>
      </p:sp>
      <p:sp>
        <p:nvSpPr>
          <p:cNvPr id="9" name="Text 5"/>
          <p:cNvSpPr/>
          <p:nvPr/>
        </p:nvSpPr>
        <p:spPr>
          <a:xfrm>
            <a:off x="1005840" y="4279392"/>
            <a:ext cx="7498080" cy="274320"/>
          </a:xfrm>
          <a:prstGeom prst="rect">
            <a:avLst/>
          </a:prstGeom>
          <a:noFill/>
          <a:ln/>
        </p:spPr>
        <p:txBody>
          <a:bodyPr wrap="square" lIns="0" tIns="0" rIns="0" bIns="0" rtlCol="0" anchor="ctr"/>
          <a:lstStyle/>
          <a:p>
            <a:pPr marL="0" indent="0">
              <a:buNone/>
            </a:pPr>
            <a:r>
              <a:rPr lang="en-US" sz="900" dirty="0">
                <a:solidFill>
                  <a:srgbClr val="334155"/>
                </a:solidFill>
                <a:latin typeface="Calibri" pitchFamily="34" charset="0"/>
                <a:ea typeface="Calibri" pitchFamily="34" charset="-122"/>
                <a:cs typeface="Calibri" pitchFamily="34" charset="-120"/>
              </a:rPr>
              <a:t>BD↔IN_E, BD↔IN_NE, BT↔IN_E, BT↔IN_NE, NP↔IN_N, NP↔IN_E, LK↔IN_S, MV↔IN_S, plus 5 internal India corridors (N↔E, N↔W, E↔NE, E↔S, W↔S).  Each with CAPEX, fixed O&amp;M, loss %, and operational lifetime.</a:t>
            </a:r>
            <a:endParaRPr lang="en-US" sz="900" dirty="0"/>
          </a:p>
        </p:txBody>
      </p:sp>
      <p:sp>
        <p:nvSpPr>
          <p:cNvPr id="10" name="Shape 6"/>
          <p:cNvSpPr/>
          <p:nvPr/>
        </p:nvSpPr>
        <p:spPr>
          <a:xfrm>
            <a:off x="0" y="4709160"/>
            <a:ext cx="9144000" cy="434340"/>
          </a:xfrm>
          <a:prstGeom prst="rect">
            <a:avLst/>
          </a:prstGeom>
          <a:solidFill>
            <a:srgbClr val="00414D"/>
          </a:solidFill>
          <a:ln/>
        </p:spPr>
        <p:txBody>
          <a:bodyPr/>
          <a:lstStyle/>
          <a:p>
            <a:endParaRPr lang="LID4096"/>
          </a:p>
        </p:txBody>
      </p:sp>
      <p:sp>
        <p:nvSpPr>
          <p:cNvPr id="4" name="Text 7"/>
          <p:cNvSpPr/>
          <p:nvPr/>
        </p:nvSpPr>
        <p:spPr>
          <a:xfrm>
            <a:off x="457200" y="4727448"/>
            <a:ext cx="8229600" cy="393192"/>
          </a:xfrm>
          <a:prstGeom prst="rect">
            <a:avLst/>
          </a:prstGeom>
          <a:noFill/>
          <a:ln/>
        </p:spPr>
        <p:txBody>
          <a:bodyPr wrap="square" rtlCol="0" anchor="ctr"/>
          <a:lstStyle/>
          <a:p>
            <a:pPr marL="0" indent="0">
              <a:buNone/>
            </a:pPr>
            <a:r>
              <a:rPr lang="en-US" sz="800" dirty="0">
                <a:solidFill>
                  <a:srgbClr val="64748B"/>
                </a:solidFill>
                <a:latin typeface="Calibri" pitchFamily="34" charset="0"/>
                <a:ea typeface="Calibri" pitchFamily="34" charset="-122"/>
                <a:cs typeface="Calibri" pitchFamily="34" charset="-120"/>
              </a:rPr>
              <a:t>OSTRAM — Data Package v1.0  |  UN ESCAP Energy Division  |  March 2026</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F0F5F5"/>
        </a:solidFill>
        <a:effectLst/>
      </p:bgPr>
    </p:bg>
    <p:spTree>
      <p:nvGrpSpPr>
        <p:cNvPr id="1" name=""/>
        <p:cNvGrpSpPr/>
        <p:nvPr/>
      </p:nvGrpSpPr>
      <p:grpSpPr>
        <a:xfrm>
          <a:off x="0" y="0"/>
          <a:ext cx="0" cy="0"/>
          <a:chOff x="0" y="0"/>
          <a:chExt cx="0" cy="0"/>
        </a:xfrm>
      </p:grpSpPr>
      <p:sp>
        <p:nvSpPr>
          <p:cNvPr id="2" name="Text 0"/>
          <p:cNvSpPr/>
          <p:nvPr/>
        </p:nvSpPr>
        <p:spPr>
          <a:xfrm>
            <a:off x="457200" y="274320"/>
            <a:ext cx="7315200" cy="457200"/>
          </a:xfrm>
          <a:prstGeom prst="rect">
            <a:avLst/>
          </a:prstGeom>
          <a:noFill/>
          <a:ln/>
        </p:spPr>
        <p:txBody>
          <a:bodyPr wrap="square" lIns="0" tIns="0" rIns="0" bIns="0" rtlCol="0" anchor="ctr"/>
          <a:lstStyle/>
          <a:p>
            <a:pPr marL="0" indent="0">
              <a:buNone/>
            </a:pPr>
            <a:r>
              <a:rPr lang="en-US" sz="2400" b="1" dirty="0">
                <a:solidFill>
                  <a:srgbClr val="00414D"/>
                </a:solidFill>
                <a:latin typeface="Georgia" pitchFamily="34" charset="0"/>
                <a:ea typeface="Georgia" pitchFamily="34" charset="-122"/>
                <a:cs typeface="Georgia" pitchFamily="34" charset="-120"/>
              </a:rPr>
              <a:t>Timeslice Architecture</a:t>
            </a:r>
            <a:endParaRPr lang="en-US" sz="2400" dirty="0"/>
          </a:p>
        </p:txBody>
      </p:sp>
      <p:sp>
        <p:nvSpPr>
          <p:cNvPr id="3" name="Text 1"/>
          <p:cNvSpPr/>
          <p:nvPr/>
        </p:nvSpPr>
        <p:spPr>
          <a:xfrm>
            <a:off x="457200" y="731520"/>
            <a:ext cx="8229600" cy="228600"/>
          </a:xfrm>
          <a:prstGeom prst="rect">
            <a:avLst/>
          </a:prstGeom>
          <a:noFill/>
          <a:ln/>
        </p:spPr>
        <p:txBody>
          <a:bodyPr wrap="square" lIns="0" tIns="0" rIns="0" bIns="0" rtlCol="0" anchor="ctr"/>
          <a:lstStyle/>
          <a:p>
            <a:pPr marL="0" indent="0">
              <a:buNone/>
            </a:pPr>
            <a:r>
              <a:rPr lang="en-US" sz="1200" dirty="0">
                <a:solidFill>
                  <a:srgbClr val="23978E"/>
                </a:solidFill>
                <a:latin typeface="Calibri" pitchFamily="34" charset="0"/>
                <a:ea typeface="Calibri" pitchFamily="34" charset="-122"/>
                <a:cs typeface="Calibri" pitchFamily="34" charset="-120"/>
              </a:rPr>
              <a:t>4 Seasons × 3 Daily Bands = 12 Timeslices</a:t>
            </a:r>
            <a:endParaRPr lang="en-US" sz="12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8238744" cy="1783080"/>
        </p:xfrm>
        <a:graphic>
          <a:graphicData uri="http://schemas.openxmlformats.org/drawingml/2006/table">
            <a:tbl>
              <a:tblPr/>
              <a:tblGrid>
                <a:gridCol w="2560320">
                  <a:extLst>
                    <a:ext uri="{9D8B030D-6E8A-4147-A177-3AD203B41FA5}">
                      <a16:colId xmlns:a16="http://schemas.microsoft.com/office/drawing/2014/main" val="20000"/>
                    </a:ext>
                  </a:extLst>
                </a:gridCol>
                <a:gridCol w="1892808">
                  <a:extLst>
                    <a:ext uri="{9D8B030D-6E8A-4147-A177-3AD203B41FA5}">
                      <a16:colId xmlns:a16="http://schemas.microsoft.com/office/drawing/2014/main" val="20001"/>
                    </a:ext>
                  </a:extLst>
                </a:gridCol>
                <a:gridCol w="1892808">
                  <a:extLst>
                    <a:ext uri="{9D8B030D-6E8A-4147-A177-3AD203B41FA5}">
                      <a16:colId xmlns:a16="http://schemas.microsoft.com/office/drawing/2014/main" val="20002"/>
                    </a:ext>
                  </a:extLst>
                </a:gridCol>
                <a:gridCol w="1892808">
                  <a:extLst>
                    <a:ext uri="{9D8B030D-6E8A-4147-A177-3AD203B41FA5}">
                      <a16:colId xmlns:a16="http://schemas.microsoft.com/office/drawing/2014/main" val="20003"/>
                    </a:ext>
                  </a:extLst>
                </a:gridCol>
              </a:tblGrid>
              <a:tr h="320040">
                <a:tc>
                  <a:txBody>
                    <a:bodyPr/>
                    <a:lstStyle/>
                    <a:p>
                      <a:pPr marL="0" indent="0" algn="ctr">
                        <a:buNone/>
                      </a:pPr>
                      <a:endParaRPr lang="en-US" sz="1000" dirty="0">
                        <a:latin typeface="Calibri" charset="0"/>
                        <a:ea typeface="Calibri" charset="0"/>
                        <a:cs typeface="Calibri" charset="0"/>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A595F"/>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D1: Night (00–06)</a:t>
                      </a:r>
                      <a:endParaRPr lang="en-US" sz="1000" dirty="0">
                        <a:latin typeface="Calibri" charset="0"/>
                        <a:ea typeface="Calibri" charset="0"/>
                        <a:cs typeface="Calibri" charset="0"/>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A595F"/>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D2: Day (06–18)</a:t>
                      </a:r>
                      <a:endParaRPr lang="en-US" sz="1000" dirty="0">
                        <a:latin typeface="Calibri" charset="0"/>
                        <a:ea typeface="Calibri" charset="0"/>
                        <a:cs typeface="Calibri" charset="0"/>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A595F"/>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D3: Evening (18–24)</a:t>
                      </a:r>
                      <a:endParaRPr lang="en-US" sz="1000" dirty="0">
                        <a:latin typeface="Calibri" charset="0"/>
                        <a:ea typeface="Calibri" charset="0"/>
                        <a:cs typeface="Calibri" charset="0"/>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A595F"/>
                    </a:solidFill>
                  </a:tcPr>
                </a:tc>
                <a:extLst>
                  <a:ext uri="{0D108BD9-81ED-4DB2-BD59-A6C34878D82A}">
                    <a16:rowId xmlns:a16="http://schemas.microsoft.com/office/drawing/2014/main" val="10000"/>
                  </a:ext>
                </a:extLst>
              </a:tr>
              <a:tr h="365760">
                <a:tc>
                  <a:txBody>
                    <a:bodyPr/>
                    <a:lstStyle/>
                    <a:p>
                      <a:pPr marL="0" indent="0" algn="ctr">
                        <a:buNone/>
                      </a:pPr>
                      <a:r>
                        <a:rPr lang="en-US" sz="1000" dirty="0">
                          <a:solidFill>
                            <a:srgbClr val="334155"/>
                          </a:solidFill>
                          <a:latin typeface="Calibri" pitchFamily="34" charset="0"/>
                          <a:ea typeface="Calibri" pitchFamily="34" charset="-122"/>
                          <a:cs typeface="Calibri" pitchFamily="34" charset="-120"/>
                        </a:rPr>
                        <a:t>S1: Winter (Dec–Feb)</a:t>
                      </a:r>
                      <a:endParaRPr lang="en-US" sz="1000" dirty="0">
                        <a:latin typeface="Calibri" charset="0"/>
                        <a:ea typeface="Calibri" charset="0"/>
                        <a:cs typeface="Calibri" charset="0"/>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indent="0" algn="ctr">
                        <a:buNone/>
                      </a:pPr>
                      <a:r>
                        <a:rPr lang="en-US" sz="1100" b="1" dirty="0">
                          <a:solidFill>
                            <a:srgbClr val="0A595F"/>
                          </a:solidFill>
                          <a:latin typeface="Calibri" pitchFamily="34" charset="0"/>
                          <a:ea typeface="Calibri" pitchFamily="34" charset="-122"/>
                          <a:cs typeface="Calibri" pitchFamily="34" charset="-120"/>
                        </a:rPr>
                        <a:t>S1D1</a:t>
                      </a:r>
                      <a:endParaRPr lang="en-US" sz="1100" dirty="0">
                        <a:latin typeface="Calibri" charset="0"/>
                        <a:ea typeface="Calibri" charset="0"/>
                        <a:cs typeface="Calibri" charset="0"/>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0EDEB"/>
                    </a:solidFill>
                  </a:tcPr>
                </a:tc>
                <a:tc>
                  <a:txBody>
                    <a:bodyPr/>
                    <a:lstStyle/>
                    <a:p>
                      <a:pPr marL="0" indent="0" algn="ctr">
                        <a:buNone/>
                      </a:pPr>
                      <a:r>
                        <a:rPr lang="en-US" sz="1100" b="1" dirty="0">
                          <a:solidFill>
                            <a:srgbClr val="0A595F"/>
                          </a:solidFill>
                          <a:latin typeface="Calibri" pitchFamily="34" charset="0"/>
                          <a:ea typeface="Calibri" pitchFamily="34" charset="-122"/>
                          <a:cs typeface="Calibri" pitchFamily="34" charset="-120"/>
                        </a:rPr>
                        <a:t>S1D2</a:t>
                      </a:r>
                      <a:endParaRPr lang="en-US" sz="1100" dirty="0">
                        <a:latin typeface="Calibri" charset="0"/>
                        <a:ea typeface="Calibri" charset="0"/>
                        <a:cs typeface="Calibri" charset="0"/>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0EDEB"/>
                    </a:solidFill>
                  </a:tcPr>
                </a:tc>
                <a:tc>
                  <a:txBody>
                    <a:bodyPr/>
                    <a:lstStyle/>
                    <a:p>
                      <a:pPr marL="0" indent="0" algn="ctr">
                        <a:buNone/>
                      </a:pPr>
                      <a:r>
                        <a:rPr lang="en-US" sz="1100" b="1" dirty="0">
                          <a:solidFill>
                            <a:srgbClr val="0A595F"/>
                          </a:solidFill>
                          <a:latin typeface="Calibri" pitchFamily="34" charset="0"/>
                          <a:ea typeface="Calibri" pitchFamily="34" charset="-122"/>
                          <a:cs typeface="Calibri" pitchFamily="34" charset="-120"/>
                        </a:rPr>
                        <a:t>S1D3</a:t>
                      </a:r>
                      <a:endParaRPr lang="en-US" sz="1100" dirty="0">
                        <a:latin typeface="Calibri" charset="0"/>
                        <a:ea typeface="Calibri" charset="0"/>
                        <a:cs typeface="Calibri" charset="0"/>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0EDEB"/>
                    </a:solidFill>
                  </a:tcPr>
                </a:tc>
                <a:extLst>
                  <a:ext uri="{0D108BD9-81ED-4DB2-BD59-A6C34878D82A}">
                    <a16:rowId xmlns:a16="http://schemas.microsoft.com/office/drawing/2014/main" val="10001"/>
                  </a:ext>
                </a:extLst>
              </a:tr>
              <a:tr h="365760">
                <a:tc>
                  <a:txBody>
                    <a:bodyPr/>
                    <a:lstStyle/>
                    <a:p>
                      <a:pPr marL="0" indent="0" algn="ctr">
                        <a:buNone/>
                      </a:pPr>
                      <a:r>
                        <a:rPr lang="en-US" sz="1000" dirty="0">
                          <a:solidFill>
                            <a:srgbClr val="334155"/>
                          </a:solidFill>
                          <a:latin typeface="Calibri" pitchFamily="34" charset="0"/>
                          <a:ea typeface="Calibri" pitchFamily="34" charset="-122"/>
                          <a:cs typeface="Calibri" pitchFamily="34" charset="-120"/>
                        </a:rPr>
                        <a:t>S2: Pre-monsoon (Mar–May)</a:t>
                      </a:r>
                      <a:endParaRPr lang="en-US" sz="1000" dirty="0">
                        <a:latin typeface="Calibri" charset="0"/>
                        <a:ea typeface="Calibri" charset="0"/>
                        <a:cs typeface="Calibri" charset="0"/>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indent="0" algn="ctr">
                        <a:buNone/>
                      </a:pPr>
                      <a:r>
                        <a:rPr lang="en-US" sz="1100" b="1" dirty="0">
                          <a:solidFill>
                            <a:srgbClr val="0A595F"/>
                          </a:solidFill>
                          <a:latin typeface="Calibri" pitchFamily="34" charset="0"/>
                          <a:ea typeface="Calibri" pitchFamily="34" charset="-122"/>
                          <a:cs typeface="Calibri" pitchFamily="34" charset="-120"/>
                        </a:rPr>
                        <a:t>S2D1</a:t>
                      </a:r>
                      <a:endParaRPr lang="en-US" sz="1100" dirty="0">
                        <a:latin typeface="Calibri" charset="0"/>
                        <a:ea typeface="Calibri" charset="0"/>
                        <a:cs typeface="Calibri" charset="0"/>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0EDEB"/>
                    </a:solidFill>
                  </a:tcPr>
                </a:tc>
                <a:tc>
                  <a:txBody>
                    <a:bodyPr/>
                    <a:lstStyle/>
                    <a:p>
                      <a:pPr marL="0" indent="0" algn="ctr">
                        <a:buNone/>
                      </a:pPr>
                      <a:r>
                        <a:rPr lang="en-US" sz="1100" b="1" dirty="0">
                          <a:solidFill>
                            <a:srgbClr val="0A595F"/>
                          </a:solidFill>
                          <a:latin typeface="Calibri" pitchFamily="34" charset="0"/>
                          <a:ea typeface="Calibri" pitchFamily="34" charset="-122"/>
                          <a:cs typeface="Calibri" pitchFamily="34" charset="-120"/>
                        </a:rPr>
                        <a:t>S2D2</a:t>
                      </a:r>
                      <a:endParaRPr lang="en-US" sz="1100" dirty="0">
                        <a:latin typeface="Calibri" charset="0"/>
                        <a:ea typeface="Calibri" charset="0"/>
                        <a:cs typeface="Calibri" charset="0"/>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0EDEB"/>
                    </a:solidFill>
                  </a:tcPr>
                </a:tc>
                <a:tc>
                  <a:txBody>
                    <a:bodyPr/>
                    <a:lstStyle/>
                    <a:p>
                      <a:pPr marL="0" indent="0" algn="ctr">
                        <a:buNone/>
                      </a:pPr>
                      <a:r>
                        <a:rPr lang="en-US" sz="1100" b="1" dirty="0">
                          <a:solidFill>
                            <a:srgbClr val="0A595F"/>
                          </a:solidFill>
                          <a:latin typeface="Calibri" pitchFamily="34" charset="0"/>
                          <a:ea typeface="Calibri" pitchFamily="34" charset="-122"/>
                          <a:cs typeface="Calibri" pitchFamily="34" charset="-120"/>
                        </a:rPr>
                        <a:t>S2D3</a:t>
                      </a:r>
                      <a:endParaRPr lang="en-US" sz="1100" dirty="0">
                        <a:latin typeface="Calibri" charset="0"/>
                        <a:ea typeface="Calibri" charset="0"/>
                        <a:cs typeface="Calibri" charset="0"/>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0EDEB"/>
                    </a:solidFill>
                  </a:tcPr>
                </a:tc>
                <a:extLst>
                  <a:ext uri="{0D108BD9-81ED-4DB2-BD59-A6C34878D82A}">
                    <a16:rowId xmlns:a16="http://schemas.microsoft.com/office/drawing/2014/main" val="10002"/>
                  </a:ext>
                </a:extLst>
              </a:tr>
              <a:tr h="365760">
                <a:tc>
                  <a:txBody>
                    <a:bodyPr/>
                    <a:lstStyle/>
                    <a:p>
                      <a:pPr marL="0" indent="0" algn="ctr">
                        <a:buNone/>
                      </a:pPr>
                      <a:r>
                        <a:rPr lang="en-US" sz="1000" dirty="0">
                          <a:solidFill>
                            <a:srgbClr val="334155"/>
                          </a:solidFill>
                          <a:latin typeface="Calibri" pitchFamily="34" charset="0"/>
                          <a:ea typeface="Calibri" pitchFamily="34" charset="-122"/>
                          <a:cs typeface="Calibri" pitchFamily="34" charset="-120"/>
                        </a:rPr>
                        <a:t>S3: SW Monsoon (Jun–Sep)</a:t>
                      </a:r>
                      <a:endParaRPr lang="en-US" sz="1000" dirty="0">
                        <a:latin typeface="Calibri" charset="0"/>
                        <a:ea typeface="Calibri" charset="0"/>
                        <a:cs typeface="Calibri" charset="0"/>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indent="0" algn="ctr">
                        <a:buNone/>
                      </a:pPr>
                      <a:r>
                        <a:rPr lang="en-US" sz="1100" b="1" dirty="0">
                          <a:solidFill>
                            <a:srgbClr val="0A595F"/>
                          </a:solidFill>
                          <a:latin typeface="Calibri" pitchFamily="34" charset="0"/>
                          <a:ea typeface="Calibri" pitchFamily="34" charset="-122"/>
                          <a:cs typeface="Calibri" pitchFamily="34" charset="-120"/>
                        </a:rPr>
                        <a:t>S3D1</a:t>
                      </a:r>
                      <a:endParaRPr lang="en-US" sz="1100" dirty="0">
                        <a:latin typeface="Calibri" charset="0"/>
                        <a:ea typeface="Calibri" charset="0"/>
                        <a:cs typeface="Calibri" charset="0"/>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0EDEB"/>
                    </a:solidFill>
                  </a:tcPr>
                </a:tc>
                <a:tc>
                  <a:txBody>
                    <a:bodyPr/>
                    <a:lstStyle/>
                    <a:p>
                      <a:pPr marL="0" indent="0" algn="ctr">
                        <a:buNone/>
                      </a:pPr>
                      <a:r>
                        <a:rPr lang="en-US" sz="1100" b="1" dirty="0">
                          <a:solidFill>
                            <a:srgbClr val="0A595F"/>
                          </a:solidFill>
                          <a:latin typeface="Calibri" pitchFamily="34" charset="0"/>
                          <a:ea typeface="Calibri" pitchFamily="34" charset="-122"/>
                          <a:cs typeface="Calibri" pitchFamily="34" charset="-120"/>
                        </a:rPr>
                        <a:t>S3D2</a:t>
                      </a:r>
                      <a:endParaRPr lang="en-US" sz="1100" dirty="0">
                        <a:latin typeface="Calibri" charset="0"/>
                        <a:ea typeface="Calibri" charset="0"/>
                        <a:cs typeface="Calibri" charset="0"/>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0EDEB"/>
                    </a:solidFill>
                  </a:tcPr>
                </a:tc>
                <a:tc>
                  <a:txBody>
                    <a:bodyPr/>
                    <a:lstStyle/>
                    <a:p>
                      <a:pPr marL="0" indent="0" algn="ctr">
                        <a:buNone/>
                      </a:pPr>
                      <a:r>
                        <a:rPr lang="en-US" sz="1100" b="1" dirty="0">
                          <a:solidFill>
                            <a:srgbClr val="0A595F"/>
                          </a:solidFill>
                          <a:latin typeface="Calibri" pitchFamily="34" charset="0"/>
                          <a:ea typeface="Calibri" pitchFamily="34" charset="-122"/>
                          <a:cs typeface="Calibri" pitchFamily="34" charset="-120"/>
                        </a:rPr>
                        <a:t>S3D3</a:t>
                      </a:r>
                      <a:endParaRPr lang="en-US" sz="1100" dirty="0">
                        <a:latin typeface="Calibri" charset="0"/>
                        <a:ea typeface="Calibri" charset="0"/>
                        <a:cs typeface="Calibri" charset="0"/>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0EDEB"/>
                    </a:solidFill>
                  </a:tcPr>
                </a:tc>
                <a:extLst>
                  <a:ext uri="{0D108BD9-81ED-4DB2-BD59-A6C34878D82A}">
                    <a16:rowId xmlns:a16="http://schemas.microsoft.com/office/drawing/2014/main" val="10003"/>
                  </a:ext>
                </a:extLst>
              </a:tr>
              <a:tr h="365760">
                <a:tc>
                  <a:txBody>
                    <a:bodyPr/>
                    <a:lstStyle/>
                    <a:p>
                      <a:pPr marL="0" indent="0" algn="ctr">
                        <a:buNone/>
                      </a:pPr>
                      <a:r>
                        <a:rPr lang="en-US" sz="1000" dirty="0">
                          <a:solidFill>
                            <a:srgbClr val="334155"/>
                          </a:solidFill>
                          <a:latin typeface="Calibri" pitchFamily="34" charset="0"/>
                          <a:ea typeface="Calibri" pitchFamily="34" charset="-122"/>
                          <a:cs typeface="Calibri" pitchFamily="34" charset="-120"/>
                        </a:rPr>
                        <a:t>S4: Post-monsoon (Oct–Nov)</a:t>
                      </a:r>
                      <a:endParaRPr lang="en-US" sz="1000" dirty="0">
                        <a:latin typeface="Calibri" charset="0"/>
                        <a:ea typeface="Calibri" charset="0"/>
                        <a:cs typeface="Calibri" charset="0"/>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indent="0" algn="ctr">
                        <a:buNone/>
                      </a:pPr>
                      <a:r>
                        <a:rPr lang="en-US" sz="1100" b="1" dirty="0">
                          <a:solidFill>
                            <a:srgbClr val="0A595F"/>
                          </a:solidFill>
                          <a:latin typeface="Calibri" pitchFamily="34" charset="0"/>
                          <a:ea typeface="Calibri" pitchFamily="34" charset="-122"/>
                          <a:cs typeface="Calibri" pitchFamily="34" charset="-120"/>
                        </a:rPr>
                        <a:t>S4D1</a:t>
                      </a:r>
                      <a:endParaRPr lang="en-US" sz="1100" dirty="0">
                        <a:latin typeface="Calibri" charset="0"/>
                        <a:ea typeface="Calibri" charset="0"/>
                        <a:cs typeface="Calibri" charset="0"/>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0EDEB"/>
                    </a:solidFill>
                  </a:tcPr>
                </a:tc>
                <a:tc>
                  <a:txBody>
                    <a:bodyPr/>
                    <a:lstStyle/>
                    <a:p>
                      <a:pPr marL="0" indent="0" algn="ctr">
                        <a:buNone/>
                      </a:pPr>
                      <a:r>
                        <a:rPr lang="en-US" sz="1100" b="1" dirty="0">
                          <a:solidFill>
                            <a:srgbClr val="0A595F"/>
                          </a:solidFill>
                          <a:latin typeface="Calibri" pitchFamily="34" charset="0"/>
                          <a:ea typeface="Calibri" pitchFamily="34" charset="-122"/>
                          <a:cs typeface="Calibri" pitchFamily="34" charset="-120"/>
                        </a:rPr>
                        <a:t>S4D2</a:t>
                      </a:r>
                      <a:endParaRPr lang="en-US" sz="1100" dirty="0">
                        <a:latin typeface="Calibri" charset="0"/>
                        <a:ea typeface="Calibri" charset="0"/>
                        <a:cs typeface="Calibri" charset="0"/>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0EDEB"/>
                    </a:solidFill>
                  </a:tcPr>
                </a:tc>
                <a:tc>
                  <a:txBody>
                    <a:bodyPr/>
                    <a:lstStyle/>
                    <a:p>
                      <a:pPr marL="0" indent="0" algn="ctr">
                        <a:buNone/>
                      </a:pPr>
                      <a:r>
                        <a:rPr lang="en-US" sz="1100" b="1" dirty="0">
                          <a:solidFill>
                            <a:srgbClr val="0A595F"/>
                          </a:solidFill>
                          <a:latin typeface="Calibri" pitchFamily="34" charset="0"/>
                          <a:ea typeface="Calibri" pitchFamily="34" charset="-122"/>
                          <a:cs typeface="Calibri" pitchFamily="34" charset="-120"/>
                        </a:rPr>
                        <a:t>S4D3</a:t>
                      </a:r>
                      <a:endParaRPr lang="en-US" sz="1100" dirty="0">
                        <a:latin typeface="Calibri" charset="0"/>
                        <a:ea typeface="Calibri" charset="0"/>
                        <a:cs typeface="Calibri" charset="0"/>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0EDEB"/>
                    </a:solidFill>
                  </a:tcPr>
                </a:tc>
                <a:extLst>
                  <a:ext uri="{0D108BD9-81ED-4DB2-BD59-A6C34878D82A}">
                    <a16:rowId xmlns:a16="http://schemas.microsoft.com/office/drawing/2014/main" val="10004"/>
                  </a:ext>
                </a:extLst>
              </a:tr>
            </a:tbl>
          </a:graphicData>
        </a:graphic>
      </p:graphicFrame>
      <p:sp>
        <p:nvSpPr>
          <p:cNvPr id="5" name="Shape 2"/>
          <p:cNvSpPr/>
          <p:nvPr/>
        </p:nvSpPr>
        <p:spPr>
          <a:xfrm>
            <a:off x="457200" y="3063240"/>
            <a:ext cx="8229600" cy="429768"/>
          </a:xfrm>
          <a:prstGeom prst="rect">
            <a:avLst/>
          </a:prstGeom>
          <a:solidFill>
            <a:srgbClr val="FFFFFF"/>
          </a:solidFill>
          <a:ln/>
          <a:effectLst>
            <a:outerShdw blurRad="38100" dist="12700" dir="8100000" algn="bl" rotWithShape="0">
              <a:srgbClr val="000000">
                <a:alpha val="4000"/>
              </a:srgbClr>
            </a:outerShdw>
          </a:effectLst>
        </p:spPr>
        <p:txBody>
          <a:bodyPr/>
          <a:lstStyle/>
          <a:p>
            <a:endParaRPr lang="LID4096"/>
          </a:p>
        </p:txBody>
      </p:sp>
      <p:sp>
        <p:nvSpPr>
          <p:cNvPr id="6" name="Text 3"/>
          <p:cNvSpPr/>
          <p:nvPr/>
        </p:nvSpPr>
        <p:spPr>
          <a:xfrm>
            <a:off x="640080" y="3063240"/>
            <a:ext cx="2103120" cy="429768"/>
          </a:xfrm>
          <a:prstGeom prst="rect">
            <a:avLst/>
          </a:prstGeom>
          <a:noFill/>
          <a:ln/>
        </p:spPr>
        <p:txBody>
          <a:bodyPr wrap="square" lIns="0" tIns="0" rIns="0" bIns="0" rtlCol="0" anchor="ctr"/>
          <a:lstStyle/>
          <a:p>
            <a:pPr marL="0" indent="0">
              <a:buNone/>
            </a:pPr>
            <a:r>
              <a:rPr lang="en-US" sz="1000" b="1" dirty="0">
                <a:solidFill>
                  <a:srgbClr val="0A595F"/>
                </a:solidFill>
                <a:latin typeface="Calibri" pitchFamily="34" charset="0"/>
                <a:ea typeface="Calibri" pitchFamily="34" charset="-122"/>
                <a:cs typeface="Calibri" pitchFamily="34" charset="-120"/>
              </a:rPr>
              <a:t>Capacity_Factors_TS</a:t>
            </a:r>
            <a:endParaRPr lang="en-US" sz="1000" dirty="0"/>
          </a:p>
        </p:txBody>
      </p:sp>
      <p:sp>
        <p:nvSpPr>
          <p:cNvPr id="7" name="Text 4"/>
          <p:cNvSpPr/>
          <p:nvPr/>
        </p:nvSpPr>
        <p:spPr>
          <a:xfrm>
            <a:off x="2834640" y="3063240"/>
            <a:ext cx="914400" cy="429768"/>
          </a:xfrm>
          <a:prstGeom prst="rect">
            <a:avLst/>
          </a:prstGeom>
          <a:noFill/>
          <a:ln/>
        </p:spPr>
        <p:txBody>
          <a:bodyPr wrap="square" lIns="0" tIns="0" rIns="0" bIns="0" rtlCol="0" anchor="ctr"/>
          <a:lstStyle/>
          <a:p>
            <a:pPr marL="0" indent="0" algn="ctr">
              <a:buNone/>
            </a:pPr>
            <a:r>
              <a:rPr lang="en-US" sz="1000" b="1" dirty="0">
                <a:solidFill>
                  <a:srgbClr val="23978E"/>
                </a:solidFill>
                <a:latin typeface="Calibri" pitchFamily="34" charset="0"/>
                <a:ea typeface="Calibri" pitchFamily="34" charset="-122"/>
                <a:cs typeface="Calibri" pitchFamily="34" charset="-120"/>
              </a:rPr>
              <a:t>2,460 rows</a:t>
            </a:r>
            <a:endParaRPr lang="en-US" sz="1000" dirty="0"/>
          </a:p>
        </p:txBody>
      </p:sp>
      <p:sp>
        <p:nvSpPr>
          <p:cNvPr id="8" name="Text 5"/>
          <p:cNvSpPr/>
          <p:nvPr/>
        </p:nvSpPr>
        <p:spPr>
          <a:xfrm>
            <a:off x="3840480" y="3063240"/>
            <a:ext cx="4663440" cy="429768"/>
          </a:xfrm>
          <a:prstGeom prst="rect">
            <a:avLst/>
          </a:prstGeom>
          <a:noFill/>
          <a:ln/>
        </p:spPr>
        <p:txBody>
          <a:bodyPr wrap="square" lIns="0" tIns="0" rIns="0" bIns="0" rtlCol="0" anchor="ctr"/>
          <a:lstStyle/>
          <a:p>
            <a:pPr marL="0" indent="0">
              <a:buNone/>
            </a:pPr>
            <a:r>
              <a:rPr lang="en-US" sz="1000" dirty="0">
                <a:solidFill>
                  <a:srgbClr val="334155"/>
                </a:solidFill>
                <a:latin typeface="Calibri" pitchFamily="34" charset="0"/>
                <a:ea typeface="Calibri" pitchFamily="34" charset="-122"/>
                <a:cs typeface="Calibri" pitchFamily="34" charset="-120"/>
              </a:rPr>
              <a:t>Dispatch CFs (BGD, LKA) + RE Ninja (all 6 countries)</a:t>
            </a:r>
            <a:endParaRPr lang="en-US" sz="1000" dirty="0"/>
          </a:p>
        </p:txBody>
      </p:sp>
      <p:sp>
        <p:nvSpPr>
          <p:cNvPr id="9" name="Shape 6"/>
          <p:cNvSpPr/>
          <p:nvPr/>
        </p:nvSpPr>
        <p:spPr>
          <a:xfrm>
            <a:off x="457200" y="3566160"/>
            <a:ext cx="8229600" cy="429768"/>
          </a:xfrm>
          <a:prstGeom prst="rect">
            <a:avLst/>
          </a:prstGeom>
          <a:solidFill>
            <a:srgbClr val="FFFFFF"/>
          </a:solidFill>
          <a:ln/>
          <a:effectLst>
            <a:outerShdw blurRad="38100" dist="12700" dir="8100000" algn="bl" rotWithShape="0">
              <a:srgbClr val="000000">
                <a:alpha val="4000"/>
              </a:srgbClr>
            </a:outerShdw>
          </a:effectLst>
        </p:spPr>
        <p:txBody>
          <a:bodyPr/>
          <a:lstStyle/>
          <a:p>
            <a:endParaRPr lang="LID4096"/>
          </a:p>
        </p:txBody>
      </p:sp>
      <p:sp>
        <p:nvSpPr>
          <p:cNvPr id="10" name="Text 7"/>
          <p:cNvSpPr/>
          <p:nvPr/>
        </p:nvSpPr>
        <p:spPr>
          <a:xfrm>
            <a:off x="640080" y="3566160"/>
            <a:ext cx="2103120" cy="429768"/>
          </a:xfrm>
          <a:prstGeom prst="rect">
            <a:avLst/>
          </a:prstGeom>
          <a:noFill/>
          <a:ln/>
        </p:spPr>
        <p:txBody>
          <a:bodyPr wrap="square" lIns="0" tIns="0" rIns="0" bIns="0" rtlCol="0" anchor="ctr"/>
          <a:lstStyle/>
          <a:p>
            <a:pPr marL="0" indent="0">
              <a:buNone/>
            </a:pPr>
            <a:r>
              <a:rPr lang="en-US" sz="1000" b="1" dirty="0">
                <a:solidFill>
                  <a:srgbClr val="0A595F"/>
                </a:solidFill>
                <a:latin typeface="Calibri" pitchFamily="34" charset="0"/>
                <a:ea typeface="Calibri" pitchFamily="34" charset="-122"/>
                <a:cs typeface="Calibri" pitchFamily="34" charset="-120"/>
              </a:rPr>
              <a:t>Demand_Profiles</a:t>
            </a:r>
            <a:endParaRPr lang="en-US" sz="1000" dirty="0"/>
          </a:p>
        </p:txBody>
      </p:sp>
      <p:sp>
        <p:nvSpPr>
          <p:cNvPr id="11" name="Text 8"/>
          <p:cNvSpPr/>
          <p:nvPr/>
        </p:nvSpPr>
        <p:spPr>
          <a:xfrm>
            <a:off x="2834640" y="3566160"/>
            <a:ext cx="914400" cy="429768"/>
          </a:xfrm>
          <a:prstGeom prst="rect">
            <a:avLst/>
          </a:prstGeom>
          <a:noFill/>
          <a:ln/>
        </p:spPr>
        <p:txBody>
          <a:bodyPr wrap="square" lIns="0" tIns="0" rIns="0" bIns="0" rtlCol="0" anchor="ctr"/>
          <a:lstStyle/>
          <a:p>
            <a:pPr marL="0" indent="0" algn="ctr">
              <a:buNone/>
            </a:pPr>
            <a:r>
              <a:rPr lang="en-US" sz="1000" b="1" dirty="0">
                <a:solidFill>
                  <a:srgbClr val="23978E"/>
                </a:solidFill>
                <a:latin typeface="Calibri" pitchFamily="34" charset="0"/>
                <a:ea typeface="Calibri" pitchFamily="34" charset="-122"/>
                <a:cs typeface="Calibri" pitchFamily="34" charset="-120"/>
              </a:rPr>
              <a:t>108 rows</a:t>
            </a:r>
            <a:endParaRPr lang="en-US" sz="1000" dirty="0"/>
          </a:p>
        </p:txBody>
      </p:sp>
      <p:sp>
        <p:nvSpPr>
          <p:cNvPr id="4" name="Text 9"/>
          <p:cNvSpPr/>
          <p:nvPr/>
        </p:nvSpPr>
        <p:spPr>
          <a:xfrm>
            <a:off x="3840480" y="3566160"/>
            <a:ext cx="4663440" cy="429768"/>
          </a:xfrm>
          <a:prstGeom prst="rect">
            <a:avLst/>
          </a:prstGeom>
          <a:noFill/>
          <a:ln/>
        </p:spPr>
        <p:txBody>
          <a:bodyPr wrap="square" lIns="0" tIns="0" rIns="0" bIns="0" rtlCol="0" anchor="ctr"/>
          <a:lstStyle/>
          <a:p>
            <a:pPr marL="0" indent="0">
              <a:buNone/>
            </a:pPr>
            <a:r>
              <a:rPr lang="en-US" sz="1000" dirty="0">
                <a:solidFill>
                  <a:srgbClr val="334155"/>
                </a:solidFill>
                <a:latin typeface="Calibri" pitchFamily="34" charset="0"/>
                <a:ea typeface="Calibri" pitchFamily="34" charset="-122"/>
                <a:cs typeface="Calibri" pitchFamily="34" charset="-120"/>
              </a:rPr>
              <a:t>Demand fractions per TS for BTN, IND (5 regions), NPL</a:t>
            </a:r>
            <a:endParaRPr lang="en-US" sz="1000" dirty="0"/>
          </a:p>
        </p:txBody>
      </p:sp>
      <p:sp>
        <p:nvSpPr>
          <p:cNvPr id="13" name="Shape 10"/>
          <p:cNvSpPr/>
          <p:nvPr/>
        </p:nvSpPr>
        <p:spPr>
          <a:xfrm>
            <a:off x="457200" y="4069080"/>
            <a:ext cx="8229600" cy="429768"/>
          </a:xfrm>
          <a:prstGeom prst="rect">
            <a:avLst/>
          </a:prstGeom>
          <a:solidFill>
            <a:srgbClr val="FFFFFF"/>
          </a:solidFill>
          <a:ln/>
          <a:effectLst>
            <a:outerShdw blurRad="38100" dist="12700" dir="8100000" algn="bl" rotWithShape="0">
              <a:srgbClr val="000000">
                <a:alpha val="4000"/>
              </a:srgbClr>
            </a:outerShdw>
          </a:effectLst>
        </p:spPr>
        <p:txBody>
          <a:bodyPr/>
          <a:lstStyle/>
          <a:p>
            <a:endParaRPr lang="LID4096"/>
          </a:p>
        </p:txBody>
      </p:sp>
      <p:sp>
        <p:nvSpPr>
          <p:cNvPr id="14" name="Text 11"/>
          <p:cNvSpPr/>
          <p:nvPr/>
        </p:nvSpPr>
        <p:spPr>
          <a:xfrm>
            <a:off x="640080" y="4069080"/>
            <a:ext cx="2103120" cy="429768"/>
          </a:xfrm>
          <a:prstGeom prst="rect">
            <a:avLst/>
          </a:prstGeom>
          <a:noFill/>
          <a:ln/>
        </p:spPr>
        <p:txBody>
          <a:bodyPr wrap="square" lIns="0" tIns="0" rIns="0" bIns="0" rtlCol="0" anchor="ctr"/>
          <a:lstStyle/>
          <a:p>
            <a:pPr marL="0" indent="0">
              <a:buNone/>
            </a:pPr>
            <a:r>
              <a:rPr lang="en-US" sz="1000" b="1" dirty="0">
                <a:solidFill>
                  <a:srgbClr val="0A595F"/>
                </a:solidFill>
                <a:latin typeface="Calibri" pitchFamily="34" charset="0"/>
                <a:ea typeface="Calibri" pitchFamily="34" charset="-122"/>
                <a:cs typeface="Calibri" pitchFamily="34" charset="-120"/>
              </a:rPr>
              <a:t>Renewable_Ninja</a:t>
            </a:r>
            <a:endParaRPr lang="en-US" sz="1000" dirty="0"/>
          </a:p>
        </p:txBody>
      </p:sp>
      <p:sp>
        <p:nvSpPr>
          <p:cNvPr id="15" name="Text 12"/>
          <p:cNvSpPr/>
          <p:nvPr/>
        </p:nvSpPr>
        <p:spPr>
          <a:xfrm>
            <a:off x="2834640" y="4069080"/>
            <a:ext cx="914400" cy="429768"/>
          </a:xfrm>
          <a:prstGeom prst="rect">
            <a:avLst/>
          </a:prstGeom>
          <a:noFill/>
          <a:ln/>
        </p:spPr>
        <p:txBody>
          <a:bodyPr wrap="square" lIns="0" tIns="0" rIns="0" bIns="0" rtlCol="0" anchor="ctr"/>
          <a:lstStyle/>
          <a:p>
            <a:pPr marL="0" indent="0" algn="ctr">
              <a:buNone/>
            </a:pPr>
            <a:r>
              <a:rPr lang="en-US" sz="1000" b="1" dirty="0">
                <a:solidFill>
                  <a:srgbClr val="23978E"/>
                </a:solidFill>
                <a:latin typeface="Calibri" pitchFamily="34" charset="0"/>
                <a:ea typeface="Calibri" pitchFamily="34" charset="-122"/>
                <a:cs typeface="Calibri" pitchFamily="34" charset="-120"/>
              </a:rPr>
              <a:t>2,160 rows</a:t>
            </a:r>
            <a:endParaRPr lang="en-US" sz="1000" dirty="0"/>
          </a:p>
        </p:txBody>
      </p:sp>
      <p:sp>
        <p:nvSpPr>
          <p:cNvPr id="16" name="Text 13"/>
          <p:cNvSpPr/>
          <p:nvPr/>
        </p:nvSpPr>
        <p:spPr>
          <a:xfrm>
            <a:off x="3840480" y="4069080"/>
            <a:ext cx="4663440" cy="429768"/>
          </a:xfrm>
          <a:prstGeom prst="rect">
            <a:avLst/>
          </a:prstGeom>
          <a:noFill/>
          <a:ln/>
        </p:spPr>
        <p:txBody>
          <a:bodyPr wrap="square" lIns="0" tIns="0" rIns="0" bIns="0" rtlCol="0" anchor="ctr"/>
          <a:lstStyle/>
          <a:p>
            <a:pPr marL="0" indent="0">
              <a:buNone/>
            </a:pPr>
            <a:r>
              <a:rPr lang="en-US" sz="1000" dirty="0">
                <a:solidFill>
                  <a:srgbClr val="334155"/>
                </a:solidFill>
                <a:latin typeface="Calibri" pitchFamily="34" charset="0"/>
                <a:ea typeface="Calibri" pitchFamily="34" charset="-122"/>
                <a:cs typeface="Calibri" pitchFamily="34" charset="-120"/>
              </a:rPr>
              <a:t>Solar &amp; wind CFs: 10 regions, 9yr climate avg, 12 timeslices</a:t>
            </a:r>
            <a:endParaRPr lang="en-US" sz="1000" dirty="0"/>
          </a:p>
        </p:txBody>
      </p:sp>
      <p:sp>
        <p:nvSpPr>
          <p:cNvPr id="17" name="Shape 14"/>
          <p:cNvSpPr/>
          <p:nvPr/>
        </p:nvSpPr>
        <p:spPr>
          <a:xfrm>
            <a:off x="0" y="4709160"/>
            <a:ext cx="9144000" cy="434340"/>
          </a:xfrm>
          <a:prstGeom prst="rect">
            <a:avLst/>
          </a:prstGeom>
          <a:solidFill>
            <a:srgbClr val="00414D"/>
          </a:solidFill>
          <a:ln/>
        </p:spPr>
        <p:txBody>
          <a:bodyPr/>
          <a:lstStyle/>
          <a:p>
            <a:endParaRPr lang="LID4096"/>
          </a:p>
        </p:txBody>
      </p:sp>
      <p:sp>
        <p:nvSpPr>
          <p:cNvPr id="18" name="Text 15"/>
          <p:cNvSpPr/>
          <p:nvPr/>
        </p:nvSpPr>
        <p:spPr>
          <a:xfrm>
            <a:off x="457200" y="4727448"/>
            <a:ext cx="8229600" cy="393192"/>
          </a:xfrm>
          <a:prstGeom prst="rect">
            <a:avLst/>
          </a:prstGeom>
          <a:noFill/>
          <a:ln/>
        </p:spPr>
        <p:txBody>
          <a:bodyPr wrap="square" rtlCol="0" anchor="ctr"/>
          <a:lstStyle/>
          <a:p>
            <a:pPr marL="0" indent="0">
              <a:buNone/>
            </a:pPr>
            <a:r>
              <a:rPr lang="en-US" sz="800" dirty="0">
                <a:solidFill>
                  <a:srgbClr val="64748B"/>
                </a:solidFill>
                <a:latin typeface="Calibri" pitchFamily="34" charset="0"/>
                <a:ea typeface="Calibri" pitchFamily="34" charset="-122"/>
                <a:cs typeface="Calibri" pitchFamily="34" charset="-120"/>
              </a:rPr>
              <a:t>OSTRAM — Data Package v1.0  |  UN ESCAP Energy Division  |  March 2026</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bg>
      <p:bgPr>
        <a:solidFill>
          <a:srgbClr val="F0F5F5"/>
        </a:solidFill>
        <a:effectLst/>
      </p:bgPr>
    </p:bg>
    <p:spTree>
      <p:nvGrpSpPr>
        <p:cNvPr id="1" name=""/>
        <p:cNvGrpSpPr/>
        <p:nvPr/>
      </p:nvGrpSpPr>
      <p:grpSpPr>
        <a:xfrm>
          <a:off x="0" y="0"/>
          <a:ext cx="0" cy="0"/>
          <a:chOff x="0" y="0"/>
          <a:chExt cx="0" cy="0"/>
        </a:xfrm>
      </p:grpSpPr>
      <p:sp>
        <p:nvSpPr>
          <p:cNvPr id="2" name="Text 0"/>
          <p:cNvSpPr/>
          <p:nvPr/>
        </p:nvSpPr>
        <p:spPr>
          <a:xfrm>
            <a:off x="457200" y="182880"/>
            <a:ext cx="8229600" cy="411480"/>
          </a:xfrm>
          <a:prstGeom prst="rect">
            <a:avLst/>
          </a:prstGeom>
          <a:noFill/>
          <a:ln/>
        </p:spPr>
        <p:txBody>
          <a:bodyPr wrap="square" lIns="0" tIns="0" rIns="0" bIns="0" rtlCol="0" anchor="ctr"/>
          <a:lstStyle/>
          <a:p>
            <a:pPr marL="0" indent="0">
              <a:buNone/>
            </a:pPr>
            <a:r>
              <a:rPr lang="en-US" sz="2200" b="1" dirty="0">
                <a:solidFill>
                  <a:srgbClr val="00414D"/>
                </a:solidFill>
                <a:latin typeface="Georgia" pitchFamily="34" charset="0"/>
                <a:ea typeface="Georgia" pitchFamily="34" charset="-122"/>
                <a:cs typeface="Georgia" pitchFamily="34" charset="-120"/>
              </a:rPr>
              <a:t>VRE Capacity Factors — Full Time Series</a:t>
            </a:r>
            <a:endParaRPr lang="en-US" sz="2200" dirty="0"/>
          </a:p>
        </p:txBody>
      </p:sp>
      <p:sp>
        <p:nvSpPr>
          <p:cNvPr id="3" name="Text 1"/>
          <p:cNvSpPr/>
          <p:nvPr/>
        </p:nvSpPr>
        <p:spPr>
          <a:xfrm>
            <a:off x="457200" y="548640"/>
            <a:ext cx="8229600" cy="36576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Renewables Ninja: Solar &amp; wind capacity factors across 10 OSTRAM nodes, 2014–2022. Source: MERRA-2 reanalysis — NASA's global atmospheric dataset combining satellite observations with weather models to produce consistent hourly climate fields (irradiance, wind speed, temperature) at ~50 km resolution.</a:t>
            </a:r>
            <a:endParaRPr lang="en-US" sz="900" dirty="0"/>
          </a:p>
        </p:txBody>
      </p:sp>
      <p:pic>
        <p:nvPicPr>
          <p:cNvPr id="4" name="Image 0" descr="preencoded.png"/>
          <p:cNvPicPr>
            <a:picLocks noChangeAspect="1"/>
          </p:cNvPicPr>
          <p:nvPr/>
        </p:nvPicPr>
        <p:blipFill>
          <a:blip r:embed="rId3"/>
          <a:stretch>
            <a:fillRect/>
          </a:stretch>
        </p:blipFill>
        <p:spPr>
          <a:xfrm>
            <a:off x="2951018" y="960120"/>
            <a:ext cx="3241964" cy="3566160"/>
          </a:xfrm>
          <a:prstGeom prst="rect">
            <a:avLst/>
          </a:prstGeom>
        </p:spPr>
      </p:pic>
      <p:sp>
        <p:nvSpPr>
          <p:cNvPr id="5" name="Shape 2"/>
          <p:cNvSpPr/>
          <p:nvPr/>
        </p:nvSpPr>
        <p:spPr>
          <a:xfrm>
            <a:off x="0" y="4709160"/>
            <a:ext cx="9144000" cy="434340"/>
          </a:xfrm>
          <a:prstGeom prst="rect">
            <a:avLst/>
          </a:prstGeom>
          <a:solidFill>
            <a:srgbClr val="00414D"/>
          </a:solidFill>
          <a:ln/>
        </p:spPr>
        <p:txBody>
          <a:bodyPr/>
          <a:lstStyle/>
          <a:p>
            <a:endParaRPr lang="LID4096"/>
          </a:p>
        </p:txBody>
      </p:sp>
      <p:sp>
        <p:nvSpPr>
          <p:cNvPr id="6" name="Text 3"/>
          <p:cNvSpPr/>
          <p:nvPr/>
        </p:nvSpPr>
        <p:spPr>
          <a:xfrm>
            <a:off x="457200" y="4727448"/>
            <a:ext cx="8229600" cy="393192"/>
          </a:xfrm>
          <a:prstGeom prst="rect">
            <a:avLst/>
          </a:prstGeom>
          <a:noFill/>
          <a:ln/>
        </p:spPr>
        <p:txBody>
          <a:bodyPr wrap="square" rtlCol="0" anchor="ctr"/>
          <a:lstStyle/>
          <a:p>
            <a:pPr marL="0" indent="0">
              <a:buNone/>
            </a:pPr>
            <a:r>
              <a:rPr lang="en-US" sz="800" dirty="0">
                <a:solidFill>
                  <a:srgbClr val="64748B"/>
                </a:solidFill>
                <a:latin typeface="Calibri" pitchFamily="34" charset="0"/>
                <a:ea typeface="Calibri" pitchFamily="34" charset="-122"/>
                <a:cs typeface="Calibri" pitchFamily="34" charset="-120"/>
              </a:rPr>
              <a:t>OSTRAM — Data Package v1.0  |  UN ESCAP Energy Division  |  March 2026</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3">
    <p:bg>
      <p:bgPr>
        <a:solidFill>
          <a:srgbClr val="F0F5F5"/>
        </a:solidFill>
        <a:effectLst/>
      </p:bgPr>
    </p:bg>
    <p:spTree>
      <p:nvGrpSpPr>
        <p:cNvPr id="1" name=""/>
        <p:cNvGrpSpPr/>
        <p:nvPr/>
      </p:nvGrpSpPr>
      <p:grpSpPr>
        <a:xfrm>
          <a:off x="0" y="0"/>
          <a:ext cx="0" cy="0"/>
          <a:chOff x="0" y="0"/>
          <a:chExt cx="0" cy="0"/>
        </a:xfrm>
      </p:grpSpPr>
      <p:sp>
        <p:nvSpPr>
          <p:cNvPr id="2" name="Text 0"/>
          <p:cNvSpPr/>
          <p:nvPr/>
        </p:nvSpPr>
        <p:spPr>
          <a:xfrm>
            <a:off x="457200" y="182880"/>
            <a:ext cx="8229600" cy="411480"/>
          </a:xfrm>
          <a:prstGeom prst="rect">
            <a:avLst/>
          </a:prstGeom>
          <a:noFill/>
          <a:ln/>
        </p:spPr>
        <p:txBody>
          <a:bodyPr wrap="square" lIns="0" tIns="0" rIns="0" bIns="0" rtlCol="0" anchor="ctr"/>
          <a:lstStyle/>
          <a:p>
            <a:pPr marL="0" indent="0">
              <a:buNone/>
            </a:pPr>
            <a:r>
              <a:rPr lang="en-US" sz="2200" b="1" dirty="0">
                <a:solidFill>
                  <a:srgbClr val="00414D"/>
                </a:solidFill>
                <a:latin typeface="Georgia" pitchFamily="34" charset="0"/>
                <a:ea typeface="Georgia" pitchFamily="34" charset="-122"/>
                <a:cs typeface="Georgia" pitchFamily="34" charset="-120"/>
              </a:rPr>
              <a:t>VRE Capacity Factors — 2022 Annual Profile</a:t>
            </a:r>
            <a:endParaRPr lang="en-US" sz="2200" dirty="0"/>
          </a:p>
        </p:txBody>
      </p:sp>
      <p:sp>
        <p:nvSpPr>
          <p:cNvPr id="3" name="Text 1"/>
          <p:cNvSpPr/>
          <p:nvPr/>
        </p:nvSpPr>
        <p:spPr>
          <a:xfrm>
            <a:off x="457200" y="594360"/>
            <a:ext cx="8229600" cy="228600"/>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Solar and wind capacity factor variation across the full year for all 10 model nodes — seasonal patterns visible</a:t>
            </a:r>
            <a:endParaRPr lang="en-US" sz="1000" dirty="0"/>
          </a:p>
        </p:txBody>
      </p:sp>
      <p:pic>
        <p:nvPicPr>
          <p:cNvPr id="4" name="Image 0" descr="preencoded.png"/>
          <p:cNvPicPr>
            <a:picLocks noChangeAspect="1"/>
          </p:cNvPicPr>
          <p:nvPr/>
        </p:nvPicPr>
        <p:blipFill>
          <a:blip r:embed="rId3"/>
          <a:stretch>
            <a:fillRect/>
          </a:stretch>
        </p:blipFill>
        <p:spPr>
          <a:xfrm>
            <a:off x="2951018" y="868680"/>
            <a:ext cx="3241964" cy="3566160"/>
          </a:xfrm>
          <a:prstGeom prst="rect">
            <a:avLst/>
          </a:prstGeom>
        </p:spPr>
      </p:pic>
      <p:sp>
        <p:nvSpPr>
          <p:cNvPr id="5" name="Shape 2"/>
          <p:cNvSpPr/>
          <p:nvPr/>
        </p:nvSpPr>
        <p:spPr>
          <a:xfrm>
            <a:off x="0" y="4709160"/>
            <a:ext cx="9144000" cy="434340"/>
          </a:xfrm>
          <a:prstGeom prst="rect">
            <a:avLst/>
          </a:prstGeom>
          <a:solidFill>
            <a:srgbClr val="00414D"/>
          </a:solidFill>
          <a:ln/>
        </p:spPr>
        <p:txBody>
          <a:bodyPr/>
          <a:lstStyle/>
          <a:p>
            <a:endParaRPr lang="LID4096"/>
          </a:p>
        </p:txBody>
      </p:sp>
      <p:sp>
        <p:nvSpPr>
          <p:cNvPr id="6" name="Text 3"/>
          <p:cNvSpPr/>
          <p:nvPr/>
        </p:nvSpPr>
        <p:spPr>
          <a:xfrm>
            <a:off x="457200" y="4727448"/>
            <a:ext cx="8229600" cy="393192"/>
          </a:xfrm>
          <a:prstGeom prst="rect">
            <a:avLst/>
          </a:prstGeom>
          <a:noFill/>
          <a:ln/>
        </p:spPr>
        <p:txBody>
          <a:bodyPr wrap="square" rtlCol="0" anchor="ctr"/>
          <a:lstStyle/>
          <a:p>
            <a:pPr marL="0" indent="0">
              <a:buNone/>
            </a:pPr>
            <a:r>
              <a:rPr lang="en-US" sz="800" dirty="0">
                <a:solidFill>
                  <a:srgbClr val="64748B"/>
                </a:solidFill>
                <a:latin typeface="Calibri" pitchFamily="34" charset="0"/>
                <a:ea typeface="Calibri" pitchFamily="34" charset="-122"/>
                <a:cs typeface="Calibri" pitchFamily="34" charset="-120"/>
              </a:rPr>
              <a:t>OSTRAM — Data Package v1.0  |  UN ESCAP Energy Division  |  March 2026</a:t>
            </a:r>
            <a:endParaRPr lang="en-US" sz="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4">
    <p:bg>
      <p:bgPr>
        <a:solidFill>
          <a:srgbClr val="F0F5F5"/>
        </a:solidFill>
        <a:effectLst/>
      </p:bgPr>
    </p:bg>
    <p:spTree>
      <p:nvGrpSpPr>
        <p:cNvPr id="1" name=""/>
        <p:cNvGrpSpPr/>
        <p:nvPr/>
      </p:nvGrpSpPr>
      <p:grpSpPr>
        <a:xfrm>
          <a:off x="0" y="0"/>
          <a:ext cx="0" cy="0"/>
          <a:chOff x="0" y="0"/>
          <a:chExt cx="0" cy="0"/>
        </a:xfrm>
      </p:grpSpPr>
      <p:sp>
        <p:nvSpPr>
          <p:cNvPr id="2" name="Text 0"/>
          <p:cNvSpPr/>
          <p:nvPr/>
        </p:nvSpPr>
        <p:spPr>
          <a:xfrm>
            <a:off x="457200" y="182880"/>
            <a:ext cx="8229600" cy="365760"/>
          </a:xfrm>
          <a:prstGeom prst="rect">
            <a:avLst/>
          </a:prstGeom>
          <a:noFill/>
          <a:ln/>
        </p:spPr>
        <p:txBody>
          <a:bodyPr wrap="square" lIns="0" tIns="0" rIns="0" bIns="0" rtlCol="0" anchor="ctr"/>
          <a:lstStyle/>
          <a:p>
            <a:pPr marL="0" indent="0">
              <a:buNone/>
            </a:pPr>
            <a:r>
              <a:rPr lang="en-US" sz="2200" b="1" dirty="0">
                <a:solidFill>
                  <a:srgbClr val="00414D"/>
                </a:solidFill>
                <a:latin typeface="Georgia" pitchFamily="34" charset="0"/>
                <a:ea typeface="Georgia" pitchFamily="34" charset="-122"/>
                <a:cs typeface="Georgia" pitchFamily="34" charset="-120"/>
              </a:rPr>
              <a:t>VRE Profiles — Hourly Detail &amp; Timeslice Statistics</a:t>
            </a:r>
            <a:endParaRPr lang="en-US" sz="2200" dirty="0"/>
          </a:p>
        </p:txBody>
      </p:sp>
      <p:sp>
        <p:nvSpPr>
          <p:cNvPr id="3" name="Text 1"/>
          <p:cNvSpPr/>
          <p:nvPr/>
        </p:nvSpPr>
        <p:spPr>
          <a:xfrm>
            <a:off x="457200" y="566928"/>
            <a:ext cx="4114800" cy="201168"/>
          </a:xfrm>
          <a:prstGeom prst="rect">
            <a:avLst/>
          </a:prstGeom>
          <a:noFill/>
          <a:ln/>
        </p:spPr>
        <p:txBody>
          <a:bodyPr wrap="square" lIns="0" tIns="0" rIns="0" bIns="0" rtlCol="0" anchor="ctr"/>
          <a:lstStyle/>
          <a:p>
            <a:pPr marL="0" indent="0">
              <a:buNone/>
            </a:pPr>
            <a:r>
              <a:rPr lang="en-US" sz="950" b="1" dirty="0">
                <a:solidFill>
                  <a:srgbClr val="23978E"/>
                </a:solidFill>
                <a:latin typeface="Calibri" pitchFamily="34" charset="0"/>
                <a:ea typeface="Calibri" pitchFamily="34" charset="-122"/>
                <a:cs typeface="Calibri" pitchFamily="34" charset="-120"/>
              </a:rPr>
              <a:t>March 2022 — Hourly Resolution</a:t>
            </a:r>
            <a:endParaRPr lang="en-US" sz="950" dirty="0"/>
          </a:p>
        </p:txBody>
      </p:sp>
      <p:pic>
        <p:nvPicPr>
          <p:cNvPr id="4" name="Image 0" descr="preencoded.png"/>
          <p:cNvPicPr>
            <a:picLocks noChangeAspect="1"/>
          </p:cNvPicPr>
          <p:nvPr/>
        </p:nvPicPr>
        <p:blipFill>
          <a:blip r:embed="rId3"/>
          <a:stretch>
            <a:fillRect/>
          </a:stretch>
        </p:blipFill>
        <p:spPr>
          <a:xfrm>
            <a:off x="457200" y="777240"/>
            <a:ext cx="2992582" cy="3291840"/>
          </a:xfrm>
          <a:prstGeom prst="rect">
            <a:avLst/>
          </a:prstGeom>
        </p:spPr>
      </p:pic>
      <p:sp>
        <p:nvSpPr>
          <p:cNvPr id="5" name="Text 2"/>
          <p:cNvSpPr/>
          <p:nvPr/>
        </p:nvSpPr>
        <p:spPr>
          <a:xfrm>
            <a:off x="4754880" y="566928"/>
            <a:ext cx="4114800" cy="201168"/>
          </a:xfrm>
          <a:prstGeom prst="rect">
            <a:avLst/>
          </a:prstGeom>
          <a:noFill/>
          <a:ln/>
        </p:spPr>
        <p:txBody>
          <a:bodyPr wrap="square" lIns="0" tIns="0" rIns="0" bIns="0" rtlCol="0" anchor="ctr"/>
          <a:lstStyle/>
          <a:p>
            <a:pPr marL="0" indent="0">
              <a:buNone/>
            </a:pPr>
            <a:r>
              <a:rPr lang="en-US" sz="950" b="1" dirty="0">
                <a:solidFill>
                  <a:srgbClr val="23978E"/>
                </a:solidFill>
                <a:latin typeface="Calibri" pitchFamily="34" charset="0"/>
                <a:ea typeface="Calibri" pitchFamily="34" charset="-122"/>
                <a:cs typeface="Calibri" pitchFamily="34" charset="-120"/>
              </a:rPr>
              <a:t>Timeslice Statistics (Max, Mean, Min, Std)</a:t>
            </a:r>
            <a:endParaRPr lang="en-US" sz="950" dirty="0"/>
          </a:p>
        </p:txBody>
      </p:sp>
      <p:pic>
        <p:nvPicPr>
          <p:cNvPr id="6" name="Image 1" descr="preencoded.png"/>
          <p:cNvPicPr>
            <a:picLocks noChangeAspect="1"/>
          </p:cNvPicPr>
          <p:nvPr/>
        </p:nvPicPr>
        <p:blipFill>
          <a:blip r:embed="rId4"/>
          <a:stretch>
            <a:fillRect/>
          </a:stretch>
        </p:blipFill>
        <p:spPr>
          <a:xfrm>
            <a:off x="4754880" y="777240"/>
            <a:ext cx="3657600" cy="2926080"/>
          </a:xfrm>
          <a:prstGeom prst="rect">
            <a:avLst/>
          </a:prstGeom>
        </p:spPr>
      </p:pic>
      <p:sp>
        <p:nvSpPr>
          <p:cNvPr id="7" name="Text 3"/>
          <p:cNvSpPr/>
          <p:nvPr/>
        </p:nvSpPr>
        <p:spPr>
          <a:xfrm>
            <a:off x="457200" y="4206240"/>
            <a:ext cx="8229600" cy="411480"/>
          </a:xfrm>
          <a:prstGeom prst="rect">
            <a:avLst/>
          </a:prstGeom>
          <a:noFill/>
          <a:ln/>
        </p:spPr>
        <p:txBody>
          <a:bodyPr wrap="square" lIns="0" tIns="0" rIns="0" bIns="0" rtlCol="0" anchor="ctr"/>
          <a:lstStyle/>
          <a:p>
            <a:pPr marL="0" indent="0">
              <a:buNone/>
            </a:pPr>
            <a:r>
              <a:rPr lang="en-US" sz="950" dirty="0">
                <a:solidFill>
                  <a:srgbClr val="334155"/>
                </a:solidFill>
                <a:latin typeface="Calibri" pitchFamily="34" charset="0"/>
                <a:ea typeface="Calibri" pitchFamily="34" charset="-122"/>
                <a:cs typeface="Calibri" pitchFamily="34" charset="-120"/>
              </a:rPr>
              <a:t>Diurnal solar patterns are consistent across all nodes. Wind shows higher variability, particularly in LKAXX and INDSO during monsoon season (S3). These profiles feed directly into the CapacityFactor parameter in the OSeMOSYS model.</a:t>
            </a:r>
            <a:endParaRPr lang="en-US" sz="950" dirty="0"/>
          </a:p>
        </p:txBody>
      </p:sp>
      <p:sp>
        <p:nvSpPr>
          <p:cNvPr id="8" name="Shape 4"/>
          <p:cNvSpPr/>
          <p:nvPr/>
        </p:nvSpPr>
        <p:spPr>
          <a:xfrm>
            <a:off x="0" y="4709160"/>
            <a:ext cx="9144000" cy="434340"/>
          </a:xfrm>
          <a:prstGeom prst="rect">
            <a:avLst/>
          </a:prstGeom>
          <a:solidFill>
            <a:srgbClr val="00414D"/>
          </a:solidFill>
          <a:ln/>
        </p:spPr>
        <p:txBody>
          <a:bodyPr/>
          <a:lstStyle/>
          <a:p>
            <a:endParaRPr lang="LID4096"/>
          </a:p>
        </p:txBody>
      </p:sp>
      <p:sp>
        <p:nvSpPr>
          <p:cNvPr id="9" name="Text 5"/>
          <p:cNvSpPr/>
          <p:nvPr/>
        </p:nvSpPr>
        <p:spPr>
          <a:xfrm>
            <a:off x="457200" y="4727448"/>
            <a:ext cx="8229600" cy="393192"/>
          </a:xfrm>
          <a:prstGeom prst="rect">
            <a:avLst/>
          </a:prstGeom>
          <a:noFill/>
          <a:ln/>
        </p:spPr>
        <p:txBody>
          <a:bodyPr wrap="square" rtlCol="0" anchor="ctr"/>
          <a:lstStyle/>
          <a:p>
            <a:pPr marL="0" indent="0">
              <a:buNone/>
            </a:pPr>
            <a:r>
              <a:rPr lang="en-US" sz="800" dirty="0">
                <a:solidFill>
                  <a:srgbClr val="64748B"/>
                </a:solidFill>
                <a:latin typeface="Calibri" pitchFamily="34" charset="0"/>
                <a:ea typeface="Calibri" pitchFamily="34" charset="-122"/>
                <a:cs typeface="Calibri" pitchFamily="34" charset="-120"/>
              </a:rPr>
              <a:t>OSTRAM — Data Package v1.0  |  UN ESCAP Energy Division  |  March 2026</a:t>
            </a:r>
            <a:endParaRPr lang="en-US" sz="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5">
    <p:bg>
      <p:bgPr>
        <a:solidFill>
          <a:srgbClr val="F0F5F5"/>
        </a:solidFill>
        <a:effectLst/>
      </p:bgPr>
    </p:bg>
    <p:spTree>
      <p:nvGrpSpPr>
        <p:cNvPr id="1" name=""/>
        <p:cNvGrpSpPr/>
        <p:nvPr/>
      </p:nvGrpSpPr>
      <p:grpSpPr>
        <a:xfrm>
          <a:off x="0" y="0"/>
          <a:ext cx="0" cy="0"/>
          <a:chOff x="0" y="0"/>
          <a:chExt cx="0" cy="0"/>
        </a:xfrm>
      </p:grpSpPr>
      <p:sp>
        <p:nvSpPr>
          <p:cNvPr id="2" name="Text 0"/>
          <p:cNvSpPr/>
          <p:nvPr/>
        </p:nvSpPr>
        <p:spPr>
          <a:xfrm>
            <a:off x="457200" y="182880"/>
            <a:ext cx="8229600" cy="411480"/>
          </a:xfrm>
          <a:prstGeom prst="rect">
            <a:avLst/>
          </a:prstGeom>
          <a:noFill/>
          <a:ln/>
        </p:spPr>
        <p:txBody>
          <a:bodyPr wrap="square" lIns="0" tIns="0" rIns="0" bIns="0" rtlCol="0" anchor="ctr"/>
          <a:lstStyle/>
          <a:p>
            <a:pPr marL="0" indent="0">
              <a:buNone/>
            </a:pPr>
            <a:r>
              <a:rPr lang="en-US" sz="2200" b="1" dirty="0">
                <a:solidFill>
                  <a:srgbClr val="00414D"/>
                </a:solidFill>
                <a:latin typeface="Georgia" pitchFamily="34" charset="0"/>
                <a:ea typeface="Georgia" pitchFamily="34" charset="-122"/>
                <a:cs typeface="Georgia" pitchFamily="34" charset="-120"/>
              </a:rPr>
              <a:t>Timeslice Demand Profiles</a:t>
            </a:r>
            <a:endParaRPr lang="en-US" sz="2200" dirty="0"/>
          </a:p>
        </p:txBody>
      </p:sp>
      <p:sp>
        <p:nvSpPr>
          <p:cNvPr id="3" name="Text 1"/>
          <p:cNvSpPr/>
          <p:nvPr/>
        </p:nvSpPr>
        <p:spPr>
          <a:xfrm>
            <a:off x="457200" y="594360"/>
            <a:ext cx="8229600" cy="320040"/>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Demand fractions for 9 nodes (BGD, BTN, IND 5 sub-regions, NPL, LKA). Monsoon S3 concentrates ~35% of annual demand across all nodes. MDV profiles pending — yearbook-based derivation methodology documented.</a:t>
            </a:r>
            <a:endParaRPr lang="en-US" sz="1000" dirty="0"/>
          </a:p>
        </p:txBody>
      </p:sp>
      <p:pic>
        <p:nvPicPr>
          <p:cNvPr id="4" name="Image 0" descr="preencoded.png"/>
          <p:cNvPicPr>
            <a:picLocks noChangeAspect="1"/>
          </p:cNvPicPr>
          <p:nvPr/>
        </p:nvPicPr>
        <p:blipFill>
          <a:blip r:embed="rId3"/>
          <a:stretch>
            <a:fillRect/>
          </a:stretch>
        </p:blipFill>
        <p:spPr>
          <a:xfrm>
            <a:off x="457200" y="1051560"/>
            <a:ext cx="8229600" cy="3725017"/>
          </a:xfrm>
          <a:prstGeom prst="rect">
            <a:avLst/>
          </a:prstGeom>
        </p:spPr>
      </p:pic>
      <p:sp>
        <p:nvSpPr>
          <p:cNvPr id="5" name="Shape 2"/>
          <p:cNvSpPr/>
          <p:nvPr/>
        </p:nvSpPr>
        <p:spPr>
          <a:xfrm>
            <a:off x="0" y="4709160"/>
            <a:ext cx="9144000" cy="434340"/>
          </a:xfrm>
          <a:prstGeom prst="rect">
            <a:avLst/>
          </a:prstGeom>
          <a:solidFill>
            <a:srgbClr val="00414D"/>
          </a:solidFill>
          <a:ln/>
        </p:spPr>
        <p:txBody>
          <a:bodyPr/>
          <a:lstStyle/>
          <a:p>
            <a:endParaRPr lang="LID4096"/>
          </a:p>
        </p:txBody>
      </p:sp>
      <p:sp>
        <p:nvSpPr>
          <p:cNvPr id="6" name="Text 3"/>
          <p:cNvSpPr/>
          <p:nvPr/>
        </p:nvSpPr>
        <p:spPr>
          <a:xfrm>
            <a:off x="457200" y="4727448"/>
            <a:ext cx="8229600" cy="393192"/>
          </a:xfrm>
          <a:prstGeom prst="rect">
            <a:avLst/>
          </a:prstGeom>
          <a:noFill/>
          <a:ln/>
        </p:spPr>
        <p:txBody>
          <a:bodyPr wrap="square" rtlCol="0" anchor="ctr"/>
          <a:lstStyle/>
          <a:p>
            <a:pPr marL="0" indent="0">
              <a:buNone/>
            </a:pPr>
            <a:r>
              <a:rPr lang="en-US" sz="800" dirty="0">
                <a:solidFill>
                  <a:srgbClr val="64748B"/>
                </a:solidFill>
                <a:latin typeface="Calibri" pitchFamily="34" charset="0"/>
                <a:ea typeface="Calibri" pitchFamily="34" charset="-122"/>
                <a:cs typeface="Calibri" pitchFamily="34" charset="-120"/>
              </a:rPr>
              <a:t>OSTRAM — Data Package v1.0  |  UN ESCAP Energy Division  |  March 2026</a:t>
            </a:r>
            <a:endParaRPr lang="en-US" sz="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6">
    <p:bg>
      <p:bgPr>
        <a:solidFill>
          <a:srgbClr val="F0F5F5"/>
        </a:solidFill>
        <a:effectLst/>
      </p:bgPr>
    </p:bg>
    <p:spTree>
      <p:nvGrpSpPr>
        <p:cNvPr id="1" name=""/>
        <p:cNvGrpSpPr/>
        <p:nvPr/>
      </p:nvGrpSpPr>
      <p:grpSpPr>
        <a:xfrm>
          <a:off x="0" y="0"/>
          <a:ext cx="0" cy="0"/>
          <a:chOff x="0" y="0"/>
          <a:chExt cx="0" cy="0"/>
        </a:xfrm>
      </p:grpSpPr>
      <p:sp>
        <p:nvSpPr>
          <p:cNvPr id="2" name="Text 0"/>
          <p:cNvSpPr/>
          <p:nvPr/>
        </p:nvSpPr>
        <p:spPr>
          <a:xfrm>
            <a:off x="457200" y="182880"/>
            <a:ext cx="8229600" cy="411480"/>
          </a:xfrm>
          <a:prstGeom prst="rect">
            <a:avLst/>
          </a:prstGeom>
          <a:noFill/>
          <a:ln/>
        </p:spPr>
        <p:txBody>
          <a:bodyPr wrap="square" lIns="0" tIns="0" rIns="0" bIns="0" rtlCol="0" anchor="ctr"/>
          <a:lstStyle/>
          <a:p>
            <a:pPr marL="0" indent="0">
              <a:buNone/>
            </a:pPr>
            <a:r>
              <a:rPr lang="en-US" sz="2200" b="1" dirty="0">
                <a:solidFill>
                  <a:srgbClr val="00414D"/>
                </a:solidFill>
                <a:latin typeface="Georgia" pitchFamily="34" charset="0"/>
                <a:ea typeface="Georgia" pitchFamily="34" charset="-122"/>
                <a:cs typeface="Georgia" pitchFamily="34" charset="-120"/>
              </a:rPr>
              <a:t>Hydro Seasonal Capacity Factors</a:t>
            </a:r>
            <a:endParaRPr lang="en-US" sz="2200" dirty="0"/>
          </a:p>
        </p:txBody>
      </p:sp>
      <p:sp>
        <p:nvSpPr>
          <p:cNvPr id="3" name="Text 1"/>
          <p:cNvSpPr/>
          <p:nvPr/>
        </p:nvSpPr>
        <p:spPr>
          <a:xfrm>
            <a:off x="457200" y="594360"/>
            <a:ext cx="8229600" cy="365760"/>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Bangladesh Kaptai shows a pronounced monsoon peak (CF &gt; 0.7 in S3) with dry-season lows (S2 &lt; 0.15) — requires TotalTechnologyAnnualActivityUpperLimit rather than MaxCapacity to avoid solver infeasibility. Sri Lanka mini-hydro peaks in post-monsoon S4.</a:t>
            </a:r>
            <a:endParaRPr lang="en-US" sz="1000" dirty="0"/>
          </a:p>
        </p:txBody>
      </p:sp>
      <p:pic>
        <p:nvPicPr>
          <p:cNvPr id="4" name="Image 0" descr="preencoded.png"/>
          <p:cNvPicPr>
            <a:picLocks noChangeAspect="1"/>
          </p:cNvPicPr>
          <p:nvPr/>
        </p:nvPicPr>
        <p:blipFill>
          <a:blip r:embed="rId3"/>
          <a:stretch>
            <a:fillRect/>
          </a:stretch>
        </p:blipFill>
        <p:spPr>
          <a:xfrm>
            <a:off x="1353914" y="1051560"/>
            <a:ext cx="6436171" cy="3017520"/>
          </a:xfrm>
          <a:prstGeom prst="rect">
            <a:avLst/>
          </a:prstGeom>
        </p:spPr>
      </p:pic>
      <p:sp>
        <p:nvSpPr>
          <p:cNvPr id="5" name="Shape 2"/>
          <p:cNvSpPr/>
          <p:nvPr/>
        </p:nvSpPr>
        <p:spPr>
          <a:xfrm>
            <a:off x="0" y="4709160"/>
            <a:ext cx="9144000" cy="434340"/>
          </a:xfrm>
          <a:prstGeom prst="rect">
            <a:avLst/>
          </a:prstGeom>
          <a:solidFill>
            <a:srgbClr val="00414D"/>
          </a:solidFill>
          <a:ln/>
        </p:spPr>
        <p:txBody>
          <a:bodyPr/>
          <a:lstStyle/>
          <a:p>
            <a:endParaRPr lang="LID4096"/>
          </a:p>
        </p:txBody>
      </p:sp>
      <p:sp>
        <p:nvSpPr>
          <p:cNvPr id="6" name="Text 3"/>
          <p:cNvSpPr/>
          <p:nvPr/>
        </p:nvSpPr>
        <p:spPr>
          <a:xfrm>
            <a:off x="457200" y="4727448"/>
            <a:ext cx="8229600" cy="393192"/>
          </a:xfrm>
          <a:prstGeom prst="rect">
            <a:avLst/>
          </a:prstGeom>
          <a:noFill/>
          <a:ln/>
        </p:spPr>
        <p:txBody>
          <a:bodyPr wrap="square" rtlCol="0" anchor="ctr"/>
          <a:lstStyle/>
          <a:p>
            <a:pPr marL="0" indent="0">
              <a:buNone/>
            </a:pPr>
            <a:r>
              <a:rPr lang="en-US" sz="800" dirty="0">
                <a:solidFill>
                  <a:srgbClr val="64748B"/>
                </a:solidFill>
                <a:latin typeface="Calibri" pitchFamily="34" charset="0"/>
                <a:ea typeface="Calibri" pitchFamily="34" charset="-122"/>
                <a:cs typeface="Calibri" pitchFamily="34" charset="-120"/>
              </a:rPr>
              <a:t>OSTRAM — Data Package v1.0  |  UN ESCAP Energy Division  |  March 2026</a:t>
            </a:r>
            <a:endParaRPr lang="en-US" sz="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7">
    <p:bg>
      <p:bgPr>
        <a:solidFill>
          <a:srgbClr val="F0F5F5"/>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457200"/>
          </a:xfrm>
          <a:prstGeom prst="rect">
            <a:avLst/>
          </a:prstGeom>
          <a:noFill/>
          <a:ln/>
        </p:spPr>
        <p:txBody>
          <a:bodyPr wrap="square" lIns="0" tIns="0" rIns="0" bIns="0" rtlCol="0" anchor="ctr"/>
          <a:lstStyle/>
          <a:p>
            <a:pPr marL="0" indent="0">
              <a:buNone/>
            </a:pPr>
            <a:r>
              <a:rPr lang="en-US" sz="2400" b="1" dirty="0">
                <a:solidFill>
                  <a:srgbClr val="00414D"/>
                </a:solidFill>
                <a:latin typeface="Georgia" pitchFamily="34" charset="0"/>
                <a:ea typeface="Georgia" pitchFamily="34" charset="-122"/>
                <a:cs typeface="Georgia" pitchFamily="34" charset="-120"/>
              </a:rPr>
              <a:t>Supporting Workbooks — 20 Disaggregated Files</a:t>
            </a:r>
            <a:endParaRPr lang="en-US" sz="2400" dirty="0"/>
          </a:p>
        </p:txBody>
      </p:sp>
      <p:sp>
        <p:nvSpPr>
          <p:cNvPr id="3" name="Text 1"/>
          <p:cNvSpPr/>
          <p:nvPr/>
        </p:nvSpPr>
        <p:spPr>
          <a:xfrm>
            <a:off x="457200" y="777240"/>
            <a:ext cx="8229600" cy="274320"/>
          </a:xfrm>
          <a:prstGeom prst="rect">
            <a:avLst/>
          </a:prstGeom>
          <a:noFill/>
          <a:ln/>
        </p:spPr>
        <p:txBody>
          <a:bodyPr wrap="square" lIns="0" tIns="0" rIns="0" bIns="0" rtlCol="0" anchor="ctr"/>
          <a:lstStyle/>
          <a:p>
            <a:pPr marL="0" indent="0">
              <a:buNone/>
            </a:pPr>
            <a:r>
              <a:rPr lang="en-US" sz="1100" dirty="0">
                <a:solidFill>
                  <a:srgbClr val="334155"/>
                </a:solidFill>
                <a:latin typeface="Calibri" pitchFamily="34" charset="0"/>
                <a:ea typeface="Calibri" pitchFamily="34" charset="-122"/>
                <a:cs typeface="Calibri" pitchFamily="34" charset="-120"/>
              </a:rPr>
              <a:t>Behind the two consolidated Excel files sit 20 structured workbooks organized across three pillars:</a:t>
            </a:r>
            <a:endParaRPr lang="en-US" sz="1100" dirty="0"/>
          </a:p>
        </p:txBody>
      </p:sp>
      <p:sp>
        <p:nvSpPr>
          <p:cNvPr id="4" name="Shape 2"/>
          <p:cNvSpPr/>
          <p:nvPr/>
        </p:nvSpPr>
        <p:spPr>
          <a:xfrm>
            <a:off x="457200" y="1188720"/>
            <a:ext cx="2606040" cy="3200400"/>
          </a:xfrm>
          <a:prstGeom prst="rect">
            <a:avLst/>
          </a:prstGeom>
          <a:solidFill>
            <a:srgbClr val="FFFFFF"/>
          </a:solidFill>
          <a:ln/>
          <a:effectLst>
            <a:outerShdw blurRad="76200" dist="25400" dir="8100000" algn="bl" rotWithShape="0">
              <a:srgbClr val="000000">
                <a:alpha val="6000"/>
              </a:srgbClr>
            </a:outerShdw>
          </a:effectLst>
        </p:spPr>
        <p:txBody>
          <a:bodyPr/>
          <a:lstStyle/>
          <a:p>
            <a:endParaRPr lang="LID4096"/>
          </a:p>
        </p:txBody>
      </p:sp>
      <p:sp>
        <p:nvSpPr>
          <p:cNvPr id="5" name="Shape 3"/>
          <p:cNvSpPr/>
          <p:nvPr/>
        </p:nvSpPr>
        <p:spPr>
          <a:xfrm>
            <a:off x="457200" y="1188720"/>
            <a:ext cx="2606040" cy="502920"/>
          </a:xfrm>
          <a:prstGeom prst="rect">
            <a:avLst/>
          </a:prstGeom>
          <a:solidFill>
            <a:srgbClr val="0A595F"/>
          </a:solidFill>
          <a:ln/>
        </p:spPr>
        <p:txBody>
          <a:bodyPr/>
          <a:lstStyle/>
          <a:p>
            <a:endParaRPr lang="LID4096"/>
          </a:p>
        </p:txBody>
      </p:sp>
      <p:sp>
        <p:nvSpPr>
          <p:cNvPr id="6" name="Text 4"/>
          <p:cNvSpPr/>
          <p:nvPr/>
        </p:nvSpPr>
        <p:spPr>
          <a:xfrm>
            <a:off x="594360" y="1234440"/>
            <a:ext cx="2331720" cy="256032"/>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Energy Statistics</a:t>
            </a:r>
            <a:endParaRPr lang="en-US" sz="1200" dirty="0"/>
          </a:p>
        </p:txBody>
      </p:sp>
      <p:sp>
        <p:nvSpPr>
          <p:cNvPr id="7" name="Text 5"/>
          <p:cNvSpPr/>
          <p:nvPr/>
        </p:nvSpPr>
        <p:spPr>
          <a:xfrm>
            <a:off x="594360" y="1463040"/>
            <a:ext cx="2331720" cy="182880"/>
          </a:xfrm>
          <a:prstGeom prst="rect">
            <a:avLst/>
          </a:prstGeom>
          <a:noFill/>
          <a:ln/>
        </p:spPr>
        <p:txBody>
          <a:bodyPr wrap="square" lIns="0" tIns="0" rIns="0" bIns="0" rtlCol="0" anchor="ctr"/>
          <a:lstStyle/>
          <a:p>
            <a:pPr marL="0" indent="0">
              <a:buNone/>
            </a:pPr>
            <a:r>
              <a:rPr lang="en-US" sz="900" dirty="0">
                <a:solidFill>
                  <a:srgbClr val="D0D4DB"/>
                </a:solidFill>
                <a:latin typeface="Calibri" pitchFamily="34" charset="0"/>
                <a:ea typeface="Calibri" pitchFamily="34" charset="-122"/>
                <a:cs typeface="Calibri" pitchFamily="34" charset="-120"/>
              </a:rPr>
              <a:t>6 workbooks</a:t>
            </a:r>
            <a:endParaRPr lang="en-US" sz="900" dirty="0"/>
          </a:p>
        </p:txBody>
      </p:sp>
      <p:sp>
        <p:nvSpPr>
          <p:cNvPr id="8" name="Text 6"/>
          <p:cNvSpPr/>
          <p:nvPr/>
        </p:nvSpPr>
        <p:spPr>
          <a:xfrm>
            <a:off x="594360" y="1783080"/>
            <a:ext cx="2331720" cy="2468880"/>
          </a:xfrm>
          <a:prstGeom prst="rect">
            <a:avLst/>
          </a:prstGeom>
          <a:noFill/>
          <a:ln/>
        </p:spPr>
        <p:txBody>
          <a:bodyPr wrap="square" lIns="0" tIns="0" rIns="0" bIns="0" rtlCol="0" anchor="t"/>
          <a:lstStyle/>
          <a:p>
            <a:pPr marL="342900" indent="-342900">
              <a:buSzPct val="100000"/>
              <a:buChar char="•"/>
            </a:pPr>
            <a:r>
              <a:rPr lang="en-US" sz="950" dirty="0">
                <a:solidFill>
                  <a:srgbClr val="334155"/>
                </a:solidFill>
                <a:latin typeface="Calibri" pitchFamily="34" charset="0"/>
                <a:ea typeface="Calibri" pitchFamily="34" charset="-122"/>
                <a:cs typeface="Calibri" pitchFamily="34" charset="-120"/>
              </a:rPr>
              <a:t>Capacity factors by technology</a:t>
            </a:r>
            <a:endParaRPr lang="en-US" sz="950" dirty="0"/>
          </a:p>
          <a:p>
            <a:pPr marL="342900" indent="-342900">
              <a:buSzPct val="100000"/>
              <a:buChar char="•"/>
            </a:pPr>
            <a:r>
              <a:rPr lang="en-US" sz="950" dirty="0">
                <a:solidFill>
                  <a:srgbClr val="334155"/>
                </a:solidFill>
                <a:latin typeface="Calibri" pitchFamily="34" charset="0"/>
                <a:ea typeface="Calibri" pitchFamily="34" charset="-122"/>
                <a:cs typeface="Calibri" pitchFamily="34" charset="-120"/>
              </a:rPr>
              <a:t>Demand forecasts (historical + projected)</a:t>
            </a:r>
            <a:endParaRPr lang="en-US" sz="950" dirty="0"/>
          </a:p>
          <a:p>
            <a:pPr marL="342900" indent="-342900">
              <a:buSzPct val="100000"/>
              <a:buChar char="•"/>
            </a:pPr>
            <a:r>
              <a:rPr lang="en-US" sz="950" dirty="0">
                <a:solidFill>
                  <a:srgbClr val="334155"/>
                </a:solidFill>
                <a:latin typeface="Calibri" pitchFamily="34" charset="0"/>
                <a:ea typeface="Calibri" pitchFamily="34" charset="-122"/>
                <a:cs typeface="Calibri" pitchFamily="34" charset="-120"/>
              </a:rPr>
              <a:t>Historical generation mix</a:t>
            </a:r>
            <a:endParaRPr lang="en-US" sz="950" dirty="0"/>
          </a:p>
          <a:p>
            <a:pPr marL="342900" indent="-342900">
              <a:buSzPct val="100000"/>
              <a:buChar char="•"/>
            </a:pPr>
            <a:r>
              <a:rPr lang="en-US" sz="950" dirty="0">
                <a:solidFill>
                  <a:srgbClr val="334155"/>
                </a:solidFill>
                <a:latin typeface="Calibri" pitchFamily="34" charset="0"/>
                <a:ea typeface="Calibri" pitchFamily="34" charset="-122"/>
                <a:cs typeface="Calibri" pitchFamily="34" charset="-120"/>
              </a:rPr>
              <a:t>Seasonality / climate data</a:t>
            </a:r>
            <a:endParaRPr lang="en-US" sz="950" dirty="0"/>
          </a:p>
          <a:p>
            <a:pPr marL="342900" indent="-342900">
              <a:buSzPct val="100000"/>
              <a:buChar char="•"/>
            </a:pPr>
            <a:r>
              <a:rPr lang="en-US" sz="950" dirty="0">
                <a:solidFill>
                  <a:srgbClr val="334155"/>
                </a:solidFill>
                <a:latin typeface="Calibri" pitchFamily="34" charset="0"/>
                <a:ea typeface="Calibri" pitchFamily="34" charset="-122"/>
                <a:cs typeface="Calibri" pitchFamily="34" charset="-120"/>
              </a:rPr>
              <a:t>IRENA cross-reference</a:t>
            </a:r>
            <a:endParaRPr lang="en-US" sz="950" dirty="0"/>
          </a:p>
          <a:p>
            <a:pPr marL="342900" indent="-342900">
              <a:buSzPct val="100000"/>
              <a:buChar char="•"/>
            </a:pPr>
            <a:r>
              <a:rPr lang="en-US" sz="950" dirty="0">
                <a:solidFill>
                  <a:srgbClr val="334155"/>
                </a:solidFill>
                <a:latin typeface="Calibri" pitchFamily="34" charset="0"/>
                <a:ea typeface="Calibri" pitchFamily="34" charset="-122"/>
                <a:cs typeface="Calibri" pitchFamily="34" charset="-120"/>
              </a:rPr>
              <a:t>Source registries with URLs</a:t>
            </a:r>
            <a:endParaRPr lang="en-US" sz="950" dirty="0"/>
          </a:p>
        </p:txBody>
      </p:sp>
      <p:sp>
        <p:nvSpPr>
          <p:cNvPr id="9" name="Shape 7"/>
          <p:cNvSpPr/>
          <p:nvPr/>
        </p:nvSpPr>
        <p:spPr>
          <a:xfrm>
            <a:off x="3291840" y="1188720"/>
            <a:ext cx="2606040" cy="3200400"/>
          </a:xfrm>
          <a:prstGeom prst="rect">
            <a:avLst/>
          </a:prstGeom>
          <a:solidFill>
            <a:srgbClr val="FFFFFF"/>
          </a:solidFill>
          <a:ln/>
          <a:effectLst>
            <a:outerShdw blurRad="76200" dist="25400" dir="8100000" algn="bl" rotWithShape="0">
              <a:srgbClr val="000000">
                <a:alpha val="6000"/>
              </a:srgbClr>
            </a:outerShdw>
          </a:effectLst>
        </p:spPr>
        <p:txBody>
          <a:bodyPr/>
          <a:lstStyle/>
          <a:p>
            <a:endParaRPr lang="LID4096"/>
          </a:p>
        </p:txBody>
      </p:sp>
      <p:sp>
        <p:nvSpPr>
          <p:cNvPr id="10" name="Shape 8"/>
          <p:cNvSpPr/>
          <p:nvPr/>
        </p:nvSpPr>
        <p:spPr>
          <a:xfrm>
            <a:off x="3291840" y="1188720"/>
            <a:ext cx="2606040" cy="502920"/>
          </a:xfrm>
          <a:prstGeom prst="rect">
            <a:avLst/>
          </a:prstGeom>
          <a:solidFill>
            <a:srgbClr val="23978E"/>
          </a:solidFill>
          <a:ln/>
        </p:spPr>
        <p:txBody>
          <a:bodyPr/>
          <a:lstStyle/>
          <a:p>
            <a:endParaRPr lang="LID4096"/>
          </a:p>
        </p:txBody>
      </p:sp>
      <p:sp>
        <p:nvSpPr>
          <p:cNvPr id="11" name="Text 9"/>
          <p:cNvSpPr/>
          <p:nvPr/>
        </p:nvSpPr>
        <p:spPr>
          <a:xfrm>
            <a:off x="3429000" y="1234440"/>
            <a:ext cx="2331720" cy="256032"/>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Power Infrastructure</a:t>
            </a:r>
            <a:endParaRPr lang="en-US" sz="1200" dirty="0"/>
          </a:p>
        </p:txBody>
      </p:sp>
      <p:sp>
        <p:nvSpPr>
          <p:cNvPr id="12" name="Text 10"/>
          <p:cNvSpPr/>
          <p:nvPr/>
        </p:nvSpPr>
        <p:spPr>
          <a:xfrm>
            <a:off x="3429000" y="1463040"/>
            <a:ext cx="2331720" cy="182880"/>
          </a:xfrm>
          <a:prstGeom prst="rect">
            <a:avLst/>
          </a:prstGeom>
          <a:noFill/>
          <a:ln/>
        </p:spPr>
        <p:txBody>
          <a:bodyPr wrap="square" lIns="0" tIns="0" rIns="0" bIns="0" rtlCol="0" anchor="ctr"/>
          <a:lstStyle/>
          <a:p>
            <a:pPr marL="0" indent="0">
              <a:buNone/>
            </a:pPr>
            <a:r>
              <a:rPr lang="en-US" sz="900" dirty="0">
                <a:solidFill>
                  <a:srgbClr val="D0D4DB"/>
                </a:solidFill>
                <a:latin typeface="Calibri" pitchFamily="34" charset="0"/>
                <a:ea typeface="Calibri" pitchFamily="34" charset="-122"/>
                <a:cs typeface="Calibri" pitchFamily="34" charset="-120"/>
              </a:rPr>
              <a:t>6 workbooks</a:t>
            </a:r>
            <a:endParaRPr lang="en-US" sz="900" dirty="0"/>
          </a:p>
        </p:txBody>
      </p:sp>
      <p:sp>
        <p:nvSpPr>
          <p:cNvPr id="13" name="Text 11"/>
          <p:cNvSpPr/>
          <p:nvPr/>
        </p:nvSpPr>
        <p:spPr>
          <a:xfrm>
            <a:off x="3429000" y="1783080"/>
            <a:ext cx="2331720" cy="2468880"/>
          </a:xfrm>
          <a:prstGeom prst="rect">
            <a:avLst/>
          </a:prstGeom>
          <a:noFill/>
          <a:ln/>
        </p:spPr>
        <p:txBody>
          <a:bodyPr wrap="square" lIns="0" tIns="0" rIns="0" bIns="0" rtlCol="0" anchor="t"/>
          <a:lstStyle/>
          <a:p>
            <a:pPr marL="342900" indent="-342900">
              <a:buSzPct val="100000"/>
              <a:buChar char="•"/>
            </a:pPr>
            <a:r>
              <a:rPr lang="en-US" sz="950" dirty="0">
                <a:solidFill>
                  <a:srgbClr val="334155"/>
                </a:solidFill>
                <a:latin typeface="Calibri" pitchFamily="34" charset="0"/>
                <a:ea typeface="Calibri" pitchFamily="34" charset="-122"/>
                <a:cs typeface="Calibri" pitchFamily="34" charset="-120"/>
              </a:rPr>
              <a:t>Existing generation (plant-level)</a:t>
            </a:r>
            <a:endParaRPr lang="en-US" sz="950" dirty="0"/>
          </a:p>
          <a:p>
            <a:pPr marL="342900" indent="-342900">
              <a:buSzPct val="100000"/>
              <a:buChar char="•"/>
            </a:pPr>
            <a:r>
              <a:rPr lang="en-US" sz="950" dirty="0">
                <a:solidFill>
                  <a:srgbClr val="334155"/>
                </a:solidFill>
                <a:latin typeface="Calibri" pitchFamily="34" charset="0"/>
                <a:ea typeface="Calibri" pitchFamily="34" charset="-122"/>
                <a:cs typeface="Calibri" pitchFamily="34" charset="-120"/>
              </a:rPr>
              <a:t>Generation summary by fuel</a:t>
            </a:r>
            <a:endParaRPr lang="en-US" sz="950" dirty="0"/>
          </a:p>
          <a:p>
            <a:pPr marL="342900" indent="-342900">
              <a:buSzPct val="100000"/>
              <a:buChar char="•"/>
            </a:pPr>
            <a:r>
              <a:rPr lang="en-US" sz="950" dirty="0">
                <a:solidFill>
                  <a:srgbClr val="334155"/>
                </a:solidFill>
                <a:latin typeface="Calibri" pitchFamily="34" charset="0"/>
                <a:ea typeface="Calibri" pitchFamily="34" charset="-122"/>
                <a:cs typeface="Calibri" pitchFamily="34" charset="-120"/>
              </a:rPr>
              <a:t>Existing interconnections</a:t>
            </a:r>
            <a:endParaRPr lang="en-US" sz="950" dirty="0"/>
          </a:p>
          <a:p>
            <a:pPr marL="342900" indent="-342900">
              <a:buSzPct val="100000"/>
              <a:buChar char="•"/>
            </a:pPr>
            <a:r>
              <a:rPr lang="en-US" sz="950" dirty="0">
                <a:solidFill>
                  <a:srgbClr val="334155"/>
                </a:solidFill>
                <a:latin typeface="Calibri" pitchFamily="34" charset="0"/>
                <a:ea typeface="Calibri" pitchFamily="34" charset="-122"/>
                <a:cs typeface="Calibri" pitchFamily="34" charset="-120"/>
              </a:rPr>
              <a:t>Planned interconnections</a:t>
            </a:r>
            <a:endParaRPr lang="en-US" sz="950" dirty="0"/>
          </a:p>
          <a:p>
            <a:pPr marL="342900" indent="-342900">
              <a:buSzPct val="100000"/>
              <a:buChar char="•"/>
            </a:pPr>
            <a:r>
              <a:rPr lang="en-US" sz="950" dirty="0">
                <a:solidFill>
                  <a:srgbClr val="334155"/>
                </a:solidFill>
                <a:latin typeface="Calibri" pitchFamily="34" charset="0"/>
                <a:ea typeface="Calibri" pitchFamily="34" charset="-122"/>
                <a:cs typeface="Calibri" pitchFamily="34" charset="-120"/>
              </a:rPr>
              <a:t>Existing transmission</a:t>
            </a:r>
            <a:endParaRPr lang="en-US" sz="950" dirty="0"/>
          </a:p>
          <a:p>
            <a:pPr marL="342900" indent="-342900">
              <a:buSzPct val="100000"/>
              <a:buChar char="•"/>
            </a:pPr>
            <a:r>
              <a:rPr lang="en-US" sz="950" dirty="0">
                <a:solidFill>
                  <a:srgbClr val="334155"/>
                </a:solidFill>
                <a:latin typeface="Calibri" pitchFamily="34" charset="0"/>
                <a:ea typeface="Calibri" pitchFamily="34" charset="-122"/>
                <a:cs typeface="Calibri" pitchFamily="34" charset="-120"/>
              </a:rPr>
              <a:t>Planned transmission / generation</a:t>
            </a:r>
            <a:endParaRPr lang="en-US" sz="950" dirty="0"/>
          </a:p>
        </p:txBody>
      </p:sp>
      <p:sp>
        <p:nvSpPr>
          <p:cNvPr id="14" name="Shape 12"/>
          <p:cNvSpPr/>
          <p:nvPr/>
        </p:nvSpPr>
        <p:spPr>
          <a:xfrm>
            <a:off x="6126480" y="1188720"/>
            <a:ext cx="2606040" cy="3200400"/>
          </a:xfrm>
          <a:prstGeom prst="rect">
            <a:avLst/>
          </a:prstGeom>
          <a:solidFill>
            <a:srgbClr val="FFFFFF"/>
          </a:solidFill>
          <a:ln/>
          <a:effectLst>
            <a:outerShdw blurRad="76200" dist="25400" dir="8100000" algn="bl" rotWithShape="0">
              <a:srgbClr val="000000">
                <a:alpha val="6000"/>
              </a:srgbClr>
            </a:outerShdw>
          </a:effectLst>
        </p:spPr>
        <p:txBody>
          <a:bodyPr/>
          <a:lstStyle/>
          <a:p>
            <a:endParaRPr lang="LID4096"/>
          </a:p>
        </p:txBody>
      </p:sp>
      <p:sp>
        <p:nvSpPr>
          <p:cNvPr id="15" name="Shape 13"/>
          <p:cNvSpPr/>
          <p:nvPr/>
        </p:nvSpPr>
        <p:spPr>
          <a:xfrm>
            <a:off x="6126480" y="1188720"/>
            <a:ext cx="2606040" cy="502920"/>
          </a:xfrm>
          <a:prstGeom prst="rect">
            <a:avLst/>
          </a:prstGeom>
          <a:solidFill>
            <a:srgbClr val="23978E"/>
          </a:solidFill>
          <a:ln/>
        </p:spPr>
        <p:txBody>
          <a:bodyPr/>
          <a:lstStyle/>
          <a:p>
            <a:endParaRPr lang="LID4096"/>
          </a:p>
        </p:txBody>
      </p:sp>
      <p:sp>
        <p:nvSpPr>
          <p:cNvPr id="16" name="Text 14"/>
          <p:cNvSpPr/>
          <p:nvPr/>
        </p:nvSpPr>
        <p:spPr>
          <a:xfrm>
            <a:off x="6263640" y="1234440"/>
            <a:ext cx="2331720" cy="256032"/>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Demand Analysis</a:t>
            </a:r>
            <a:endParaRPr lang="en-US" sz="1200" dirty="0"/>
          </a:p>
        </p:txBody>
      </p:sp>
      <p:sp>
        <p:nvSpPr>
          <p:cNvPr id="17" name="Text 15"/>
          <p:cNvSpPr/>
          <p:nvPr/>
        </p:nvSpPr>
        <p:spPr>
          <a:xfrm>
            <a:off x="6263640" y="1463040"/>
            <a:ext cx="2331720" cy="182880"/>
          </a:xfrm>
          <a:prstGeom prst="rect">
            <a:avLst/>
          </a:prstGeom>
          <a:noFill/>
          <a:ln/>
        </p:spPr>
        <p:txBody>
          <a:bodyPr wrap="square" lIns="0" tIns="0" rIns="0" bIns="0" rtlCol="0" anchor="ctr"/>
          <a:lstStyle/>
          <a:p>
            <a:pPr marL="0" indent="0">
              <a:buNone/>
            </a:pPr>
            <a:r>
              <a:rPr lang="en-US" sz="900" dirty="0">
                <a:solidFill>
                  <a:srgbClr val="D0D4DB"/>
                </a:solidFill>
                <a:latin typeface="Calibri" pitchFamily="34" charset="0"/>
                <a:ea typeface="Calibri" pitchFamily="34" charset="-122"/>
                <a:cs typeface="Calibri" pitchFamily="34" charset="-120"/>
              </a:rPr>
              <a:t>5 workbooks + 3 assets</a:t>
            </a:r>
            <a:endParaRPr lang="en-US" sz="900" dirty="0"/>
          </a:p>
        </p:txBody>
      </p:sp>
      <p:sp>
        <p:nvSpPr>
          <p:cNvPr id="18" name="Text 16"/>
          <p:cNvSpPr/>
          <p:nvPr/>
        </p:nvSpPr>
        <p:spPr>
          <a:xfrm>
            <a:off x="6263640" y="1783080"/>
            <a:ext cx="2331720" cy="2468880"/>
          </a:xfrm>
          <a:prstGeom prst="rect">
            <a:avLst/>
          </a:prstGeom>
          <a:noFill/>
          <a:ln/>
        </p:spPr>
        <p:txBody>
          <a:bodyPr wrap="square" lIns="0" tIns="0" rIns="0" bIns="0" rtlCol="0" anchor="t"/>
          <a:lstStyle/>
          <a:p>
            <a:pPr marL="342900" indent="-342900">
              <a:buSzPct val="100000"/>
              <a:buChar char="•"/>
            </a:pPr>
            <a:r>
              <a:rPr lang="en-US" sz="950" dirty="0">
                <a:solidFill>
                  <a:srgbClr val="334155"/>
                </a:solidFill>
                <a:latin typeface="Calibri" pitchFamily="34" charset="0"/>
                <a:ea typeface="Calibri" pitchFamily="34" charset="-122"/>
                <a:cs typeface="Calibri" pitchFamily="34" charset="-120"/>
              </a:rPr>
              <a:t>OSTRAM timeslice profiles</a:t>
            </a:r>
            <a:endParaRPr lang="en-US" sz="950" dirty="0"/>
          </a:p>
          <a:p>
            <a:pPr marL="342900" indent="-342900">
              <a:buSzPct val="100000"/>
              <a:buChar char="•"/>
            </a:pPr>
            <a:r>
              <a:rPr lang="en-US" sz="950" dirty="0">
                <a:solidFill>
                  <a:srgbClr val="334155"/>
                </a:solidFill>
                <a:latin typeface="Calibri" pitchFamily="34" charset="0"/>
                <a:ea typeface="Calibri" pitchFamily="34" charset="-122"/>
                <a:cs typeface="Calibri" pitchFamily="34" charset="-120"/>
              </a:rPr>
              <a:t>Monthly/hourly demand decomposition</a:t>
            </a:r>
            <a:endParaRPr lang="en-US" sz="950" dirty="0"/>
          </a:p>
          <a:p>
            <a:pPr marL="342900" indent="-342900">
              <a:buSzPct val="100000"/>
              <a:buChar char="•"/>
            </a:pPr>
            <a:r>
              <a:rPr lang="en-US" sz="950" dirty="0">
                <a:solidFill>
                  <a:srgbClr val="334155"/>
                </a:solidFill>
                <a:latin typeface="Calibri" pitchFamily="34" charset="0"/>
                <a:ea typeface="Calibri" pitchFamily="34" charset="-122"/>
                <a:cs typeface="Calibri" pitchFamily="34" charset="-120"/>
              </a:rPr>
              <a:t>Hydro seasonal detail</a:t>
            </a:r>
            <a:endParaRPr lang="en-US" sz="950" dirty="0"/>
          </a:p>
          <a:p>
            <a:pPr marL="342900" indent="-342900">
              <a:buSzPct val="100000"/>
              <a:buChar char="•"/>
            </a:pPr>
            <a:r>
              <a:rPr lang="en-US" sz="950" dirty="0">
                <a:solidFill>
                  <a:srgbClr val="334155"/>
                </a:solidFill>
                <a:latin typeface="Calibri" pitchFamily="34" charset="0"/>
                <a:ea typeface="Calibri" pitchFamily="34" charset="-122"/>
                <a:cs typeface="Calibri" pitchFamily="34" charset="-120"/>
              </a:rPr>
              <a:t>Cross-validation against sources</a:t>
            </a:r>
            <a:endParaRPr lang="en-US" sz="950" dirty="0"/>
          </a:p>
          <a:p>
            <a:pPr marL="342900" indent="-342900">
              <a:buSzPct val="100000"/>
              <a:buChar char="•"/>
            </a:pPr>
            <a:r>
              <a:rPr lang="en-US" sz="950" dirty="0">
                <a:solidFill>
                  <a:srgbClr val="334155"/>
                </a:solidFill>
                <a:latin typeface="Calibri" pitchFamily="34" charset="0"/>
                <a:ea typeface="Calibri" pitchFamily="34" charset="-122"/>
                <a:cs typeface="Calibri" pitchFamily="34" charset="-120"/>
              </a:rPr>
              <a:t>Source selection rationale</a:t>
            </a:r>
            <a:endParaRPr lang="en-US" sz="950" dirty="0"/>
          </a:p>
          <a:p>
            <a:pPr marL="342900" indent="-342900">
              <a:buSzPct val="100000"/>
              <a:buChar char="•"/>
            </a:pPr>
            <a:r>
              <a:rPr lang="en-US" sz="950" dirty="0">
                <a:solidFill>
                  <a:srgbClr val="334155"/>
                </a:solidFill>
                <a:latin typeface="Calibri" pitchFamily="34" charset="0"/>
                <a:ea typeface="Calibri" pitchFamily="34" charset="-122"/>
                <a:cs typeface="Calibri" pitchFamily="34" charset="-120"/>
              </a:rPr>
              <a:t>Cost DB + VRE CFs</a:t>
            </a:r>
            <a:endParaRPr lang="en-US" sz="950" dirty="0"/>
          </a:p>
        </p:txBody>
      </p:sp>
      <p:sp>
        <p:nvSpPr>
          <p:cNvPr id="19" name="Text 17"/>
          <p:cNvSpPr/>
          <p:nvPr/>
        </p:nvSpPr>
        <p:spPr>
          <a:xfrm>
            <a:off x="457200" y="4480560"/>
            <a:ext cx="8229600" cy="182880"/>
          </a:xfrm>
          <a:prstGeom prst="rect">
            <a:avLst/>
          </a:prstGeom>
          <a:noFill/>
          <a:ln/>
        </p:spPr>
        <p:txBody>
          <a:bodyPr wrap="square" lIns="0" tIns="0" rIns="0" bIns="0" rtlCol="0" anchor="ctr"/>
          <a:lstStyle/>
          <a:p>
            <a:pPr marL="0" indent="0">
              <a:buNone/>
            </a:pPr>
            <a:r>
              <a:rPr lang="en-US" sz="850" i="1" dirty="0">
                <a:solidFill>
                  <a:srgbClr val="64748B"/>
                </a:solidFill>
                <a:latin typeface="Calibri" pitchFamily="34" charset="0"/>
                <a:ea typeface="Calibri" pitchFamily="34" charset="-122"/>
                <a:cs typeface="Calibri" pitchFamily="34" charset="-120"/>
              </a:rPr>
              <a:t>Naming convention: [ISO3]_Energy_Statistics.xlsx  |  [ISO3]_Power_Infrastructure.xlsx  |  [ISO3]_Demand_Analysis.xlsx</a:t>
            </a:r>
            <a:endParaRPr lang="en-US" sz="850" dirty="0"/>
          </a:p>
        </p:txBody>
      </p:sp>
      <p:sp>
        <p:nvSpPr>
          <p:cNvPr id="20" name="Shape 18"/>
          <p:cNvSpPr/>
          <p:nvPr/>
        </p:nvSpPr>
        <p:spPr>
          <a:xfrm>
            <a:off x="0" y="4709160"/>
            <a:ext cx="9144000" cy="434340"/>
          </a:xfrm>
          <a:prstGeom prst="rect">
            <a:avLst/>
          </a:prstGeom>
          <a:solidFill>
            <a:srgbClr val="00414D"/>
          </a:solidFill>
          <a:ln/>
        </p:spPr>
        <p:txBody>
          <a:bodyPr/>
          <a:lstStyle/>
          <a:p>
            <a:endParaRPr lang="LID4096"/>
          </a:p>
        </p:txBody>
      </p:sp>
      <p:sp>
        <p:nvSpPr>
          <p:cNvPr id="21" name="Text 19"/>
          <p:cNvSpPr/>
          <p:nvPr/>
        </p:nvSpPr>
        <p:spPr>
          <a:xfrm>
            <a:off x="457200" y="4727448"/>
            <a:ext cx="8229600" cy="393192"/>
          </a:xfrm>
          <a:prstGeom prst="rect">
            <a:avLst/>
          </a:prstGeom>
          <a:noFill/>
          <a:ln/>
        </p:spPr>
        <p:txBody>
          <a:bodyPr wrap="square" rtlCol="0" anchor="ctr"/>
          <a:lstStyle/>
          <a:p>
            <a:pPr marL="0" indent="0">
              <a:buNone/>
            </a:pPr>
            <a:r>
              <a:rPr lang="en-US" sz="800" dirty="0">
                <a:solidFill>
                  <a:srgbClr val="64748B"/>
                </a:solidFill>
                <a:latin typeface="Calibri" pitchFamily="34" charset="0"/>
                <a:ea typeface="Calibri" pitchFamily="34" charset="-122"/>
                <a:cs typeface="Calibri" pitchFamily="34" charset="-120"/>
              </a:rPr>
              <a:t>OSTRAM — Data Package v1.0  | UN ESCAP Energy Division  |  March 2026</a:t>
            </a:r>
            <a:endParaRPr lang="en-US" sz="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8">
    <p:bg>
      <p:bgPr>
        <a:solidFill>
          <a:srgbClr val="0A595F"/>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23978E"/>
          </a:solidFill>
          <a:ln/>
        </p:spPr>
        <p:txBody>
          <a:bodyPr/>
          <a:lstStyle/>
          <a:p>
            <a:endParaRPr lang="LID4096"/>
          </a:p>
        </p:txBody>
      </p:sp>
      <p:pic>
        <p:nvPicPr>
          <p:cNvPr id="3" name="Image 0" descr="preencoded.png"/>
          <p:cNvPicPr>
            <a:picLocks noChangeAspect="1"/>
          </p:cNvPicPr>
          <p:nvPr/>
        </p:nvPicPr>
        <p:blipFill>
          <a:blip r:embed="rId3"/>
          <a:stretch>
            <a:fillRect/>
          </a:stretch>
        </p:blipFill>
        <p:spPr>
          <a:xfrm>
            <a:off x="640080" y="1097280"/>
            <a:ext cx="457200" cy="457200"/>
          </a:xfrm>
          <a:prstGeom prst="rect">
            <a:avLst/>
          </a:prstGeom>
        </p:spPr>
      </p:pic>
      <p:sp>
        <p:nvSpPr>
          <p:cNvPr id="4" name="Text 1"/>
          <p:cNvSpPr/>
          <p:nvPr/>
        </p:nvSpPr>
        <p:spPr>
          <a:xfrm>
            <a:off x="640080" y="1645920"/>
            <a:ext cx="7315200" cy="594360"/>
          </a:xfrm>
          <a:prstGeom prst="rect">
            <a:avLst/>
          </a:prstGeom>
          <a:noFill/>
          <a:ln/>
        </p:spPr>
        <p:txBody>
          <a:bodyPr wrap="square" lIns="0" tIns="0" rIns="0" bIns="0" rtlCol="0" anchor="ctr"/>
          <a:lstStyle/>
          <a:p>
            <a:pPr marL="0" indent="0">
              <a:buNone/>
            </a:pPr>
            <a:r>
              <a:rPr lang="en-US" sz="3600" b="1" dirty="0">
                <a:solidFill>
                  <a:srgbClr val="FFFFFF"/>
                </a:solidFill>
                <a:latin typeface="Georgia" pitchFamily="34" charset="0"/>
                <a:ea typeface="Georgia" pitchFamily="34" charset="-122"/>
                <a:cs typeface="Georgia" pitchFamily="34" charset="-120"/>
              </a:rPr>
              <a:t>Preliminary BAU Results</a:t>
            </a:r>
            <a:endParaRPr lang="en-US" sz="3600" dirty="0"/>
          </a:p>
        </p:txBody>
      </p:sp>
      <p:sp>
        <p:nvSpPr>
          <p:cNvPr id="5" name="Text 2"/>
          <p:cNvSpPr/>
          <p:nvPr/>
        </p:nvSpPr>
        <p:spPr>
          <a:xfrm>
            <a:off x="640080" y="2240280"/>
            <a:ext cx="7315200" cy="320040"/>
          </a:xfrm>
          <a:prstGeom prst="rect">
            <a:avLst/>
          </a:prstGeom>
          <a:noFill/>
          <a:ln/>
        </p:spPr>
        <p:txBody>
          <a:bodyPr wrap="square" lIns="0" tIns="0" rIns="0" bIns="0" rtlCol="0" anchor="ctr"/>
          <a:lstStyle/>
          <a:p>
            <a:pPr marL="0" indent="0">
              <a:buNone/>
            </a:pPr>
            <a:r>
              <a:rPr lang="en-US" sz="1600" dirty="0">
                <a:solidFill>
                  <a:schemeClr val="bg1"/>
                </a:solidFill>
                <a:latin typeface="Calibri" pitchFamily="34" charset="0"/>
                <a:ea typeface="Calibri" pitchFamily="34" charset="-122"/>
                <a:cs typeface="Calibri" pitchFamily="34" charset="-120"/>
              </a:rPr>
              <a:t>OSeMOSYS Global — Initial Model Run</a:t>
            </a:r>
            <a:endParaRPr lang="en-US" sz="1600" dirty="0">
              <a:solidFill>
                <a:schemeClr val="bg1"/>
              </a:solidFill>
            </a:endParaRPr>
          </a:p>
        </p:txBody>
      </p:sp>
      <p:sp>
        <p:nvSpPr>
          <p:cNvPr id="6" name="Text 3"/>
          <p:cNvSpPr/>
          <p:nvPr/>
        </p:nvSpPr>
        <p:spPr>
          <a:xfrm>
            <a:off x="640080" y="2834640"/>
            <a:ext cx="7315200" cy="828012"/>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 The datasets from the Data Package v1.0 have yet to be integrated into an OSeMOSYS Global base model. </a:t>
            </a:r>
            <a:br>
              <a:rPr lang="en-US" sz="1300" dirty="0">
                <a:solidFill>
                  <a:srgbClr val="FFFFFF"/>
                </a:solidFill>
                <a:latin typeface="Calibri" pitchFamily="34" charset="0"/>
                <a:ea typeface="Calibri" pitchFamily="34" charset="-122"/>
                <a:cs typeface="Calibri" pitchFamily="34" charset="-120"/>
              </a:rPr>
            </a:br>
            <a:br>
              <a:rPr lang="en-US" sz="1300" dirty="0">
                <a:solidFill>
                  <a:srgbClr val="FFFFFF"/>
                </a:solidFill>
                <a:latin typeface="Calibri" pitchFamily="34" charset="0"/>
                <a:ea typeface="Calibri" pitchFamily="34" charset="-122"/>
                <a:cs typeface="Calibri" pitchFamily="34" charset="-120"/>
              </a:rPr>
            </a:br>
            <a:r>
              <a:rPr lang="en-US" sz="1300" dirty="0">
                <a:solidFill>
                  <a:srgbClr val="FFFFFF"/>
                </a:solidFill>
                <a:latin typeface="Calibri" pitchFamily="34" charset="0"/>
                <a:ea typeface="Calibri" pitchFamily="34" charset="-122"/>
                <a:cs typeface="Calibri" pitchFamily="34" charset="-120"/>
              </a:rPr>
              <a:t>- The following slides show the first BAU scenario results across 6 countries and 10 model nodes using an </a:t>
            </a:r>
            <a:r>
              <a:rPr lang="en-US" sz="1300" dirty="0" err="1">
                <a:solidFill>
                  <a:srgbClr val="FFFFFF"/>
                </a:solidFill>
                <a:latin typeface="Calibri" pitchFamily="34" charset="0"/>
                <a:ea typeface="Calibri" pitchFamily="34" charset="-122"/>
                <a:cs typeface="Calibri" pitchFamily="34" charset="-120"/>
              </a:rPr>
              <a:t>OSeMOSYS</a:t>
            </a:r>
            <a:r>
              <a:rPr lang="en-US" sz="1300" dirty="0">
                <a:solidFill>
                  <a:srgbClr val="FFFFFF"/>
                </a:solidFill>
                <a:latin typeface="Calibri" pitchFamily="34" charset="0"/>
                <a:ea typeface="Calibri" pitchFamily="34" charset="-122"/>
                <a:cs typeface="Calibri" pitchFamily="34" charset="-120"/>
              </a:rPr>
              <a:t> Global base model.</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9">
    <p:bg>
      <p:bgPr>
        <a:solidFill>
          <a:srgbClr val="F0F5F5"/>
        </a:solidFill>
        <a:effectLst/>
      </p:bgPr>
    </p:bg>
    <p:spTree>
      <p:nvGrpSpPr>
        <p:cNvPr id="1" name=""/>
        <p:cNvGrpSpPr/>
        <p:nvPr/>
      </p:nvGrpSpPr>
      <p:grpSpPr>
        <a:xfrm>
          <a:off x="0" y="0"/>
          <a:ext cx="0" cy="0"/>
          <a:chOff x="0" y="0"/>
          <a:chExt cx="0" cy="0"/>
        </a:xfrm>
      </p:grpSpPr>
      <p:sp>
        <p:nvSpPr>
          <p:cNvPr id="2" name="Text 0"/>
          <p:cNvSpPr/>
          <p:nvPr/>
        </p:nvSpPr>
        <p:spPr>
          <a:xfrm>
            <a:off x="457200" y="182880"/>
            <a:ext cx="8229600" cy="411480"/>
          </a:xfrm>
          <a:prstGeom prst="rect">
            <a:avLst/>
          </a:prstGeom>
          <a:noFill/>
          <a:ln/>
        </p:spPr>
        <p:txBody>
          <a:bodyPr wrap="square" lIns="0" tIns="0" rIns="0" bIns="0" rtlCol="0" anchor="ctr"/>
          <a:lstStyle/>
          <a:p>
            <a:pPr marL="0" indent="0">
              <a:buNone/>
            </a:pPr>
            <a:r>
              <a:rPr lang="en-US" sz="2200" b="1" dirty="0">
                <a:solidFill>
                  <a:srgbClr val="00414D"/>
                </a:solidFill>
                <a:latin typeface="Georgia" pitchFamily="34" charset="0"/>
                <a:ea typeface="Georgia" pitchFamily="34" charset="-122"/>
                <a:cs typeface="Georgia" pitchFamily="34" charset="-120"/>
              </a:rPr>
              <a:t>BAU — Capacity &amp; Generation Mix</a:t>
            </a:r>
            <a:endParaRPr lang="en-US" sz="2200" dirty="0"/>
          </a:p>
        </p:txBody>
      </p:sp>
      <p:sp>
        <p:nvSpPr>
          <p:cNvPr id="3" name="Text 1"/>
          <p:cNvSpPr/>
          <p:nvPr/>
        </p:nvSpPr>
        <p:spPr>
          <a:xfrm>
            <a:off x="457200" y="594360"/>
            <a:ext cx="8229600" cy="201168"/>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Initial BAU (v0): Regional capacity grows from 458 GW (2023) to 2,470 GW (2040). Solar PV and wind dominate new additions. These are preliminary results — proper BAU under construction.</a:t>
            </a:r>
            <a:endParaRPr lang="en-US" sz="1000" dirty="0"/>
          </a:p>
        </p:txBody>
      </p:sp>
      <p:sp>
        <p:nvSpPr>
          <p:cNvPr id="4" name="Text 2"/>
          <p:cNvSpPr/>
          <p:nvPr/>
        </p:nvSpPr>
        <p:spPr>
          <a:xfrm>
            <a:off x="274320" y="822960"/>
            <a:ext cx="4114800" cy="182880"/>
          </a:xfrm>
          <a:prstGeom prst="rect">
            <a:avLst/>
          </a:prstGeom>
          <a:noFill/>
          <a:ln/>
        </p:spPr>
        <p:txBody>
          <a:bodyPr wrap="square" lIns="0" tIns="0" rIns="0" bIns="0" rtlCol="0" anchor="ctr"/>
          <a:lstStyle/>
          <a:p>
            <a:pPr marL="0" indent="0">
              <a:buNone/>
            </a:pPr>
            <a:r>
              <a:rPr lang="en-US" sz="900" b="1" dirty="0">
                <a:solidFill>
                  <a:srgbClr val="23978E"/>
                </a:solidFill>
                <a:latin typeface="Calibri" pitchFamily="34" charset="0"/>
                <a:ea typeface="Calibri" pitchFamily="34" charset="-122"/>
                <a:cs typeface="Calibri" pitchFamily="34" charset="-120"/>
              </a:rPr>
              <a:t>Capacity by Technology [GW]</a:t>
            </a:r>
            <a:endParaRPr lang="en-US" sz="900" dirty="0"/>
          </a:p>
        </p:txBody>
      </p:sp>
      <p:pic>
        <p:nvPicPr>
          <p:cNvPr id="5" name="Image 0" descr="preencoded.png"/>
          <p:cNvPicPr>
            <a:picLocks noChangeAspect="1"/>
          </p:cNvPicPr>
          <p:nvPr/>
        </p:nvPicPr>
        <p:blipFill>
          <a:blip r:embed="rId3"/>
          <a:stretch>
            <a:fillRect/>
          </a:stretch>
        </p:blipFill>
        <p:spPr>
          <a:xfrm>
            <a:off x="274320" y="1005840"/>
            <a:ext cx="3565781" cy="3383280"/>
          </a:xfrm>
          <a:prstGeom prst="rect">
            <a:avLst/>
          </a:prstGeom>
        </p:spPr>
      </p:pic>
      <p:sp>
        <p:nvSpPr>
          <p:cNvPr id="6" name="Text 3"/>
          <p:cNvSpPr/>
          <p:nvPr/>
        </p:nvSpPr>
        <p:spPr>
          <a:xfrm>
            <a:off x="4709160" y="822960"/>
            <a:ext cx="4114800" cy="182880"/>
          </a:xfrm>
          <a:prstGeom prst="rect">
            <a:avLst/>
          </a:prstGeom>
          <a:noFill/>
          <a:ln/>
        </p:spPr>
        <p:txBody>
          <a:bodyPr wrap="square" lIns="0" tIns="0" rIns="0" bIns="0" rtlCol="0" anchor="ctr"/>
          <a:lstStyle/>
          <a:p>
            <a:pPr marL="0" indent="0">
              <a:buNone/>
            </a:pPr>
            <a:r>
              <a:rPr lang="en-US" sz="900" b="1" dirty="0">
                <a:solidFill>
                  <a:srgbClr val="23978E"/>
                </a:solidFill>
                <a:latin typeface="Calibri" pitchFamily="34" charset="0"/>
                <a:ea typeface="Calibri" pitchFamily="34" charset="-122"/>
                <a:cs typeface="Calibri" pitchFamily="34" charset="-120"/>
              </a:rPr>
              <a:t>Generation by Technology [GWh]</a:t>
            </a:r>
            <a:endParaRPr lang="en-US" sz="900" dirty="0"/>
          </a:p>
        </p:txBody>
      </p:sp>
      <p:pic>
        <p:nvPicPr>
          <p:cNvPr id="7" name="Image 1" descr="preencoded.png"/>
          <p:cNvPicPr>
            <a:picLocks noChangeAspect="1"/>
          </p:cNvPicPr>
          <p:nvPr/>
        </p:nvPicPr>
        <p:blipFill>
          <a:blip r:embed="rId4"/>
          <a:stretch>
            <a:fillRect/>
          </a:stretch>
        </p:blipFill>
        <p:spPr>
          <a:xfrm>
            <a:off x="4709160" y="1005840"/>
            <a:ext cx="3565781" cy="3383280"/>
          </a:xfrm>
          <a:prstGeom prst="rect">
            <a:avLst/>
          </a:prstGeom>
        </p:spPr>
      </p:pic>
      <p:sp>
        <p:nvSpPr>
          <p:cNvPr id="8" name="Shape 4"/>
          <p:cNvSpPr/>
          <p:nvPr/>
        </p:nvSpPr>
        <p:spPr>
          <a:xfrm>
            <a:off x="0" y="4709160"/>
            <a:ext cx="9144000" cy="434340"/>
          </a:xfrm>
          <a:prstGeom prst="rect">
            <a:avLst/>
          </a:prstGeom>
          <a:solidFill>
            <a:srgbClr val="00414D"/>
          </a:solidFill>
          <a:ln/>
        </p:spPr>
        <p:txBody>
          <a:bodyPr/>
          <a:lstStyle/>
          <a:p>
            <a:endParaRPr lang="LID4096"/>
          </a:p>
        </p:txBody>
      </p:sp>
      <p:sp>
        <p:nvSpPr>
          <p:cNvPr id="9" name="Text 5"/>
          <p:cNvSpPr/>
          <p:nvPr/>
        </p:nvSpPr>
        <p:spPr>
          <a:xfrm>
            <a:off x="457200" y="4727448"/>
            <a:ext cx="8229600" cy="393192"/>
          </a:xfrm>
          <a:prstGeom prst="rect">
            <a:avLst/>
          </a:prstGeom>
          <a:noFill/>
          <a:ln/>
        </p:spPr>
        <p:txBody>
          <a:bodyPr wrap="square" rtlCol="0" anchor="ctr"/>
          <a:lstStyle/>
          <a:p>
            <a:pPr marL="0" indent="0">
              <a:buNone/>
            </a:pPr>
            <a:r>
              <a:rPr lang="en-US" sz="800" dirty="0">
                <a:solidFill>
                  <a:srgbClr val="64748B"/>
                </a:solidFill>
                <a:latin typeface="Calibri" pitchFamily="34" charset="0"/>
                <a:ea typeface="Calibri" pitchFamily="34" charset="-122"/>
                <a:cs typeface="Calibri" pitchFamily="34" charset="-120"/>
              </a:rPr>
              <a:t>OSTRAM — Data Package v1.0  |  UN ESCAP Energy Division  |  March 2026</a:t>
            </a:r>
            <a:endParaRPr lang="en-US" sz="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0">
    <p:bg>
      <p:bgPr>
        <a:solidFill>
          <a:srgbClr val="F0F5F5"/>
        </a:solidFill>
        <a:effectLst/>
      </p:bgPr>
    </p:bg>
    <p:spTree>
      <p:nvGrpSpPr>
        <p:cNvPr id="1" name=""/>
        <p:cNvGrpSpPr/>
        <p:nvPr/>
      </p:nvGrpSpPr>
      <p:grpSpPr>
        <a:xfrm>
          <a:off x="0" y="0"/>
          <a:ext cx="0" cy="0"/>
          <a:chOff x="0" y="0"/>
          <a:chExt cx="0" cy="0"/>
        </a:xfrm>
      </p:grpSpPr>
      <p:sp>
        <p:nvSpPr>
          <p:cNvPr id="2" name="Text 0"/>
          <p:cNvSpPr/>
          <p:nvPr/>
        </p:nvSpPr>
        <p:spPr>
          <a:xfrm>
            <a:off x="457200" y="182880"/>
            <a:ext cx="8229600" cy="411480"/>
          </a:xfrm>
          <a:prstGeom prst="rect">
            <a:avLst/>
          </a:prstGeom>
          <a:noFill/>
          <a:ln/>
        </p:spPr>
        <p:txBody>
          <a:bodyPr wrap="square" lIns="0" tIns="0" rIns="0" bIns="0" rtlCol="0" anchor="ctr"/>
          <a:lstStyle/>
          <a:p>
            <a:pPr marL="0" indent="0">
              <a:buNone/>
            </a:pPr>
            <a:r>
              <a:rPr lang="en-US" sz="2200" b="1" dirty="0">
                <a:solidFill>
                  <a:srgbClr val="00414D"/>
                </a:solidFill>
                <a:latin typeface="Georgia" pitchFamily="34" charset="0"/>
                <a:ea typeface="Georgia" pitchFamily="34" charset="-122"/>
                <a:cs typeface="Georgia" pitchFamily="34" charset="-120"/>
              </a:rPr>
              <a:t>BAU — Investment &amp; System Costs</a:t>
            </a:r>
            <a:endParaRPr lang="en-US" sz="2200" dirty="0"/>
          </a:p>
        </p:txBody>
      </p:sp>
      <p:sp>
        <p:nvSpPr>
          <p:cNvPr id="3" name="Text 1"/>
          <p:cNvSpPr/>
          <p:nvPr/>
        </p:nvSpPr>
        <p:spPr>
          <a:xfrm>
            <a:off x="457200" y="594360"/>
            <a:ext cx="8229600" cy="201168"/>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Initial BAU (v0): Cumulative CAPEX by technology. Overall system cost (CAPEX+OPEX) remains in a narrow band across cost scenarios.</a:t>
            </a:r>
            <a:endParaRPr lang="en-US" sz="1000" dirty="0"/>
          </a:p>
        </p:txBody>
      </p:sp>
      <p:sp>
        <p:nvSpPr>
          <p:cNvPr id="4" name="Text 2"/>
          <p:cNvSpPr/>
          <p:nvPr/>
        </p:nvSpPr>
        <p:spPr>
          <a:xfrm>
            <a:off x="274320" y="822960"/>
            <a:ext cx="4114800" cy="182880"/>
          </a:xfrm>
          <a:prstGeom prst="rect">
            <a:avLst/>
          </a:prstGeom>
          <a:noFill/>
          <a:ln/>
        </p:spPr>
        <p:txBody>
          <a:bodyPr wrap="square" lIns="0" tIns="0" rIns="0" bIns="0" rtlCol="0" anchor="ctr"/>
          <a:lstStyle/>
          <a:p>
            <a:pPr marL="0" indent="0">
              <a:buNone/>
            </a:pPr>
            <a:r>
              <a:rPr lang="en-US" sz="900" b="1" dirty="0">
                <a:solidFill>
                  <a:srgbClr val="23978E"/>
                </a:solidFill>
                <a:latin typeface="Calibri" pitchFamily="34" charset="0"/>
                <a:ea typeface="Calibri" pitchFamily="34" charset="-122"/>
                <a:cs typeface="Calibri" pitchFamily="34" charset="-120"/>
              </a:rPr>
              <a:t>Cumulative CAPEX [MUSD]</a:t>
            </a:r>
            <a:endParaRPr lang="en-US" sz="900" dirty="0"/>
          </a:p>
        </p:txBody>
      </p:sp>
      <p:pic>
        <p:nvPicPr>
          <p:cNvPr id="5" name="Image 0" descr="preencoded.png"/>
          <p:cNvPicPr>
            <a:picLocks noChangeAspect="1"/>
          </p:cNvPicPr>
          <p:nvPr/>
        </p:nvPicPr>
        <p:blipFill>
          <a:blip r:embed="rId3"/>
          <a:stretch>
            <a:fillRect/>
          </a:stretch>
        </p:blipFill>
        <p:spPr>
          <a:xfrm>
            <a:off x="274320" y="1005840"/>
            <a:ext cx="3565781" cy="3383280"/>
          </a:xfrm>
          <a:prstGeom prst="rect">
            <a:avLst/>
          </a:prstGeom>
        </p:spPr>
      </p:pic>
      <p:sp>
        <p:nvSpPr>
          <p:cNvPr id="6" name="Text 3"/>
          <p:cNvSpPr/>
          <p:nvPr/>
        </p:nvSpPr>
        <p:spPr>
          <a:xfrm>
            <a:off x="4709160" y="822960"/>
            <a:ext cx="4114800" cy="182880"/>
          </a:xfrm>
          <a:prstGeom prst="rect">
            <a:avLst/>
          </a:prstGeom>
          <a:noFill/>
          <a:ln/>
        </p:spPr>
        <p:txBody>
          <a:bodyPr wrap="square" lIns="0" tIns="0" rIns="0" bIns="0" rtlCol="0" anchor="ctr"/>
          <a:lstStyle/>
          <a:p>
            <a:pPr marL="0" indent="0">
              <a:buNone/>
            </a:pPr>
            <a:r>
              <a:rPr lang="en-US" sz="900" b="1" dirty="0">
                <a:solidFill>
                  <a:srgbClr val="23978E"/>
                </a:solidFill>
                <a:latin typeface="Calibri" pitchFamily="34" charset="0"/>
                <a:ea typeface="Calibri" pitchFamily="34" charset="-122"/>
                <a:cs typeface="Calibri" pitchFamily="34" charset="-120"/>
              </a:rPr>
              <a:t>Overall System Cost [MUSD]</a:t>
            </a:r>
            <a:endParaRPr lang="en-US" sz="900" dirty="0"/>
          </a:p>
        </p:txBody>
      </p:sp>
      <p:pic>
        <p:nvPicPr>
          <p:cNvPr id="7" name="Image 1" descr="preencoded.png"/>
          <p:cNvPicPr>
            <a:picLocks noChangeAspect="1"/>
          </p:cNvPicPr>
          <p:nvPr/>
        </p:nvPicPr>
        <p:blipFill>
          <a:blip r:embed="rId4"/>
          <a:stretch>
            <a:fillRect/>
          </a:stretch>
        </p:blipFill>
        <p:spPr>
          <a:xfrm>
            <a:off x="4709160" y="1005840"/>
            <a:ext cx="3565781" cy="3383280"/>
          </a:xfrm>
          <a:prstGeom prst="rect">
            <a:avLst/>
          </a:prstGeom>
        </p:spPr>
      </p:pic>
      <p:sp>
        <p:nvSpPr>
          <p:cNvPr id="8" name="Shape 4"/>
          <p:cNvSpPr/>
          <p:nvPr/>
        </p:nvSpPr>
        <p:spPr>
          <a:xfrm>
            <a:off x="0" y="4709160"/>
            <a:ext cx="9144000" cy="434340"/>
          </a:xfrm>
          <a:prstGeom prst="rect">
            <a:avLst/>
          </a:prstGeom>
          <a:solidFill>
            <a:srgbClr val="00414D"/>
          </a:solidFill>
          <a:ln/>
        </p:spPr>
        <p:txBody>
          <a:bodyPr/>
          <a:lstStyle/>
          <a:p>
            <a:endParaRPr lang="LID4096"/>
          </a:p>
        </p:txBody>
      </p:sp>
      <p:sp>
        <p:nvSpPr>
          <p:cNvPr id="9" name="Text 5"/>
          <p:cNvSpPr/>
          <p:nvPr/>
        </p:nvSpPr>
        <p:spPr>
          <a:xfrm>
            <a:off x="457200" y="4727448"/>
            <a:ext cx="8229600" cy="393192"/>
          </a:xfrm>
          <a:prstGeom prst="rect">
            <a:avLst/>
          </a:prstGeom>
          <a:noFill/>
          <a:ln/>
        </p:spPr>
        <p:txBody>
          <a:bodyPr wrap="square" rtlCol="0" anchor="ctr"/>
          <a:lstStyle/>
          <a:p>
            <a:pPr marL="0" indent="0">
              <a:buNone/>
            </a:pPr>
            <a:r>
              <a:rPr lang="en-US" sz="800" dirty="0">
                <a:solidFill>
                  <a:srgbClr val="64748B"/>
                </a:solidFill>
                <a:latin typeface="Calibri" pitchFamily="34" charset="0"/>
                <a:ea typeface="Calibri" pitchFamily="34" charset="-122"/>
                <a:cs typeface="Calibri" pitchFamily="34" charset="-120"/>
              </a:rPr>
              <a:t>OSTRAM — Data Package v1.0  |  UN ESCAP Energy Division  |  March 2026</a:t>
            </a:r>
            <a:endParaRPr lang="en-US" sz="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1">
    <p:bg>
      <p:bgPr>
        <a:solidFill>
          <a:srgbClr val="F0F5F5"/>
        </a:solidFill>
        <a:effectLst/>
      </p:bgPr>
    </p:bg>
    <p:spTree>
      <p:nvGrpSpPr>
        <p:cNvPr id="1" name=""/>
        <p:cNvGrpSpPr/>
        <p:nvPr/>
      </p:nvGrpSpPr>
      <p:grpSpPr>
        <a:xfrm>
          <a:off x="0" y="0"/>
          <a:ext cx="0" cy="0"/>
          <a:chOff x="0" y="0"/>
          <a:chExt cx="0" cy="0"/>
        </a:xfrm>
      </p:grpSpPr>
      <p:sp>
        <p:nvSpPr>
          <p:cNvPr id="2" name="Text 0"/>
          <p:cNvSpPr/>
          <p:nvPr/>
        </p:nvSpPr>
        <p:spPr>
          <a:xfrm>
            <a:off x="457200" y="182880"/>
            <a:ext cx="8229600" cy="411480"/>
          </a:xfrm>
          <a:prstGeom prst="rect">
            <a:avLst/>
          </a:prstGeom>
          <a:noFill/>
          <a:ln/>
        </p:spPr>
        <p:txBody>
          <a:bodyPr wrap="square" lIns="0" tIns="0" rIns="0" bIns="0" rtlCol="0" anchor="ctr"/>
          <a:lstStyle/>
          <a:p>
            <a:pPr marL="0" indent="0">
              <a:buNone/>
            </a:pPr>
            <a:r>
              <a:rPr lang="en-US" sz="2200" b="1" dirty="0">
                <a:solidFill>
                  <a:srgbClr val="00414D"/>
                </a:solidFill>
                <a:latin typeface="Georgia" pitchFamily="34" charset="0"/>
                <a:ea typeface="Georgia" pitchFamily="34" charset="-122"/>
                <a:cs typeface="Georgia" pitchFamily="34" charset="-120"/>
              </a:rPr>
              <a:t>BAU — Discounted Cost &amp; Renewable Share</a:t>
            </a:r>
            <a:endParaRPr lang="en-US" sz="2200" dirty="0"/>
          </a:p>
        </p:txBody>
      </p:sp>
      <p:sp>
        <p:nvSpPr>
          <p:cNvPr id="3" name="Text 1"/>
          <p:cNvSpPr/>
          <p:nvPr/>
        </p:nvSpPr>
        <p:spPr>
          <a:xfrm>
            <a:off x="457200" y="594360"/>
            <a:ext cx="8229600" cy="201168"/>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Discounted system cost by technology. Renewable share grows from 17% (2023) to 60% (2035) in generation.</a:t>
            </a:r>
            <a:endParaRPr lang="en-US" sz="1000" dirty="0"/>
          </a:p>
        </p:txBody>
      </p:sp>
      <p:sp>
        <p:nvSpPr>
          <p:cNvPr id="4" name="Text 2"/>
          <p:cNvSpPr/>
          <p:nvPr/>
        </p:nvSpPr>
        <p:spPr>
          <a:xfrm>
            <a:off x="274320" y="822960"/>
            <a:ext cx="4114800" cy="182880"/>
          </a:xfrm>
          <a:prstGeom prst="rect">
            <a:avLst/>
          </a:prstGeom>
          <a:noFill/>
          <a:ln/>
        </p:spPr>
        <p:txBody>
          <a:bodyPr wrap="square" lIns="0" tIns="0" rIns="0" bIns="0" rtlCol="0" anchor="ctr"/>
          <a:lstStyle/>
          <a:p>
            <a:pPr marL="0" indent="0">
              <a:buNone/>
            </a:pPr>
            <a:r>
              <a:rPr lang="en-US" sz="900" b="1" dirty="0">
                <a:solidFill>
                  <a:srgbClr val="23978E"/>
                </a:solidFill>
                <a:latin typeface="Calibri" pitchFamily="34" charset="0"/>
                <a:ea typeface="Calibri" pitchFamily="34" charset="-122"/>
                <a:cs typeface="Calibri" pitchFamily="34" charset="-120"/>
              </a:rPr>
              <a:t>Discounted Cost [MUSD]</a:t>
            </a:r>
            <a:endParaRPr lang="en-US" sz="900" dirty="0"/>
          </a:p>
        </p:txBody>
      </p:sp>
      <p:pic>
        <p:nvPicPr>
          <p:cNvPr id="5" name="Image 0" descr="preencoded.png"/>
          <p:cNvPicPr>
            <a:picLocks noChangeAspect="1"/>
          </p:cNvPicPr>
          <p:nvPr/>
        </p:nvPicPr>
        <p:blipFill>
          <a:blip r:embed="rId3"/>
          <a:stretch>
            <a:fillRect/>
          </a:stretch>
        </p:blipFill>
        <p:spPr>
          <a:xfrm>
            <a:off x="274320" y="1005840"/>
            <a:ext cx="3565781" cy="3383280"/>
          </a:xfrm>
          <a:prstGeom prst="rect">
            <a:avLst/>
          </a:prstGeom>
        </p:spPr>
      </p:pic>
      <p:sp>
        <p:nvSpPr>
          <p:cNvPr id="6" name="Text 3"/>
          <p:cNvSpPr/>
          <p:nvPr/>
        </p:nvSpPr>
        <p:spPr>
          <a:xfrm>
            <a:off x="4709160" y="822960"/>
            <a:ext cx="4114800" cy="182880"/>
          </a:xfrm>
          <a:prstGeom prst="rect">
            <a:avLst/>
          </a:prstGeom>
          <a:noFill/>
          <a:ln/>
        </p:spPr>
        <p:txBody>
          <a:bodyPr wrap="square" lIns="0" tIns="0" rIns="0" bIns="0" rtlCol="0" anchor="ctr"/>
          <a:lstStyle/>
          <a:p>
            <a:pPr marL="0" indent="0">
              <a:buNone/>
            </a:pPr>
            <a:r>
              <a:rPr lang="en-US" sz="900" b="1" dirty="0">
                <a:solidFill>
                  <a:srgbClr val="23978E"/>
                </a:solidFill>
                <a:latin typeface="Calibri" pitchFamily="34" charset="0"/>
                <a:ea typeface="Calibri" pitchFamily="34" charset="-122"/>
                <a:cs typeface="Calibri" pitchFamily="34" charset="-120"/>
              </a:rPr>
              <a:t>Renewable vs Non-Renewable Share</a:t>
            </a:r>
            <a:endParaRPr lang="en-US" sz="900" dirty="0"/>
          </a:p>
        </p:txBody>
      </p:sp>
      <p:pic>
        <p:nvPicPr>
          <p:cNvPr id="7" name="Image 1" descr="preencoded.png"/>
          <p:cNvPicPr>
            <a:picLocks noChangeAspect="1"/>
          </p:cNvPicPr>
          <p:nvPr/>
        </p:nvPicPr>
        <p:blipFill>
          <a:blip r:embed="rId4"/>
          <a:stretch>
            <a:fillRect/>
          </a:stretch>
        </p:blipFill>
        <p:spPr>
          <a:xfrm>
            <a:off x="4709160" y="1005840"/>
            <a:ext cx="3565781" cy="3383280"/>
          </a:xfrm>
          <a:prstGeom prst="rect">
            <a:avLst/>
          </a:prstGeom>
        </p:spPr>
      </p:pic>
      <p:sp>
        <p:nvSpPr>
          <p:cNvPr id="8" name="Shape 4"/>
          <p:cNvSpPr/>
          <p:nvPr/>
        </p:nvSpPr>
        <p:spPr>
          <a:xfrm>
            <a:off x="0" y="4709160"/>
            <a:ext cx="9144000" cy="434340"/>
          </a:xfrm>
          <a:prstGeom prst="rect">
            <a:avLst/>
          </a:prstGeom>
          <a:solidFill>
            <a:srgbClr val="00414D"/>
          </a:solidFill>
          <a:ln/>
        </p:spPr>
        <p:txBody>
          <a:bodyPr/>
          <a:lstStyle/>
          <a:p>
            <a:endParaRPr lang="LID4096"/>
          </a:p>
        </p:txBody>
      </p:sp>
      <p:sp>
        <p:nvSpPr>
          <p:cNvPr id="9" name="Text 5"/>
          <p:cNvSpPr/>
          <p:nvPr/>
        </p:nvSpPr>
        <p:spPr>
          <a:xfrm>
            <a:off x="457200" y="4727448"/>
            <a:ext cx="8229600" cy="393192"/>
          </a:xfrm>
          <a:prstGeom prst="rect">
            <a:avLst/>
          </a:prstGeom>
          <a:noFill/>
          <a:ln/>
        </p:spPr>
        <p:txBody>
          <a:bodyPr wrap="square" rtlCol="0" anchor="ctr"/>
          <a:lstStyle/>
          <a:p>
            <a:pPr marL="0" indent="0">
              <a:buNone/>
            </a:pPr>
            <a:r>
              <a:rPr lang="en-US" sz="800" dirty="0">
                <a:solidFill>
                  <a:srgbClr val="64748B"/>
                </a:solidFill>
                <a:latin typeface="Calibri" pitchFamily="34" charset="0"/>
                <a:ea typeface="Calibri" pitchFamily="34" charset="-122"/>
                <a:cs typeface="Calibri" pitchFamily="34" charset="-120"/>
              </a:rPr>
              <a:t>OSTRAM — Data Package v1.0  |  UN ESCAP Energy Division  |  March 2026</a:t>
            </a:r>
            <a:endParaRPr lang="en-US" sz="8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2">
    <p:bg>
      <p:bgPr>
        <a:solidFill>
          <a:srgbClr val="F0F5F5"/>
        </a:solidFill>
        <a:effectLst/>
      </p:bgPr>
    </p:bg>
    <p:spTree>
      <p:nvGrpSpPr>
        <p:cNvPr id="1" name=""/>
        <p:cNvGrpSpPr/>
        <p:nvPr/>
      </p:nvGrpSpPr>
      <p:grpSpPr>
        <a:xfrm>
          <a:off x="0" y="0"/>
          <a:ext cx="0" cy="0"/>
          <a:chOff x="0" y="0"/>
          <a:chExt cx="0" cy="0"/>
        </a:xfrm>
      </p:grpSpPr>
      <p:sp>
        <p:nvSpPr>
          <p:cNvPr id="2" name="Text 0"/>
          <p:cNvSpPr/>
          <p:nvPr/>
        </p:nvSpPr>
        <p:spPr>
          <a:xfrm>
            <a:off x="457200" y="182880"/>
            <a:ext cx="8229600" cy="411480"/>
          </a:xfrm>
          <a:prstGeom prst="rect">
            <a:avLst/>
          </a:prstGeom>
          <a:noFill/>
          <a:ln/>
        </p:spPr>
        <p:txBody>
          <a:bodyPr wrap="square" lIns="0" tIns="0" rIns="0" bIns="0" rtlCol="0" anchor="ctr"/>
          <a:lstStyle/>
          <a:p>
            <a:pPr marL="0" indent="0">
              <a:buNone/>
            </a:pPr>
            <a:r>
              <a:rPr lang="en-US" sz="2200" b="1" dirty="0">
                <a:solidFill>
                  <a:srgbClr val="00414D"/>
                </a:solidFill>
                <a:latin typeface="Georgia" pitchFamily="34" charset="0"/>
                <a:ea typeface="Georgia" pitchFamily="34" charset="-122"/>
                <a:cs typeface="Georgia" pitchFamily="34" charset="-120"/>
              </a:rPr>
              <a:t>BAU — CO₂ Emissions</a:t>
            </a:r>
            <a:endParaRPr lang="en-US" sz="2200" dirty="0"/>
          </a:p>
        </p:txBody>
      </p:sp>
      <p:sp>
        <p:nvSpPr>
          <p:cNvPr id="3" name="Text 1"/>
          <p:cNvSpPr/>
          <p:nvPr/>
        </p:nvSpPr>
        <p:spPr>
          <a:xfrm>
            <a:off x="457200" y="594360"/>
            <a:ext cx="8229600" cy="201168"/>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Annual emissions rise from 860 Mt (2025) to ~1,280 Mt (2039). India dominates cumulative emissions.</a:t>
            </a:r>
            <a:endParaRPr lang="en-US" sz="1000" dirty="0"/>
          </a:p>
        </p:txBody>
      </p:sp>
      <p:sp>
        <p:nvSpPr>
          <p:cNvPr id="4" name="Text 2"/>
          <p:cNvSpPr/>
          <p:nvPr/>
        </p:nvSpPr>
        <p:spPr>
          <a:xfrm>
            <a:off x="274320" y="822960"/>
            <a:ext cx="4114800" cy="182880"/>
          </a:xfrm>
          <a:prstGeom prst="rect">
            <a:avLst/>
          </a:prstGeom>
          <a:noFill/>
          <a:ln/>
        </p:spPr>
        <p:txBody>
          <a:bodyPr wrap="square" lIns="0" tIns="0" rIns="0" bIns="0" rtlCol="0" anchor="ctr"/>
          <a:lstStyle/>
          <a:p>
            <a:pPr marL="0" indent="0">
              <a:buNone/>
            </a:pPr>
            <a:r>
              <a:rPr lang="en-US" sz="900" b="1" dirty="0">
                <a:solidFill>
                  <a:srgbClr val="23978E"/>
                </a:solidFill>
                <a:latin typeface="Calibri" pitchFamily="34" charset="0"/>
                <a:ea typeface="Calibri" pitchFamily="34" charset="-122"/>
                <a:cs typeface="Calibri" pitchFamily="34" charset="-120"/>
              </a:rPr>
              <a:t>Annual Emissions [Mt CO₂]</a:t>
            </a:r>
            <a:endParaRPr lang="en-US" sz="900" dirty="0"/>
          </a:p>
        </p:txBody>
      </p:sp>
      <p:pic>
        <p:nvPicPr>
          <p:cNvPr id="5" name="Image 0" descr="preencoded.png"/>
          <p:cNvPicPr>
            <a:picLocks noChangeAspect="1"/>
          </p:cNvPicPr>
          <p:nvPr/>
        </p:nvPicPr>
        <p:blipFill>
          <a:blip r:embed="rId3"/>
          <a:stretch>
            <a:fillRect/>
          </a:stretch>
        </p:blipFill>
        <p:spPr>
          <a:xfrm>
            <a:off x="274320" y="1005840"/>
            <a:ext cx="3565781" cy="3383280"/>
          </a:xfrm>
          <a:prstGeom prst="rect">
            <a:avLst/>
          </a:prstGeom>
        </p:spPr>
      </p:pic>
      <p:sp>
        <p:nvSpPr>
          <p:cNvPr id="6" name="Text 3"/>
          <p:cNvSpPr/>
          <p:nvPr/>
        </p:nvSpPr>
        <p:spPr>
          <a:xfrm>
            <a:off x="4709160" y="822960"/>
            <a:ext cx="4114800" cy="182880"/>
          </a:xfrm>
          <a:prstGeom prst="rect">
            <a:avLst/>
          </a:prstGeom>
          <a:noFill/>
          <a:ln/>
        </p:spPr>
        <p:txBody>
          <a:bodyPr wrap="square" lIns="0" tIns="0" rIns="0" bIns="0" rtlCol="0" anchor="ctr"/>
          <a:lstStyle/>
          <a:p>
            <a:pPr marL="0" indent="0">
              <a:buNone/>
            </a:pPr>
            <a:r>
              <a:rPr lang="en-US" sz="900" b="1" dirty="0">
                <a:solidFill>
                  <a:srgbClr val="23978E"/>
                </a:solidFill>
                <a:latin typeface="Calibri" pitchFamily="34" charset="0"/>
                <a:ea typeface="Calibri" pitchFamily="34" charset="-122"/>
                <a:cs typeface="Calibri" pitchFamily="34" charset="-120"/>
              </a:rPr>
              <a:t>Cumulative Emissions by Country</a:t>
            </a:r>
            <a:endParaRPr lang="en-US" sz="900" dirty="0"/>
          </a:p>
        </p:txBody>
      </p:sp>
      <p:pic>
        <p:nvPicPr>
          <p:cNvPr id="7" name="Image 1" descr="preencoded.png"/>
          <p:cNvPicPr>
            <a:picLocks noChangeAspect="1"/>
          </p:cNvPicPr>
          <p:nvPr/>
        </p:nvPicPr>
        <p:blipFill>
          <a:blip r:embed="rId4"/>
          <a:stretch>
            <a:fillRect/>
          </a:stretch>
        </p:blipFill>
        <p:spPr>
          <a:xfrm>
            <a:off x="4709160" y="1005840"/>
            <a:ext cx="3565781" cy="3383280"/>
          </a:xfrm>
          <a:prstGeom prst="rect">
            <a:avLst/>
          </a:prstGeom>
        </p:spPr>
      </p:pic>
      <p:sp>
        <p:nvSpPr>
          <p:cNvPr id="8" name="Shape 4"/>
          <p:cNvSpPr/>
          <p:nvPr/>
        </p:nvSpPr>
        <p:spPr>
          <a:xfrm>
            <a:off x="0" y="4709160"/>
            <a:ext cx="9144000" cy="434340"/>
          </a:xfrm>
          <a:prstGeom prst="rect">
            <a:avLst/>
          </a:prstGeom>
          <a:solidFill>
            <a:srgbClr val="00414D"/>
          </a:solidFill>
          <a:ln/>
        </p:spPr>
        <p:txBody>
          <a:bodyPr/>
          <a:lstStyle/>
          <a:p>
            <a:endParaRPr lang="LID4096"/>
          </a:p>
        </p:txBody>
      </p:sp>
      <p:sp>
        <p:nvSpPr>
          <p:cNvPr id="9" name="Text 5"/>
          <p:cNvSpPr/>
          <p:nvPr/>
        </p:nvSpPr>
        <p:spPr>
          <a:xfrm>
            <a:off x="457200" y="4727448"/>
            <a:ext cx="8229600" cy="393192"/>
          </a:xfrm>
          <a:prstGeom prst="rect">
            <a:avLst/>
          </a:prstGeom>
          <a:noFill/>
          <a:ln/>
        </p:spPr>
        <p:txBody>
          <a:bodyPr wrap="square" rtlCol="0" anchor="ctr"/>
          <a:lstStyle/>
          <a:p>
            <a:pPr marL="0" indent="0">
              <a:buNone/>
            </a:pPr>
            <a:r>
              <a:rPr lang="en-US" sz="800" dirty="0">
                <a:solidFill>
                  <a:srgbClr val="64748B"/>
                </a:solidFill>
                <a:latin typeface="Calibri" pitchFamily="34" charset="0"/>
                <a:ea typeface="Calibri" pitchFamily="34" charset="-122"/>
                <a:cs typeface="Calibri" pitchFamily="34" charset="-120"/>
              </a:rPr>
              <a:t>OSTRAM — Data Package v1.0  |  UN ESCAP Energy Division  |  March 2026</a:t>
            </a:r>
            <a:endParaRPr lang="en-US" sz="8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3">
    <p:bg>
      <p:bgPr>
        <a:solidFill>
          <a:srgbClr val="F0F5F5"/>
        </a:solidFill>
        <a:effectLst/>
      </p:bgPr>
    </p:bg>
    <p:spTree>
      <p:nvGrpSpPr>
        <p:cNvPr id="1" name=""/>
        <p:cNvGrpSpPr/>
        <p:nvPr/>
      </p:nvGrpSpPr>
      <p:grpSpPr>
        <a:xfrm>
          <a:off x="0" y="0"/>
          <a:ext cx="0" cy="0"/>
          <a:chOff x="0" y="0"/>
          <a:chExt cx="0" cy="0"/>
        </a:xfrm>
      </p:grpSpPr>
      <p:sp>
        <p:nvSpPr>
          <p:cNvPr id="2" name="Text 0"/>
          <p:cNvSpPr/>
          <p:nvPr/>
        </p:nvSpPr>
        <p:spPr>
          <a:xfrm>
            <a:off x="457200" y="137160"/>
            <a:ext cx="8229600" cy="365760"/>
          </a:xfrm>
          <a:prstGeom prst="rect">
            <a:avLst/>
          </a:prstGeom>
          <a:noFill/>
          <a:ln/>
        </p:spPr>
        <p:txBody>
          <a:bodyPr wrap="square" lIns="0" tIns="0" rIns="0" bIns="0" rtlCol="0" anchor="ctr"/>
          <a:lstStyle/>
          <a:p>
            <a:pPr marL="0" indent="0">
              <a:buNone/>
            </a:pPr>
            <a:r>
              <a:rPr lang="en-US" sz="2200" b="1" dirty="0">
                <a:solidFill>
                  <a:srgbClr val="00414D"/>
                </a:solidFill>
                <a:latin typeface="Georgia" pitchFamily="34" charset="0"/>
                <a:ea typeface="Georgia" pitchFamily="34" charset="-122"/>
                <a:cs typeface="Georgia" pitchFamily="34" charset="-120"/>
              </a:rPr>
              <a:t>Interconnector Flows — BAU (Preliminary)</a:t>
            </a:r>
            <a:endParaRPr lang="en-US" sz="2200" dirty="0"/>
          </a:p>
        </p:txBody>
      </p:sp>
      <p:sp>
        <p:nvSpPr>
          <p:cNvPr id="3" name="Text 1"/>
          <p:cNvSpPr/>
          <p:nvPr/>
        </p:nvSpPr>
        <p:spPr>
          <a:xfrm>
            <a:off x="457200" y="502920"/>
            <a:ext cx="8229600" cy="201168"/>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Net energy flows [TWh] across cross-border and internal India corridors. Line thickness proportional to flow magnitude.</a:t>
            </a:r>
            <a:endParaRPr lang="en-US" sz="1000" dirty="0"/>
          </a:p>
        </p:txBody>
      </p:sp>
      <p:sp>
        <p:nvSpPr>
          <p:cNvPr id="4" name="Text 2"/>
          <p:cNvSpPr/>
          <p:nvPr/>
        </p:nvSpPr>
        <p:spPr>
          <a:xfrm>
            <a:off x="457200" y="749808"/>
            <a:ext cx="1828800" cy="182880"/>
          </a:xfrm>
          <a:prstGeom prst="rect">
            <a:avLst/>
          </a:prstGeom>
          <a:noFill/>
          <a:ln/>
        </p:spPr>
        <p:txBody>
          <a:bodyPr wrap="square" lIns="0" tIns="0" rIns="0" bIns="0" rtlCol="0" anchor="ctr"/>
          <a:lstStyle/>
          <a:p>
            <a:pPr marL="0" indent="0">
              <a:buNone/>
            </a:pPr>
            <a:r>
              <a:rPr lang="en-US" sz="1000" b="1" dirty="0">
                <a:solidFill>
                  <a:srgbClr val="23978E"/>
                </a:solidFill>
                <a:latin typeface="Calibri" pitchFamily="34" charset="0"/>
                <a:ea typeface="Calibri" pitchFamily="34" charset="-122"/>
                <a:cs typeface="Calibri" pitchFamily="34" charset="-120"/>
              </a:rPr>
              <a:t>2030</a:t>
            </a:r>
            <a:endParaRPr lang="en-US" sz="1000" dirty="0"/>
          </a:p>
        </p:txBody>
      </p:sp>
      <p:pic>
        <p:nvPicPr>
          <p:cNvPr id="5" name="Image 0" descr="preencoded.png"/>
          <p:cNvPicPr>
            <a:picLocks noChangeAspect="1"/>
          </p:cNvPicPr>
          <p:nvPr/>
        </p:nvPicPr>
        <p:blipFill>
          <a:blip r:embed="rId3"/>
          <a:srcRect/>
          <a:stretch/>
        </p:blipFill>
        <p:spPr>
          <a:xfrm>
            <a:off x="182880" y="914400"/>
            <a:ext cx="4114800" cy="2571750"/>
          </a:xfrm>
          <a:prstGeom prst="rect">
            <a:avLst/>
          </a:prstGeom>
        </p:spPr>
      </p:pic>
      <p:sp>
        <p:nvSpPr>
          <p:cNvPr id="6" name="Text 3"/>
          <p:cNvSpPr/>
          <p:nvPr/>
        </p:nvSpPr>
        <p:spPr>
          <a:xfrm>
            <a:off x="4754880" y="749808"/>
            <a:ext cx="1828800" cy="182880"/>
          </a:xfrm>
          <a:prstGeom prst="rect">
            <a:avLst/>
          </a:prstGeom>
          <a:noFill/>
          <a:ln/>
        </p:spPr>
        <p:txBody>
          <a:bodyPr wrap="square" lIns="0" tIns="0" rIns="0" bIns="0" rtlCol="0" anchor="ctr"/>
          <a:lstStyle/>
          <a:p>
            <a:pPr marL="0" indent="0">
              <a:buNone/>
            </a:pPr>
            <a:r>
              <a:rPr lang="en-US" sz="1000" b="1" dirty="0">
                <a:solidFill>
                  <a:srgbClr val="23978E"/>
                </a:solidFill>
                <a:latin typeface="Calibri" pitchFamily="34" charset="0"/>
                <a:ea typeface="Calibri" pitchFamily="34" charset="-122"/>
                <a:cs typeface="Calibri" pitchFamily="34" charset="-120"/>
              </a:rPr>
              <a:t>2050</a:t>
            </a:r>
            <a:endParaRPr lang="en-US" sz="1000" dirty="0"/>
          </a:p>
        </p:txBody>
      </p:sp>
      <p:pic>
        <p:nvPicPr>
          <p:cNvPr id="7" name="Image 1" descr="preencoded.png"/>
          <p:cNvPicPr>
            <a:picLocks noChangeAspect="1"/>
          </p:cNvPicPr>
          <p:nvPr/>
        </p:nvPicPr>
        <p:blipFill>
          <a:blip r:embed="rId4"/>
          <a:srcRect/>
          <a:stretch/>
        </p:blipFill>
        <p:spPr>
          <a:xfrm>
            <a:off x="4572000" y="914400"/>
            <a:ext cx="4114800" cy="2571750"/>
          </a:xfrm>
          <a:prstGeom prst="rect">
            <a:avLst/>
          </a:prstGeom>
        </p:spPr>
      </p:pic>
      <p:sp>
        <p:nvSpPr>
          <p:cNvPr id="8" name="Text 4"/>
          <p:cNvSpPr/>
          <p:nvPr/>
        </p:nvSpPr>
        <p:spPr>
          <a:xfrm>
            <a:off x="457200" y="4251960"/>
            <a:ext cx="8229600" cy="365760"/>
          </a:xfrm>
          <a:prstGeom prst="rect">
            <a:avLst/>
          </a:prstGeom>
          <a:noFill/>
          <a:ln/>
        </p:spPr>
        <p:txBody>
          <a:bodyPr wrap="square" lIns="0" tIns="0" rIns="0" bIns="0" rtlCol="0" anchor="ctr"/>
          <a:lstStyle/>
          <a:p>
            <a:pPr marL="0" indent="0">
              <a:buNone/>
            </a:pPr>
            <a:r>
              <a:rPr lang="en-US" sz="900" dirty="0">
                <a:solidFill>
                  <a:srgbClr val="334155"/>
                </a:solidFill>
                <a:latin typeface="Calibri" pitchFamily="34" charset="0"/>
                <a:ea typeface="Calibri" pitchFamily="34" charset="-122"/>
                <a:cs typeface="Calibri" pitchFamily="34" charset="-120"/>
              </a:rPr>
              <a:t>Key corridors: INDWE↔INDSO dominates near-term (107 TWh by 2030). By 2050, INDNO↔INDNE (298 TWh) and cross-border flows to LKA/MDV grow substantially. Interactive viewer available as TransmissionMaps.html.</a:t>
            </a:r>
            <a:endParaRPr lang="en-US" sz="900" dirty="0"/>
          </a:p>
        </p:txBody>
      </p:sp>
      <p:sp>
        <p:nvSpPr>
          <p:cNvPr id="9" name="Shape 5"/>
          <p:cNvSpPr/>
          <p:nvPr/>
        </p:nvSpPr>
        <p:spPr>
          <a:xfrm>
            <a:off x="0" y="4709160"/>
            <a:ext cx="9144000" cy="434340"/>
          </a:xfrm>
          <a:prstGeom prst="rect">
            <a:avLst/>
          </a:prstGeom>
          <a:solidFill>
            <a:srgbClr val="00414D"/>
          </a:solidFill>
          <a:ln/>
        </p:spPr>
        <p:txBody>
          <a:bodyPr/>
          <a:lstStyle/>
          <a:p>
            <a:endParaRPr lang="LID4096"/>
          </a:p>
        </p:txBody>
      </p:sp>
      <p:sp>
        <p:nvSpPr>
          <p:cNvPr id="10" name="Text 6"/>
          <p:cNvSpPr/>
          <p:nvPr/>
        </p:nvSpPr>
        <p:spPr>
          <a:xfrm>
            <a:off x="457200" y="4727448"/>
            <a:ext cx="8229600" cy="393192"/>
          </a:xfrm>
          <a:prstGeom prst="rect">
            <a:avLst/>
          </a:prstGeom>
          <a:noFill/>
          <a:ln/>
        </p:spPr>
        <p:txBody>
          <a:bodyPr wrap="square" rtlCol="0" anchor="ctr"/>
          <a:lstStyle/>
          <a:p>
            <a:pPr marL="0" indent="0">
              <a:buNone/>
            </a:pPr>
            <a:r>
              <a:rPr lang="en-US" sz="800" dirty="0">
                <a:solidFill>
                  <a:srgbClr val="64748B"/>
                </a:solidFill>
                <a:latin typeface="Calibri" pitchFamily="34" charset="0"/>
                <a:ea typeface="Calibri" pitchFamily="34" charset="-122"/>
                <a:cs typeface="Calibri" pitchFamily="34" charset="-120"/>
              </a:rPr>
              <a:t>OSTRAM — Data Package v1.0  |  UN ESCAP Energy Division  |  March 2026</a:t>
            </a:r>
            <a:endParaRPr lang="en-US" sz="8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4">
    <p:bg>
      <p:bgPr>
        <a:solidFill>
          <a:srgbClr val="F0F5F5"/>
        </a:solidFill>
        <a:effectLst/>
      </p:bgPr>
    </p:bg>
    <p:spTree>
      <p:nvGrpSpPr>
        <p:cNvPr id="1" name=""/>
        <p:cNvGrpSpPr/>
        <p:nvPr/>
      </p:nvGrpSpPr>
      <p:grpSpPr>
        <a:xfrm>
          <a:off x="0" y="0"/>
          <a:ext cx="0" cy="0"/>
          <a:chOff x="0" y="0"/>
          <a:chExt cx="0" cy="0"/>
        </a:xfrm>
      </p:grpSpPr>
      <p:sp>
        <p:nvSpPr>
          <p:cNvPr id="2" name="Text 0"/>
          <p:cNvSpPr/>
          <p:nvPr/>
        </p:nvSpPr>
        <p:spPr>
          <a:xfrm>
            <a:off x="457200" y="137160"/>
            <a:ext cx="8229600" cy="365760"/>
          </a:xfrm>
          <a:prstGeom prst="rect">
            <a:avLst/>
          </a:prstGeom>
          <a:noFill/>
          <a:ln/>
        </p:spPr>
        <p:txBody>
          <a:bodyPr wrap="square" lIns="0" tIns="0" rIns="0" bIns="0" rtlCol="0" anchor="ctr"/>
          <a:lstStyle/>
          <a:p>
            <a:pPr marL="0" indent="0">
              <a:buNone/>
            </a:pPr>
            <a:r>
              <a:rPr lang="en-US" sz="2200" b="1" dirty="0">
                <a:solidFill>
                  <a:srgbClr val="00414D"/>
                </a:solidFill>
                <a:latin typeface="Georgia" pitchFamily="34" charset="0"/>
                <a:ea typeface="Georgia" pitchFamily="34" charset="-122"/>
                <a:cs typeface="Georgia" pitchFamily="34" charset="-120"/>
              </a:rPr>
              <a:t>Interconnector Capacity — BAU 2050 (Preliminary)</a:t>
            </a:r>
            <a:endParaRPr lang="en-US" sz="2200" dirty="0"/>
          </a:p>
        </p:txBody>
      </p:sp>
      <p:sp>
        <p:nvSpPr>
          <p:cNvPr id="3" name="Text 1"/>
          <p:cNvSpPr/>
          <p:nvPr/>
        </p:nvSpPr>
        <p:spPr>
          <a:xfrm>
            <a:off x="457200" y="502920"/>
            <a:ext cx="8229600" cy="201168"/>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Installed interconnection capacity [GW] by 2050 under BAU scenario. Line thickness proportional to capacity.</a:t>
            </a:r>
            <a:endParaRPr lang="en-US" sz="1000" dirty="0"/>
          </a:p>
        </p:txBody>
      </p:sp>
      <p:pic>
        <p:nvPicPr>
          <p:cNvPr id="4" name="Image 0" descr="preencoded.png"/>
          <p:cNvPicPr>
            <a:picLocks noChangeAspect="1"/>
          </p:cNvPicPr>
          <p:nvPr/>
        </p:nvPicPr>
        <p:blipFill>
          <a:blip r:embed="rId3"/>
          <a:srcRect/>
          <a:stretch/>
        </p:blipFill>
        <p:spPr>
          <a:xfrm>
            <a:off x="1645920" y="777240"/>
            <a:ext cx="5852160" cy="3657600"/>
          </a:xfrm>
          <a:prstGeom prst="rect">
            <a:avLst/>
          </a:prstGeom>
        </p:spPr>
      </p:pic>
      <p:sp>
        <p:nvSpPr>
          <p:cNvPr id="5" name="Shape 2"/>
          <p:cNvSpPr/>
          <p:nvPr/>
        </p:nvSpPr>
        <p:spPr>
          <a:xfrm>
            <a:off x="0" y="4709160"/>
            <a:ext cx="9144000" cy="434340"/>
          </a:xfrm>
          <a:prstGeom prst="rect">
            <a:avLst/>
          </a:prstGeom>
          <a:solidFill>
            <a:srgbClr val="00414D"/>
          </a:solidFill>
          <a:ln/>
        </p:spPr>
        <p:txBody>
          <a:bodyPr/>
          <a:lstStyle/>
          <a:p>
            <a:endParaRPr lang="LID4096"/>
          </a:p>
        </p:txBody>
      </p:sp>
      <p:sp>
        <p:nvSpPr>
          <p:cNvPr id="6" name="Text 3"/>
          <p:cNvSpPr/>
          <p:nvPr/>
        </p:nvSpPr>
        <p:spPr>
          <a:xfrm>
            <a:off x="457200" y="4727448"/>
            <a:ext cx="8229600" cy="393192"/>
          </a:xfrm>
          <a:prstGeom prst="rect">
            <a:avLst/>
          </a:prstGeom>
          <a:noFill/>
          <a:ln/>
        </p:spPr>
        <p:txBody>
          <a:bodyPr wrap="square" rtlCol="0" anchor="ctr"/>
          <a:lstStyle/>
          <a:p>
            <a:pPr marL="0" indent="0">
              <a:buNone/>
            </a:pPr>
            <a:r>
              <a:rPr lang="en-US" sz="800" dirty="0">
                <a:solidFill>
                  <a:srgbClr val="64748B"/>
                </a:solidFill>
                <a:latin typeface="Calibri" pitchFamily="34" charset="0"/>
                <a:ea typeface="Calibri" pitchFamily="34" charset="-122"/>
                <a:cs typeface="Calibri" pitchFamily="34" charset="-120"/>
              </a:rPr>
              <a:t>OSTRAM — Data Package v1.0  |  UN ESCAP Energy Division  |  March 2026</a:t>
            </a:r>
            <a:endParaRPr lang="en-US" sz="8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5">
    <p:bg>
      <p:bgPr>
        <a:solidFill>
          <a:srgbClr val="0A595F"/>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23978E"/>
          </a:solidFill>
          <a:ln/>
        </p:spPr>
        <p:txBody>
          <a:bodyPr/>
          <a:lstStyle/>
          <a:p>
            <a:endParaRPr lang="LID4096"/>
          </a:p>
        </p:txBody>
      </p:sp>
      <p:pic>
        <p:nvPicPr>
          <p:cNvPr id="3" name="Image 0" descr="preencoded.png"/>
          <p:cNvPicPr>
            <a:picLocks noChangeAspect="1"/>
          </p:cNvPicPr>
          <p:nvPr/>
        </p:nvPicPr>
        <p:blipFill>
          <a:blip r:embed="rId3"/>
          <a:stretch>
            <a:fillRect/>
          </a:stretch>
        </p:blipFill>
        <p:spPr>
          <a:xfrm>
            <a:off x="640080" y="1097280"/>
            <a:ext cx="457200" cy="457200"/>
          </a:xfrm>
          <a:prstGeom prst="rect">
            <a:avLst/>
          </a:prstGeom>
        </p:spPr>
      </p:pic>
      <p:sp>
        <p:nvSpPr>
          <p:cNvPr id="4" name="Text 1"/>
          <p:cNvSpPr/>
          <p:nvPr/>
        </p:nvSpPr>
        <p:spPr>
          <a:xfrm>
            <a:off x="640080" y="1645920"/>
            <a:ext cx="7315200" cy="594360"/>
          </a:xfrm>
          <a:prstGeom prst="rect">
            <a:avLst/>
          </a:prstGeom>
          <a:noFill/>
          <a:ln/>
        </p:spPr>
        <p:txBody>
          <a:bodyPr wrap="square" lIns="0" tIns="0" rIns="0" bIns="0" rtlCol="0" anchor="ctr"/>
          <a:lstStyle/>
          <a:p>
            <a:pPr marL="0" indent="0">
              <a:buNone/>
            </a:pPr>
            <a:r>
              <a:rPr lang="en-US" sz="3600" b="1" dirty="0">
                <a:solidFill>
                  <a:srgbClr val="FFFFFF"/>
                </a:solidFill>
                <a:latin typeface="Georgia" pitchFamily="34" charset="0"/>
                <a:ea typeface="Georgia" pitchFamily="34" charset="-122"/>
                <a:cs typeface="Georgia" pitchFamily="34" charset="-120"/>
              </a:rPr>
              <a:t>Modeling Pipeline</a:t>
            </a:r>
            <a:endParaRPr lang="en-US" sz="3600" dirty="0"/>
          </a:p>
        </p:txBody>
      </p:sp>
      <p:sp>
        <p:nvSpPr>
          <p:cNvPr id="5" name="Text 2"/>
          <p:cNvSpPr/>
          <p:nvPr/>
        </p:nvSpPr>
        <p:spPr>
          <a:xfrm>
            <a:off x="640080" y="2240280"/>
            <a:ext cx="7315200" cy="320040"/>
          </a:xfrm>
          <a:prstGeom prst="rect">
            <a:avLst/>
          </a:prstGeom>
          <a:noFill/>
          <a:ln/>
        </p:spPr>
        <p:txBody>
          <a:bodyPr wrap="square" lIns="0" tIns="0" rIns="0" bIns="0" rtlCol="0" anchor="ctr"/>
          <a:lstStyle/>
          <a:p>
            <a:pPr marL="0" indent="0">
              <a:buNone/>
            </a:pPr>
            <a:r>
              <a:rPr lang="en-US" sz="1600" dirty="0">
                <a:solidFill>
                  <a:schemeClr val="bg1"/>
                </a:solidFill>
                <a:latin typeface="Calibri" pitchFamily="34" charset="0"/>
                <a:ea typeface="Calibri" pitchFamily="34" charset="-122"/>
                <a:cs typeface="Calibri" pitchFamily="34" charset="-120"/>
              </a:rPr>
              <a:t>OSTRAM — OSeMOSYS Global + Transmission Layer</a:t>
            </a:r>
            <a:endParaRPr lang="en-US" sz="1600" dirty="0">
              <a:solidFill>
                <a:schemeClr val="bg1"/>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6">
    <p:bg>
      <p:bgPr>
        <a:solidFill>
          <a:srgbClr val="F0F5F5"/>
        </a:solidFill>
        <a:effectLst/>
      </p:bgPr>
    </p:bg>
    <p:spTree>
      <p:nvGrpSpPr>
        <p:cNvPr id="1" name=""/>
        <p:cNvGrpSpPr/>
        <p:nvPr/>
      </p:nvGrpSpPr>
      <p:grpSpPr>
        <a:xfrm>
          <a:off x="0" y="0"/>
          <a:ext cx="0" cy="0"/>
          <a:chOff x="0" y="0"/>
          <a:chExt cx="0" cy="0"/>
        </a:xfrm>
      </p:grpSpPr>
      <p:sp>
        <p:nvSpPr>
          <p:cNvPr id="2" name="Text 0"/>
          <p:cNvSpPr/>
          <p:nvPr/>
        </p:nvSpPr>
        <p:spPr>
          <a:xfrm>
            <a:off x="457200" y="228600"/>
            <a:ext cx="8229600" cy="411480"/>
          </a:xfrm>
          <a:prstGeom prst="rect">
            <a:avLst/>
          </a:prstGeom>
          <a:noFill/>
          <a:ln/>
        </p:spPr>
        <p:txBody>
          <a:bodyPr wrap="square" lIns="0" tIns="0" rIns="0" bIns="0" rtlCol="0" anchor="ctr"/>
          <a:lstStyle/>
          <a:p>
            <a:pPr marL="0" indent="0">
              <a:buNone/>
            </a:pPr>
            <a:r>
              <a:rPr lang="en-US" sz="2400" b="1" dirty="0">
                <a:solidFill>
                  <a:srgbClr val="00414D"/>
                </a:solidFill>
                <a:latin typeface="Georgia" pitchFamily="34" charset="0"/>
                <a:ea typeface="Georgia" pitchFamily="34" charset="-122"/>
                <a:cs typeface="Georgia" pitchFamily="34" charset="-120"/>
              </a:rPr>
              <a:t>Pipeline Steps</a:t>
            </a:r>
            <a:endParaRPr lang="en-US" sz="2400" dirty="0"/>
          </a:p>
        </p:txBody>
      </p:sp>
      <p:sp>
        <p:nvSpPr>
          <p:cNvPr id="3" name="Text 1"/>
          <p:cNvSpPr/>
          <p:nvPr/>
        </p:nvSpPr>
        <p:spPr>
          <a:xfrm>
            <a:off x="457200" y="640080"/>
            <a:ext cx="8229600" cy="201168"/>
          </a:xfrm>
          <a:prstGeom prst="rect">
            <a:avLst/>
          </a:prstGeom>
          <a:noFill/>
          <a:ln/>
        </p:spPr>
        <p:txBody>
          <a:bodyPr wrap="square" lIns="0" tIns="0" rIns="0" bIns="0" rtlCol="0" anchor="ctr"/>
          <a:lstStyle/>
          <a:p>
            <a:pPr marL="0" indent="0">
              <a:buNone/>
            </a:pPr>
            <a:r>
              <a:rPr lang="en-US" sz="1050" i="1" dirty="0">
                <a:solidFill>
                  <a:srgbClr val="23978E"/>
                </a:solidFill>
                <a:latin typeface="Calibri" pitchFamily="34" charset="0"/>
                <a:ea typeface="Calibri" pitchFamily="34" charset="-122"/>
                <a:cs typeface="Calibri" pitchFamily="34" charset="-120"/>
              </a:rPr>
              <a:t>From OSeMOSYS Global base to final solved results — 5 automated steps</a:t>
            </a:r>
            <a:endParaRPr lang="en-US" sz="1050" dirty="0"/>
          </a:p>
        </p:txBody>
      </p:sp>
      <p:sp>
        <p:nvSpPr>
          <p:cNvPr id="4" name="Shape 2"/>
          <p:cNvSpPr/>
          <p:nvPr/>
        </p:nvSpPr>
        <p:spPr>
          <a:xfrm>
            <a:off x="457200" y="960120"/>
            <a:ext cx="365760" cy="365760"/>
          </a:xfrm>
          <a:prstGeom prst="ellipse">
            <a:avLst/>
          </a:prstGeom>
          <a:solidFill>
            <a:srgbClr val="0A595F"/>
          </a:solidFill>
          <a:ln/>
        </p:spPr>
        <p:txBody>
          <a:bodyPr/>
          <a:lstStyle/>
          <a:p>
            <a:endParaRPr lang="LID4096"/>
          </a:p>
        </p:txBody>
      </p:sp>
      <p:sp>
        <p:nvSpPr>
          <p:cNvPr id="5" name="Text 3"/>
          <p:cNvSpPr/>
          <p:nvPr/>
        </p:nvSpPr>
        <p:spPr>
          <a:xfrm>
            <a:off x="457200" y="960120"/>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Georgia" pitchFamily="34" charset="0"/>
                <a:ea typeface="Georgia" pitchFamily="34" charset="-122"/>
                <a:cs typeface="Georgia" pitchFamily="34" charset="-120"/>
              </a:rPr>
              <a:t>1</a:t>
            </a:r>
            <a:endParaRPr lang="en-US" sz="1400" dirty="0"/>
          </a:p>
        </p:txBody>
      </p:sp>
      <p:sp>
        <p:nvSpPr>
          <p:cNvPr id="6" name="Text 4"/>
          <p:cNvSpPr/>
          <p:nvPr/>
        </p:nvSpPr>
        <p:spPr>
          <a:xfrm>
            <a:off x="960120" y="914400"/>
            <a:ext cx="7680960" cy="228600"/>
          </a:xfrm>
          <a:prstGeom prst="rect">
            <a:avLst/>
          </a:prstGeom>
          <a:noFill/>
          <a:ln/>
        </p:spPr>
        <p:txBody>
          <a:bodyPr wrap="square" lIns="0" tIns="0" rIns="0" bIns="0" rtlCol="0" anchor="ctr"/>
          <a:lstStyle/>
          <a:p>
            <a:pPr marL="0" indent="0">
              <a:buNone/>
            </a:pPr>
            <a:r>
              <a:rPr lang="en-US" sz="1100" b="1" dirty="0">
                <a:solidFill>
                  <a:srgbClr val="0A595F"/>
                </a:solidFill>
                <a:latin typeface="Calibri" pitchFamily="34" charset="0"/>
                <a:ea typeface="Calibri" pitchFamily="34" charset="-122"/>
                <a:cs typeface="Calibri" pitchFamily="34" charset="-120"/>
              </a:rPr>
              <a:t>Import OSeMOSYS Global Inputs</a:t>
            </a:r>
            <a:endParaRPr lang="en-US" sz="1100" dirty="0"/>
          </a:p>
        </p:txBody>
      </p:sp>
      <p:sp>
        <p:nvSpPr>
          <p:cNvPr id="7" name="Text 5"/>
          <p:cNvSpPr/>
          <p:nvPr/>
        </p:nvSpPr>
        <p:spPr>
          <a:xfrm>
            <a:off x="960120" y="1161288"/>
            <a:ext cx="7680960" cy="384048"/>
          </a:xfrm>
          <a:prstGeom prst="rect">
            <a:avLst/>
          </a:prstGeom>
          <a:noFill/>
          <a:ln/>
        </p:spPr>
        <p:txBody>
          <a:bodyPr wrap="square" lIns="0" tIns="0" rIns="0" bIns="0" rtlCol="0" anchor="ctr"/>
          <a:lstStyle/>
          <a:p>
            <a:pPr marL="0" indent="0">
              <a:buNone/>
            </a:pPr>
            <a:r>
              <a:rPr lang="en-US" sz="950" dirty="0">
                <a:solidFill>
                  <a:srgbClr val="334155"/>
                </a:solidFill>
                <a:latin typeface="Calibri" pitchFamily="34" charset="0"/>
                <a:ea typeface="Calibri" pitchFamily="34" charset="-122"/>
                <a:cs typeface="Calibri" pitchFamily="34" charset="-120"/>
              </a:rPr>
              <a:t>CSV input files from OSeMOSYS Global stored in OG_csvs_inputs/ — base parameters for technologies, fuels, demands, costs</a:t>
            </a:r>
            <a:endParaRPr lang="en-US" sz="950" dirty="0"/>
          </a:p>
        </p:txBody>
      </p:sp>
      <p:sp>
        <p:nvSpPr>
          <p:cNvPr id="8" name="Shape 6"/>
          <p:cNvSpPr/>
          <p:nvPr/>
        </p:nvSpPr>
        <p:spPr>
          <a:xfrm>
            <a:off x="457200" y="1673352"/>
            <a:ext cx="365760" cy="365760"/>
          </a:xfrm>
          <a:prstGeom prst="ellipse">
            <a:avLst/>
          </a:prstGeom>
          <a:solidFill>
            <a:srgbClr val="0A595F"/>
          </a:solidFill>
          <a:ln/>
        </p:spPr>
        <p:txBody>
          <a:bodyPr/>
          <a:lstStyle/>
          <a:p>
            <a:endParaRPr lang="LID4096"/>
          </a:p>
        </p:txBody>
      </p:sp>
      <p:sp>
        <p:nvSpPr>
          <p:cNvPr id="9" name="Text 7"/>
          <p:cNvSpPr/>
          <p:nvPr/>
        </p:nvSpPr>
        <p:spPr>
          <a:xfrm>
            <a:off x="457200" y="1673352"/>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Georgia" pitchFamily="34" charset="0"/>
                <a:ea typeface="Georgia" pitchFamily="34" charset="-122"/>
                <a:cs typeface="Georgia" pitchFamily="34" charset="-120"/>
              </a:rPr>
              <a:t>2</a:t>
            </a:r>
            <a:endParaRPr lang="en-US" sz="1400" dirty="0"/>
          </a:p>
        </p:txBody>
      </p:sp>
      <p:sp>
        <p:nvSpPr>
          <p:cNvPr id="10" name="Text 8"/>
          <p:cNvSpPr/>
          <p:nvPr/>
        </p:nvSpPr>
        <p:spPr>
          <a:xfrm>
            <a:off x="960120" y="1627632"/>
            <a:ext cx="7680960" cy="228600"/>
          </a:xfrm>
          <a:prstGeom prst="rect">
            <a:avLst/>
          </a:prstGeom>
          <a:noFill/>
          <a:ln/>
        </p:spPr>
        <p:txBody>
          <a:bodyPr wrap="square" lIns="0" tIns="0" rIns="0" bIns="0" rtlCol="0" anchor="ctr"/>
          <a:lstStyle/>
          <a:p>
            <a:pPr marL="0" indent="0">
              <a:buNone/>
            </a:pPr>
            <a:r>
              <a:rPr lang="en-US" sz="1100" b="1" dirty="0">
                <a:solidFill>
                  <a:srgbClr val="0A595F"/>
                </a:solidFill>
                <a:latin typeface="Calibri" pitchFamily="34" charset="0"/>
                <a:ea typeface="Calibri" pitchFamily="34" charset="-122"/>
                <a:cs typeface="Calibri" pitchFamily="34" charset="-120"/>
              </a:rPr>
              <a:t>Pre-processing</a:t>
            </a:r>
            <a:endParaRPr lang="en-US" sz="1100" dirty="0"/>
          </a:p>
        </p:txBody>
      </p:sp>
      <p:sp>
        <p:nvSpPr>
          <p:cNvPr id="11" name="Text 9"/>
          <p:cNvSpPr/>
          <p:nvPr/>
        </p:nvSpPr>
        <p:spPr>
          <a:xfrm>
            <a:off x="960120" y="1874520"/>
            <a:ext cx="7680960" cy="384048"/>
          </a:xfrm>
          <a:prstGeom prst="rect">
            <a:avLst/>
          </a:prstGeom>
          <a:noFill/>
          <a:ln/>
        </p:spPr>
        <p:txBody>
          <a:bodyPr wrap="square" lIns="0" tIns="0" rIns="0" bIns="0" rtlCol="0" anchor="ctr"/>
          <a:lstStyle/>
          <a:p>
            <a:pPr marL="0" indent="0">
              <a:buNone/>
            </a:pPr>
            <a:r>
              <a:rPr lang="en-US" sz="950" dirty="0">
                <a:solidFill>
                  <a:srgbClr val="334155"/>
                </a:solidFill>
                <a:latin typeface="Calibri" pitchFamily="34" charset="0"/>
                <a:ea typeface="Calibri" pitchFamily="34" charset="-122"/>
                <a:cs typeface="Calibri" pitchFamily="34" charset="-120"/>
              </a:rPr>
              <a:t>Temporal profile normalization, country code fixes, tech-country filtering, NGS unification, region consolidation → Excel scenario files</a:t>
            </a:r>
            <a:endParaRPr lang="en-US" sz="950" dirty="0"/>
          </a:p>
        </p:txBody>
      </p:sp>
      <p:sp>
        <p:nvSpPr>
          <p:cNvPr id="12" name="Shape 10"/>
          <p:cNvSpPr/>
          <p:nvPr/>
        </p:nvSpPr>
        <p:spPr>
          <a:xfrm>
            <a:off x="457200" y="2386584"/>
            <a:ext cx="365760" cy="365760"/>
          </a:xfrm>
          <a:prstGeom prst="ellipse">
            <a:avLst/>
          </a:prstGeom>
          <a:solidFill>
            <a:srgbClr val="0A595F"/>
          </a:solidFill>
          <a:ln/>
        </p:spPr>
        <p:txBody>
          <a:bodyPr/>
          <a:lstStyle/>
          <a:p>
            <a:endParaRPr lang="LID4096"/>
          </a:p>
        </p:txBody>
      </p:sp>
      <p:sp>
        <p:nvSpPr>
          <p:cNvPr id="13" name="Text 11"/>
          <p:cNvSpPr/>
          <p:nvPr/>
        </p:nvSpPr>
        <p:spPr>
          <a:xfrm>
            <a:off x="457200" y="2386584"/>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Georgia" pitchFamily="34" charset="0"/>
                <a:ea typeface="Georgia" pitchFamily="34" charset="-122"/>
                <a:cs typeface="Georgia" pitchFamily="34" charset="-120"/>
              </a:rPr>
              <a:t>3</a:t>
            </a:r>
            <a:endParaRPr lang="en-US" sz="1400" dirty="0"/>
          </a:p>
        </p:txBody>
      </p:sp>
      <p:sp>
        <p:nvSpPr>
          <p:cNvPr id="14" name="Text 12"/>
          <p:cNvSpPr/>
          <p:nvPr/>
        </p:nvSpPr>
        <p:spPr>
          <a:xfrm>
            <a:off x="960120" y="2340864"/>
            <a:ext cx="7680960" cy="228600"/>
          </a:xfrm>
          <a:prstGeom prst="rect">
            <a:avLst/>
          </a:prstGeom>
          <a:noFill/>
          <a:ln/>
        </p:spPr>
        <p:txBody>
          <a:bodyPr wrap="square" lIns="0" tIns="0" rIns="0" bIns="0" rtlCol="0" anchor="ctr"/>
          <a:lstStyle/>
          <a:p>
            <a:pPr marL="0" indent="0">
              <a:buNone/>
            </a:pPr>
            <a:r>
              <a:rPr lang="en-US" sz="1100" b="1" dirty="0">
                <a:solidFill>
                  <a:srgbClr val="0A595F"/>
                </a:solidFill>
                <a:latin typeface="Calibri" pitchFamily="34" charset="0"/>
                <a:ea typeface="Calibri" pitchFamily="34" charset="-122"/>
                <a:cs typeface="Calibri" pitchFamily="34" charset="-120"/>
              </a:rPr>
              <a:t>Add Transmission Technologies</a:t>
            </a:r>
            <a:endParaRPr lang="en-US" sz="1100" dirty="0"/>
          </a:p>
        </p:txBody>
      </p:sp>
      <p:sp>
        <p:nvSpPr>
          <p:cNvPr id="15" name="Text 13"/>
          <p:cNvSpPr/>
          <p:nvPr/>
        </p:nvSpPr>
        <p:spPr>
          <a:xfrm>
            <a:off x="960120" y="2587752"/>
            <a:ext cx="7680960" cy="384048"/>
          </a:xfrm>
          <a:prstGeom prst="rect">
            <a:avLst/>
          </a:prstGeom>
          <a:noFill/>
          <a:ln/>
        </p:spPr>
        <p:txBody>
          <a:bodyPr wrap="square" lIns="0" tIns="0" rIns="0" bIns="0" rtlCol="0" anchor="ctr"/>
          <a:lstStyle/>
          <a:p>
            <a:pPr marL="0" indent="0">
              <a:buNone/>
            </a:pPr>
            <a:r>
              <a:rPr lang="en-US" sz="950" dirty="0">
                <a:solidFill>
                  <a:srgbClr val="334155"/>
                </a:solidFill>
                <a:latin typeface="Calibri" pitchFamily="34" charset="0"/>
                <a:ea typeface="Calibri" pitchFamily="34" charset="-122"/>
                <a:cs typeface="Calibri" pitchFamily="34" charset="-120"/>
              </a:rPr>
              <a:t>Domestic transmission &amp; dispatch technologies added per country: RNWTRN, PWRTRN, DSPTRN with CAPEX, loss %, operational life from YAML config</a:t>
            </a:r>
            <a:endParaRPr lang="en-US" sz="950" dirty="0"/>
          </a:p>
        </p:txBody>
      </p:sp>
      <p:sp>
        <p:nvSpPr>
          <p:cNvPr id="16" name="Shape 14"/>
          <p:cNvSpPr/>
          <p:nvPr/>
        </p:nvSpPr>
        <p:spPr>
          <a:xfrm>
            <a:off x="457200" y="3099816"/>
            <a:ext cx="365760" cy="365760"/>
          </a:xfrm>
          <a:prstGeom prst="ellipse">
            <a:avLst/>
          </a:prstGeom>
          <a:solidFill>
            <a:srgbClr val="0A595F"/>
          </a:solidFill>
          <a:ln/>
        </p:spPr>
        <p:txBody>
          <a:bodyPr/>
          <a:lstStyle/>
          <a:p>
            <a:endParaRPr lang="LID4096"/>
          </a:p>
        </p:txBody>
      </p:sp>
      <p:sp>
        <p:nvSpPr>
          <p:cNvPr id="17" name="Text 15"/>
          <p:cNvSpPr/>
          <p:nvPr/>
        </p:nvSpPr>
        <p:spPr>
          <a:xfrm>
            <a:off x="457200" y="3099816"/>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Georgia" pitchFamily="34" charset="0"/>
                <a:ea typeface="Georgia" pitchFamily="34" charset="-122"/>
                <a:cs typeface="Georgia" pitchFamily="34" charset="-120"/>
              </a:rPr>
              <a:t>4</a:t>
            </a:r>
            <a:endParaRPr lang="en-US" sz="1400" dirty="0"/>
          </a:p>
        </p:txBody>
      </p:sp>
      <p:sp>
        <p:nvSpPr>
          <p:cNvPr id="18" name="Text 16"/>
          <p:cNvSpPr/>
          <p:nvPr/>
        </p:nvSpPr>
        <p:spPr>
          <a:xfrm>
            <a:off x="960120" y="3054096"/>
            <a:ext cx="7680960" cy="228600"/>
          </a:xfrm>
          <a:prstGeom prst="rect">
            <a:avLst/>
          </a:prstGeom>
          <a:noFill/>
          <a:ln/>
        </p:spPr>
        <p:txBody>
          <a:bodyPr wrap="square" lIns="0" tIns="0" rIns="0" bIns="0" rtlCol="0" anchor="ctr"/>
          <a:lstStyle/>
          <a:p>
            <a:pPr marL="0" indent="0">
              <a:buNone/>
            </a:pPr>
            <a:r>
              <a:rPr lang="en-US" sz="1100" b="1" dirty="0">
                <a:solidFill>
                  <a:srgbClr val="0A595F"/>
                </a:solidFill>
                <a:latin typeface="Calibri" pitchFamily="34" charset="0"/>
                <a:ea typeface="Calibri" pitchFamily="34" charset="-122"/>
                <a:cs typeface="Calibri" pitchFamily="34" charset="-120"/>
              </a:rPr>
              <a:t>Compile Model Data</a:t>
            </a:r>
            <a:endParaRPr lang="en-US" sz="1100" dirty="0"/>
          </a:p>
        </p:txBody>
      </p:sp>
      <p:sp>
        <p:nvSpPr>
          <p:cNvPr id="19" name="Text 17"/>
          <p:cNvSpPr/>
          <p:nvPr/>
        </p:nvSpPr>
        <p:spPr>
          <a:xfrm>
            <a:off x="960120" y="3300984"/>
            <a:ext cx="7680960" cy="384048"/>
          </a:xfrm>
          <a:prstGeom prst="rect">
            <a:avLst/>
          </a:prstGeom>
          <a:noFill/>
          <a:ln/>
        </p:spPr>
        <p:txBody>
          <a:bodyPr wrap="square" lIns="0" tIns="0" rIns="0" bIns="0" rtlCol="0" anchor="ctr"/>
          <a:lstStyle/>
          <a:p>
            <a:pPr marL="0" indent="0">
              <a:buNone/>
            </a:pPr>
            <a:r>
              <a:rPr lang="en-US" sz="950" dirty="0">
                <a:solidFill>
                  <a:srgbClr val="334155"/>
                </a:solidFill>
                <a:latin typeface="Calibri" pitchFamily="34" charset="0"/>
                <a:ea typeface="Calibri" pitchFamily="34" charset="-122"/>
                <a:cs typeface="Calibri" pitchFamily="34" charset="-120"/>
              </a:rPr>
              <a:t>Scenario-specific Excel files compiled into OSeMOSYS-compatible CSV parameter files via otoole pipeline</a:t>
            </a:r>
            <a:endParaRPr lang="en-US" sz="950" dirty="0"/>
          </a:p>
        </p:txBody>
      </p:sp>
      <p:sp>
        <p:nvSpPr>
          <p:cNvPr id="20" name="Shape 18"/>
          <p:cNvSpPr/>
          <p:nvPr/>
        </p:nvSpPr>
        <p:spPr>
          <a:xfrm>
            <a:off x="457200" y="3813048"/>
            <a:ext cx="365760" cy="365760"/>
          </a:xfrm>
          <a:prstGeom prst="ellipse">
            <a:avLst/>
          </a:prstGeom>
          <a:solidFill>
            <a:srgbClr val="0A595F"/>
          </a:solidFill>
          <a:ln/>
        </p:spPr>
        <p:txBody>
          <a:bodyPr/>
          <a:lstStyle/>
          <a:p>
            <a:endParaRPr lang="LID4096"/>
          </a:p>
        </p:txBody>
      </p:sp>
      <p:sp>
        <p:nvSpPr>
          <p:cNvPr id="21" name="Text 19"/>
          <p:cNvSpPr/>
          <p:nvPr/>
        </p:nvSpPr>
        <p:spPr>
          <a:xfrm>
            <a:off x="457200" y="3813048"/>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Georgia" pitchFamily="34" charset="0"/>
                <a:ea typeface="Georgia" pitchFamily="34" charset="-122"/>
                <a:cs typeface="Georgia" pitchFamily="34" charset="-120"/>
              </a:rPr>
              <a:t>5</a:t>
            </a:r>
            <a:endParaRPr lang="en-US" sz="1400" dirty="0"/>
          </a:p>
        </p:txBody>
      </p:sp>
      <p:sp>
        <p:nvSpPr>
          <p:cNvPr id="22" name="Text 20"/>
          <p:cNvSpPr/>
          <p:nvPr/>
        </p:nvSpPr>
        <p:spPr>
          <a:xfrm>
            <a:off x="960120" y="3767328"/>
            <a:ext cx="7680960" cy="228600"/>
          </a:xfrm>
          <a:prstGeom prst="rect">
            <a:avLst/>
          </a:prstGeom>
          <a:noFill/>
          <a:ln/>
        </p:spPr>
        <p:txBody>
          <a:bodyPr wrap="square" lIns="0" tIns="0" rIns="0" bIns="0" rtlCol="0" anchor="ctr"/>
          <a:lstStyle/>
          <a:p>
            <a:pPr marL="0" indent="0">
              <a:buNone/>
            </a:pPr>
            <a:r>
              <a:rPr lang="en-US" sz="1100" b="1" dirty="0">
                <a:solidFill>
                  <a:srgbClr val="0A595F"/>
                </a:solidFill>
                <a:latin typeface="Calibri" pitchFamily="34" charset="0"/>
                <a:ea typeface="Calibri" pitchFamily="34" charset="-122"/>
                <a:cs typeface="Calibri" pitchFamily="34" charset="-120"/>
              </a:rPr>
              <a:t>Execute Model</a:t>
            </a:r>
            <a:endParaRPr lang="en-US" sz="1100" dirty="0"/>
          </a:p>
        </p:txBody>
      </p:sp>
      <p:sp>
        <p:nvSpPr>
          <p:cNvPr id="23" name="Text 21"/>
          <p:cNvSpPr/>
          <p:nvPr/>
        </p:nvSpPr>
        <p:spPr>
          <a:xfrm>
            <a:off x="960120" y="4014216"/>
            <a:ext cx="7680960" cy="384048"/>
          </a:xfrm>
          <a:prstGeom prst="rect">
            <a:avLst/>
          </a:prstGeom>
          <a:noFill/>
          <a:ln/>
        </p:spPr>
        <p:txBody>
          <a:bodyPr wrap="square" lIns="0" tIns="0" rIns="0" bIns="0" rtlCol="0" anchor="ctr"/>
          <a:lstStyle/>
          <a:p>
            <a:pPr marL="0" indent="0">
              <a:buNone/>
            </a:pPr>
            <a:r>
              <a:rPr lang="en-US" sz="950" dirty="0">
                <a:solidFill>
                  <a:srgbClr val="334155"/>
                </a:solidFill>
                <a:latin typeface="Calibri" pitchFamily="34" charset="0"/>
                <a:ea typeface="Calibri" pitchFamily="34" charset="-122"/>
                <a:cs typeface="Calibri" pitchFamily="34" charset="-120"/>
              </a:rPr>
              <a:t>otoole convert → GLPK/CBC/CPLEX solver → results back to CSV. Supports parallel multi-scenario runs. Reproducible via DVC pipeline.</a:t>
            </a:r>
            <a:endParaRPr lang="en-US" sz="950" dirty="0"/>
          </a:p>
        </p:txBody>
      </p:sp>
      <p:sp>
        <p:nvSpPr>
          <p:cNvPr id="24" name="Text 22"/>
          <p:cNvSpPr/>
          <p:nvPr/>
        </p:nvSpPr>
        <p:spPr>
          <a:xfrm>
            <a:off x="457200" y="4434840"/>
            <a:ext cx="8229600" cy="228600"/>
          </a:xfrm>
          <a:prstGeom prst="rect">
            <a:avLst/>
          </a:prstGeom>
          <a:noFill/>
          <a:ln/>
        </p:spPr>
        <p:txBody>
          <a:bodyPr wrap="square" lIns="0" tIns="0" rIns="0" bIns="0" rtlCol="0" anchor="ctr"/>
          <a:lstStyle/>
          <a:p>
            <a:pPr marL="0" indent="0">
              <a:buNone/>
            </a:pPr>
            <a:r>
              <a:rPr lang="en-US" sz="900" i="1" dirty="0">
                <a:solidFill>
                  <a:srgbClr val="64748B"/>
                </a:solidFill>
                <a:latin typeface="Calibri" pitchFamily="34" charset="0"/>
                <a:ea typeface="Calibri" pitchFamily="34" charset="-122"/>
                <a:cs typeface="Calibri" pitchFamily="34" charset="-120"/>
              </a:rPr>
              <a:t>Alternative: run.py automates Steps 4–5 via DVC (recommended for production).</a:t>
            </a:r>
            <a:endParaRPr lang="en-US" sz="900" dirty="0"/>
          </a:p>
        </p:txBody>
      </p:sp>
      <p:sp>
        <p:nvSpPr>
          <p:cNvPr id="25" name="Shape 23"/>
          <p:cNvSpPr/>
          <p:nvPr/>
        </p:nvSpPr>
        <p:spPr>
          <a:xfrm>
            <a:off x="0" y="4709160"/>
            <a:ext cx="9144000" cy="434340"/>
          </a:xfrm>
          <a:prstGeom prst="rect">
            <a:avLst/>
          </a:prstGeom>
          <a:solidFill>
            <a:srgbClr val="00414D"/>
          </a:solidFill>
          <a:ln/>
        </p:spPr>
        <p:txBody>
          <a:bodyPr/>
          <a:lstStyle/>
          <a:p>
            <a:endParaRPr lang="LID4096"/>
          </a:p>
        </p:txBody>
      </p:sp>
      <p:sp>
        <p:nvSpPr>
          <p:cNvPr id="26" name="Text 24"/>
          <p:cNvSpPr/>
          <p:nvPr/>
        </p:nvSpPr>
        <p:spPr>
          <a:xfrm>
            <a:off x="457200" y="4727448"/>
            <a:ext cx="8229600" cy="393192"/>
          </a:xfrm>
          <a:prstGeom prst="rect">
            <a:avLst/>
          </a:prstGeom>
          <a:noFill/>
          <a:ln/>
        </p:spPr>
        <p:txBody>
          <a:bodyPr wrap="square" rtlCol="0" anchor="ctr"/>
          <a:lstStyle/>
          <a:p>
            <a:pPr marL="0" indent="0">
              <a:buNone/>
            </a:pPr>
            <a:r>
              <a:rPr lang="en-US" sz="800" dirty="0">
                <a:solidFill>
                  <a:srgbClr val="64748B"/>
                </a:solidFill>
                <a:latin typeface="Calibri" pitchFamily="34" charset="0"/>
                <a:ea typeface="Calibri" pitchFamily="34" charset="-122"/>
                <a:cs typeface="Calibri" pitchFamily="34" charset="-120"/>
              </a:rPr>
              <a:t>OSTRAM — Data Package v1.0  |  UN ESCAP Energy Division  |  March 2026</a:t>
            </a:r>
            <a:endParaRPr lang="en-US" sz="8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7">
    <p:bg>
      <p:bgPr>
        <a:solidFill>
          <a:srgbClr val="F0F5F5"/>
        </a:solidFill>
        <a:effectLst/>
      </p:bgPr>
    </p:bg>
    <p:spTree>
      <p:nvGrpSpPr>
        <p:cNvPr id="1" name=""/>
        <p:cNvGrpSpPr/>
        <p:nvPr/>
      </p:nvGrpSpPr>
      <p:grpSpPr>
        <a:xfrm>
          <a:off x="0" y="0"/>
          <a:ext cx="0" cy="0"/>
          <a:chOff x="0" y="0"/>
          <a:chExt cx="0" cy="0"/>
        </a:xfrm>
      </p:grpSpPr>
      <p:sp>
        <p:nvSpPr>
          <p:cNvPr id="2" name="Text 0"/>
          <p:cNvSpPr/>
          <p:nvPr/>
        </p:nvSpPr>
        <p:spPr>
          <a:xfrm>
            <a:off x="457200" y="228600"/>
            <a:ext cx="8229600" cy="411480"/>
          </a:xfrm>
          <a:prstGeom prst="rect">
            <a:avLst/>
          </a:prstGeom>
          <a:noFill/>
          <a:ln/>
        </p:spPr>
        <p:txBody>
          <a:bodyPr wrap="square" lIns="0" tIns="0" rIns="0" bIns="0" rtlCol="0" anchor="ctr"/>
          <a:lstStyle/>
          <a:p>
            <a:pPr marL="0" indent="0">
              <a:buNone/>
            </a:pPr>
            <a:r>
              <a:rPr lang="en-US" sz="2400" b="1" dirty="0">
                <a:solidFill>
                  <a:srgbClr val="00414D"/>
                </a:solidFill>
                <a:latin typeface="Georgia" pitchFamily="34" charset="0"/>
                <a:ea typeface="Georgia" pitchFamily="34" charset="-122"/>
                <a:cs typeface="Georgia" pitchFamily="34" charset="-120"/>
              </a:rPr>
              <a:t>How to Collaborate</a:t>
            </a:r>
            <a:endParaRPr lang="en-US" sz="2400" dirty="0"/>
          </a:p>
        </p:txBody>
      </p:sp>
      <p:sp>
        <p:nvSpPr>
          <p:cNvPr id="3" name="Text 1"/>
          <p:cNvSpPr/>
          <p:nvPr/>
        </p:nvSpPr>
        <p:spPr>
          <a:xfrm>
            <a:off x="457200" y="640080"/>
            <a:ext cx="8229600" cy="201168"/>
          </a:xfrm>
          <a:prstGeom prst="rect">
            <a:avLst/>
          </a:prstGeom>
          <a:noFill/>
          <a:ln/>
        </p:spPr>
        <p:txBody>
          <a:bodyPr wrap="square" lIns="0" tIns="0" rIns="0" bIns="0" rtlCol="0" anchor="ctr"/>
          <a:lstStyle/>
          <a:p>
            <a:pPr marL="0" indent="0">
              <a:buNone/>
            </a:pPr>
            <a:r>
              <a:rPr lang="en-US" sz="1050" i="1" dirty="0">
                <a:solidFill>
                  <a:srgbClr val="23978E"/>
                </a:solidFill>
                <a:latin typeface="Calibri" pitchFamily="34" charset="0"/>
                <a:ea typeface="Calibri" pitchFamily="34" charset="-122"/>
                <a:cs typeface="Calibri" pitchFamily="34" charset="-120"/>
              </a:rPr>
              <a:t>Getting started with the OSTRAM repository and documentation</a:t>
            </a:r>
            <a:endParaRPr lang="en-US" sz="1050" dirty="0"/>
          </a:p>
        </p:txBody>
      </p:sp>
      <p:sp>
        <p:nvSpPr>
          <p:cNvPr id="4" name="Shape 2"/>
          <p:cNvSpPr/>
          <p:nvPr/>
        </p:nvSpPr>
        <p:spPr>
          <a:xfrm>
            <a:off x="457200" y="1005840"/>
            <a:ext cx="2606040" cy="1828800"/>
          </a:xfrm>
          <a:prstGeom prst="rect">
            <a:avLst/>
          </a:prstGeom>
          <a:solidFill>
            <a:srgbClr val="FFFFFF"/>
          </a:solidFill>
          <a:ln/>
          <a:effectLst>
            <a:outerShdw blurRad="76200" dist="25400" dir="8100000" algn="bl" rotWithShape="0">
              <a:srgbClr val="000000">
                <a:alpha val="6000"/>
              </a:srgbClr>
            </a:outerShdw>
          </a:effectLst>
        </p:spPr>
        <p:txBody>
          <a:bodyPr/>
          <a:lstStyle/>
          <a:p>
            <a:endParaRPr lang="LID4096"/>
          </a:p>
        </p:txBody>
      </p:sp>
      <p:sp>
        <p:nvSpPr>
          <p:cNvPr id="5" name="Shape 3"/>
          <p:cNvSpPr/>
          <p:nvPr/>
        </p:nvSpPr>
        <p:spPr>
          <a:xfrm>
            <a:off x="457200" y="1005840"/>
            <a:ext cx="2606040" cy="36576"/>
          </a:xfrm>
          <a:prstGeom prst="rect">
            <a:avLst/>
          </a:prstGeom>
          <a:solidFill>
            <a:srgbClr val="23978E"/>
          </a:solidFill>
          <a:ln/>
        </p:spPr>
        <p:txBody>
          <a:bodyPr/>
          <a:lstStyle/>
          <a:p>
            <a:endParaRPr lang="LID4096"/>
          </a:p>
        </p:txBody>
      </p:sp>
      <p:sp>
        <p:nvSpPr>
          <p:cNvPr id="6" name="Shape 4"/>
          <p:cNvSpPr/>
          <p:nvPr/>
        </p:nvSpPr>
        <p:spPr>
          <a:xfrm>
            <a:off x="594360" y="1188720"/>
            <a:ext cx="320040" cy="320040"/>
          </a:xfrm>
          <a:prstGeom prst="ellipse">
            <a:avLst/>
          </a:prstGeom>
          <a:solidFill>
            <a:srgbClr val="0A595F"/>
          </a:solidFill>
          <a:ln/>
        </p:spPr>
        <p:txBody>
          <a:bodyPr/>
          <a:lstStyle/>
          <a:p>
            <a:endParaRPr lang="LID4096"/>
          </a:p>
        </p:txBody>
      </p:sp>
      <p:sp>
        <p:nvSpPr>
          <p:cNvPr id="7" name="Text 5"/>
          <p:cNvSpPr/>
          <p:nvPr/>
        </p:nvSpPr>
        <p:spPr>
          <a:xfrm>
            <a:off x="594360" y="1188720"/>
            <a:ext cx="320040" cy="320040"/>
          </a:xfrm>
          <a:prstGeom prst="rect">
            <a:avLst/>
          </a:prstGeom>
          <a:noFill/>
          <a:ln/>
        </p:spPr>
        <p:txBody>
          <a:bodyPr wrap="square" lIns="0" tIns="0" rIns="0" bIns="0" rtlCol="0" anchor="ctr"/>
          <a:lstStyle/>
          <a:p>
            <a:pPr marL="0" indent="0" algn="ctr">
              <a:buNone/>
            </a:pPr>
            <a:r>
              <a:rPr lang="en-US" sz="1300" b="1" dirty="0">
                <a:solidFill>
                  <a:srgbClr val="FFFFFF"/>
                </a:solidFill>
                <a:latin typeface="Georgia" pitchFamily="34" charset="0"/>
                <a:ea typeface="Georgia" pitchFamily="34" charset="-122"/>
                <a:cs typeface="Georgia" pitchFamily="34" charset="-120"/>
              </a:rPr>
              <a:t>1</a:t>
            </a:r>
            <a:endParaRPr lang="en-US" sz="1300" dirty="0"/>
          </a:p>
        </p:txBody>
      </p:sp>
      <p:sp>
        <p:nvSpPr>
          <p:cNvPr id="8" name="Text 6"/>
          <p:cNvSpPr/>
          <p:nvPr/>
        </p:nvSpPr>
        <p:spPr>
          <a:xfrm>
            <a:off x="1005840" y="1188720"/>
            <a:ext cx="1920240" cy="320040"/>
          </a:xfrm>
          <a:prstGeom prst="rect">
            <a:avLst/>
          </a:prstGeom>
          <a:noFill/>
          <a:ln/>
        </p:spPr>
        <p:txBody>
          <a:bodyPr wrap="square" lIns="0" tIns="0" rIns="0" bIns="0" rtlCol="0" anchor="ctr"/>
          <a:lstStyle/>
          <a:p>
            <a:pPr marL="0" indent="0">
              <a:buNone/>
            </a:pPr>
            <a:r>
              <a:rPr lang="en-US" sz="1050" b="1" dirty="0">
                <a:solidFill>
                  <a:srgbClr val="0A595F"/>
                </a:solidFill>
                <a:latin typeface="Calibri" pitchFamily="34" charset="0"/>
                <a:ea typeface="Calibri" pitchFamily="34" charset="-122"/>
                <a:cs typeface="Calibri" pitchFamily="34" charset="-120"/>
              </a:rPr>
              <a:t>Share your GitHub username</a:t>
            </a:r>
            <a:endParaRPr lang="en-US" sz="1050" dirty="0"/>
          </a:p>
        </p:txBody>
      </p:sp>
      <p:sp>
        <p:nvSpPr>
          <p:cNvPr id="9" name="Text 7"/>
          <p:cNvSpPr/>
          <p:nvPr/>
        </p:nvSpPr>
        <p:spPr>
          <a:xfrm>
            <a:off x="594360" y="1645920"/>
            <a:ext cx="2331720" cy="1005840"/>
          </a:xfrm>
          <a:prstGeom prst="rect">
            <a:avLst/>
          </a:prstGeom>
          <a:noFill/>
          <a:ln/>
        </p:spPr>
        <p:txBody>
          <a:bodyPr wrap="square" lIns="0" tIns="0" rIns="0" bIns="0" rtlCol="0" anchor="ctr"/>
          <a:lstStyle/>
          <a:p>
            <a:pPr marL="0" indent="0">
              <a:buNone/>
            </a:pPr>
            <a:r>
              <a:rPr lang="en-US" sz="950" dirty="0">
                <a:solidFill>
                  <a:srgbClr val="334155"/>
                </a:solidFill>
                <a:latin typeface="Calibri" pitchFamily="34" charset="0"/>
                <a:ea typeface="Calibri" pitchFamily="34" charset="-122"/>
                <a:cs typeface="Calibri" pitchFamily="34" charset="-120"/>
              </a:rPr>
              <a:t>Send your GitHub username to the modeling team so we can add you as a collaborator on the private repository.</a:t>
            </a:r>
            <a:endParaRPr lang="en-US" sz="950" dirty="0"/>
          </a:p>
        </p:txBody>
      </p:sp>
      <p:sp>
        <p:nvSpPr>
          <p:cNvPr id="10" name="Shape 8"/>
          <p:cNvSpPr/>
          <p:nvPr/>
        </p:nvSpPr>
        <p:spPr>
          <a:xfrm>
            <a:off x="3291840" y="1005840"/>
            <a:ext cx="2606040" cy="1828800"/>
          </a:xfrm>
          <a:prstGeom prst="rect">
            <a:avLst/>
          </a:prstGeom>
          <a:solidFill>
            <a:srgbClr val="FFFFFF"/>
          </a:solidFill>
          <a:ln/>
          <a:effectLst>
            <a:outerShdw blurRad="76200" dist="25400" dir="8100000" algn="bl" rotWithShape="0">
              <a:srgbClr val="000000">
                <a:alpha val="6000"/>
              </a:srgbClr>
            </a:outerShdw>
          </a:effectLst>
        </p:spPr>
        <p:txBody>
          <a:bodyPr/>
          <a:lstStyle/>
          <a:p>
            <a:endParaRPr lang="LID4096"/>
          </a:p>
        </p:txBody>
      </p:sp>
      <p:sp>
        <p:nvSpPr>
          <p:cNvPr id="11" name="Shape 9"/>
          <p:cNvSpPr/>
          <p:nvPr/>
        </p:nvSpPr>
        <p:spPr>
          <a:xfrm>
            <a:off x="3291840" y="1005840"/>
            <a:ext cx="2606040" cy="36576"/>
          </a:xfrm>
          <a:prstGeom prst="rect">
            <a:avLst/>
          </a:prstGeom>
          <a:solidFill>
            <a:srgbClr val="23978E"/>
          </a:solidFill>
          <a:ln/>
        </p:spPr>
        <p:txBody>
          <a:bodyPr/>
          <a:lstStyle/>
          <a:p>
            <a:endParaRPr lang="LID4096"/>
          </a:p>
        </p:txBody>
      </p:sp>
      <p:sp>
        <p:nvSpPr>
          <p:cNvPr id="12" name="Shape 10"/>
          <p:cNvSpPr/>
          <p:nvPr/>
        </p:nvSpPr>
        <p:spPr>
          <a:xfrm>
            <a:off x="3429000" y="1188720"/>
            <a:ext cx="320040" cy="320040"/>
          </a:xfrm>
          <a:prstGeom prst="ellipse">
            <a:avLst/>
          </a:prstGeom>
          <a:solidFill>
            <a:srgbClr val="0A595F"/>
          </a:solidFill>
          <a:ln/>
        </p:spPr>
        <p:txBody>
          <a:bodyPr/>
          <a:lstStyle/>
          <a:p>
            <a:endParaRPr lang="LID4096"/>
          </a:p>
        </p:txBody>
      </p:sp>
      <p:sp>
        <p:nvSpPr>
          <p:cNvPr id="13" name="Text 11"/>
          <p:cNvSpPr/>
          <p:nvPr/>
        </p:nvSpPr>
        <p:spPr>
          <a:xfrm>
            <a:off x="3429000" y="1188720"/>
            <a:ext cx="320040" cy="320040"/>
          </a:xfrm>
          <a:prstGeom prst="rect">
            <a:avLst/>
          </a:prstGeom>
          <a:noFill/>
          <a:ln/>
        </p:spPr>
        <p:txBody>
          <a:bodyPr wrap="square" lIns="0" tIns="0" rIns="0" bIns="0" rtlCol="0" anchor="ctr"/>
          <a:lstStyle/>
          <a:p>
            <a:pPr marL="0" indent="0" algn="ctr">
              <a:buNone/>
            </a:pPr>
            <a:r>
              <a:rPr lang="en-US" sz="1300" b="1" dirty="0">
                <a:solidFill>
                  <a:srgbClr val="FFFFFF"/>
                </a:solidFill>
                <a:latin typeface="Georgia" pitchFamily="34" charset="0"/>
                <a:ea typeface="Georgia" pitchFamily="34" charset="-122"/>
                <a:cs typeface="Georgia" pitchFamily="34" charset="-120"/>
              </a:rPr>
              <a:t>2</a:t>
            </a:r>
            <a:endParaRPr lang="en-US" sz="1300" dirty="0"/>
          </a:p>
        </p:txBody>
      </p:sp>
      <p:sp>
        <p:nvSpPr>
          <p:cNvPr id="14" name="Text 12"/>
          <p:cNvSpPr/>
          <p:nvPr/>
        </p:nvSpPr>
        <p:spPr>
          <a:xfrm>
            <a:off x="3840480" y="1188720"/>
            <a:ext cx="1920240" cy="320040"/>
          </a:xfrm>
          <a:prstGeom prst="rect">
            <a:avLst/>
          </a:prstGeom>
          <a:noFill/>
          <a:ln/>
        </p:spPr>
        <p:txBody>
          <a:bodyPr wrap="square" lIns="0" tIns="0" rIns="0" bIns="0" rtlCol="0" anchor="ctr"/>
          <a:lstStyle/>
          <a:p>
            <a:pPr marL="0" indent="0">
              <a:buNone/>
            </a:pPr>
            <a:r>
              <a:rPr lang="en-US" sz="1050" b="1" dirty="0">
                <a:solidFill>
                  <a:srgbClr val="0A595F"/>
                </a:solidFill>
                <a:latin typeface="Calibri" pitchFamily="34" charset="0"/>
                <a:ea typeface="Calibri" pitchFamily="34" charset="-122"/>
                <a:cs typeface="Calibri" pitchFamily="34" charset="-120"/>
              </a:rPr>
              <a:t>Accept the repository invitation</a:t>
            </a:r>
            <a:endParaRPr lang="en-US" sz="1050" dirty="0"/>
          </a:p>
        </p:txBody>
      </p:sp>
      <p:sp>
        <p:nvSpPr>
          <p:cNvPr id="15" name="Text 13"/>
          <p:cNvSpPr/>
          <p:nvPr/>
        </p:nvSpPr>
        <p:spPr>
          <a:xfrm>
            <a:off x="3429000" y="1645920"/>
            <a:ext cx="2331720" cy="1005840"/>
          </a:xfrm>
          <a:prstGeom prst="rect">
            <a:avLst/>
          </a:prstGeom>
          <a:noFill/>
          <a:ln/>
        </p:spPr>
        <p:txBody>
          <a:bodyPr wrap="square" lIns="0" tIns="0" rIns="0" bIns="0" rtlCol="0" anchor="ctr"/>
          <a:lstStyle/>
          <a:p>
            <a:pPr marL="0" indent="0">
              <a:buNone/>
            </a:pPr>
            <a:r>
              <a:rPr lang="en-US" sz="950" dirty="0">
                <a:solidFill>
                  <a:srgbClr val="334155"/>
                </a:solidFill>
                <a:latin typeface="Calibri" pitchFamily="34" charset="0"/>
                <a:ea typeface="Calibri" pitchFamily="34" charset="-122"/>
                <a:cs typeface="Calibri" pitchFamily="34" charset="-120"/>
              </a:rPr>
              <a:t>An email invitation will arrive at the address associated with your GitHub account. Accept it to gain access.</a:t>
            </a:r>
            <a:endParaRPr lang="en-US" sz="950" dirty="0"/>
          </a:p>
        </p:txBody>
      </p:sp>
      <p:sp>
        <p:nvSpPr>
          <p:cNvPr id="16" name="Shape 14"/>
          <p:cNvSpPr/>
          <p:nvPr/>
        </p:nvSpPr>
        <p:spPr>
          <a:xfrm>
            <a:off x="6126480" y="1005840"/>
            <a:ext cx="2606040" cy="1828800"/>
          </a:xfrm>
          <a:prstGeom prst="rect">
            <a:avLst/>
          </a:prstGeom>
          <a:solidFill>
            <a:srgbClr val="FFFFFF"/>
          </a:solidFill>
          <a:ln/>
          <a:effectLst>
            <a:outerShdw blurRad="76200" dist="25400" dir="8100000" algn="bl" rotWithShape="0">
              <a:srgbClr val="000000">
                <a:alpha val="6000"/>
              </a:srgbClr>
            </a:outerShdw>
          </a:effectLst>
        </p:spPr>
        <p:txBody>
          <a:bodyPr/>
          <a:lstStyle/>
          <a:p>
            <a:endParaRPr lang="LID4096"/>
          </a:p>
        </p:txBody>
      </p:sp>
      <p:sp>
        <p:nvSpPr>
          <p:cNvPr id="17" name="Shape 15"/>
          <p:cNvSpPr/>
          <p:nvPr/>
        </p:nvSpPr>
        <p:spPr>
          <a:xfrm>
            <a:off x="6126480" y="1005840"/>
            <a:ext cx="2606040" cy="36576"/>
          </a:xfrm>
          <a:prstGeom prst="rect">
            <a:avLst/>
          </a:prstGeom>
          <a:solidFill>
            <a:srgbClr val="23978E"/>
          </a:solidFill>
          <a:ln/>
        </p:spPr>
        <p:txBody>
          <a:bodyPr/>
          <a:lstStyle/>
          <a:p>
            <a:endParaRPr lang="LID4096"/>
          </a:p>
        </p:txBody>
      </p:sp>
      <p:sp>
        <p:nvSpPr>
          <p:cNvPr id="18" name="Shape 16"/>
          <p:cNvSpPr/>
          <p:nvPr/>
        </p:nvSpPr>
        <p:spPr>
          <a:xfrm>
            <a:off x="6263640" y="1188720"/>
            <a:ext cx="320040" cy="320040"/>
          </a:xfrm>
          <a:prstGeom prst="ellipse">
            <a:avLst/>
          </a:prstGeom>
          <a:solidFill>
            <a:srgbClr val="0A595F"/>
          </a:solidFill>
          <a:ln/>
        </p:spPr>
        <p:txBody>
          <a:bodyPr/>
          <a:lstStyle/>
          <a:p>
            <a:endParaRPr lang="LID4096"/>
          </a:p>
        </p:txBody>
      </p:sp>
      <p:sp>
        <p:nvSpPr>
          <p:cNvPr id="19" name="Text 17"/>
          <p:cNvSpPr/>
          <p:nvPr/>
        </p:nvSpPr>
        <p:spPr>
          <a:xfrm>
            <a:off x="6263640" y="1188720"/>
            <a:ext cx="320040" cy="320040"/>
          </a:xfrm>
          <a:prstGeom prst="rect">
            <a:avLst/>
          </a:prstGeom>
          <a:noFill/>
          <a:ln/>
        </p:spPr>
        <p:txBody>
          <a:bodyPr wrap="square" lIns="0" tIns="0" rIns="0" bIns="0" rtlCol="0" anchor="ctr"/>
          <a:lstStyle/>
          <a:p>
            <a:pPr marL="0" indent="0" algn="ctr">
              <a:buNone/>
            </a:pPr>
            <a:r>
              <a:rPr lang="en-US" sz="1300" b="1" dirty="0">
                <a:solidFill>
                  <a:srgbClr val="FFFFFF"/>
                </a:solidFill>
                <a:latin typeface="Georgia" pitchFamily="34" charset="0"/>
                <a:ea typeface="Georgia" pitchFamily="34" charset="-122"/>
                <a:cs typeface="Georgia" pitchFamily="34" charset="-120"/>
              </a:rPr>
              <a:t>3</a:t>
            </a:r>
            <a:endParaRPr lang="en-US" sz="1300" dirty="0"/>
          </a:p>
        </p:txBody>
      </p:sp>
      <p:sp>
        <p:nvSpPr>
          <p:cNvPr id="20" name="Text 18"/>
          <p:cNvSpPr/>
          <p:nvPr/>
        </p:nvSpPr>
        <p:spPr>
          <a:xfrm>
            <a:off x="6675120" y="1188720"/>
            <a:ext cx="1920240" cy="320040"/>
          </a:xfrm>
          <a:prstGeom prst="rect">
            <a:avLst/>
          </a:prstGeom>
          <a:noFill/>
          <a:ln/>
        </p:spPr>
        <p:txBody>
          <a:bodyPr wrap="square" lIns="0" tIns="0" rIns="0" bIns="0" rtlCol="0" anchor="ctr"/>
          <a:lstStyle/>
          <a:p>
            <a:pPr marL="0" indent="0">
              <a:buNone/>
            </a:pPr>
            <a:r>
              <a:rPr lang="en-US" sz="1050" b="1" dirty="0">
                <a:solidFill>
                  <a:srgbClr val="0A595F"/>
                </a:solidFill>
                <a:latin typeface="Calibri" pitchFamily="34" charset="0"/>
                <a:ea typeface="Calibri" pitchFamily="34" charset="-122"/>
                <a:cs typeface="Calibri" pitchFamily="34" charset="-120"/>
              </a:rPr>
              <a:t>Read the documentation</a:t>
            </a:r>
            <a:endParaRPr lang="en-US" sz="1050" dirty="0"/>
          </a:p>
        </p:txBody>
      </p:sp>
      <p:sp>
        <p:nvSpPr>
          <p:cNvPr id="21" name="Text 19"/>
          <p:cNvSpPr/>
          <p:nvPr/>
        </p:nvSpPr>
        <p:spPr>
          <a:xfrm>
            <a:off x="6263640" y="1645920"/>
            <a:ext cx="2331720" cy="1005840"/>
          </a:xfrm>
          <a:prstGeom prst="rect">
            <a:avLst/>
          </a:prstGeom>
          <a:noFill/>
          <a:ln/>
        </p:spPr>
        <p:txBody>
          <a:bodyPr wrap="square" lIns="0" tIns="0" rIns="0" bIns="0" rtlCol="0" anchor="ctr"/>
          <a:lstStyle/>
          <a:p>
            <a:pPr marL="0" indent="0">
              <a:buNone/>
            </a:pPr>
            <a:r>
              <a:rPr lang="en-US" sz="950" dirty="0">
                <a:solidFill>
                  <a:srgbClr val="334155"/>
                </a:solidFill>
                <a:latin typeface="Calibri" pitchFamily="34" charset="0"/>
                <a:ea typeface="Calibri" pitchFamily="34" charset="-122"/>
                <a:cs typeface="Calibri" pitchFamily="34" charset="-120"/>
              </a:rPr>
              <a:t>Full pipeline documentation, data dictionaries, and scenario configuration guides are available at ostram.readthedocs.io.</a:t>
            </a:r>
            <a:endParaRPr lang="en-US" sz="950" dirty="0"/>
          </a:p>
        </p:txBody>
      </p:sp>
      <p:sp>
        <p:nvSpPr>
          <p:cNvPr id="22" name="Shape 20"/>
          <p:cNvSpPr/>
          <p:nvPr/>
        </p:nvSpPr>
        <p:spPr>
          <a:xfrm>
            <a:off x="457200" y="3108960"/>
            <a:ext cx="8229600" cy="1097280"/>
          </a:xfrm>
          <a:prstGeom prst="rect">
            <a:avLst/>
          </a:prstGeom>
          <a:solidFill>
            <a:srgbClr val="FFFFFF"/>
          </a:solidFill>
          <a:ln/>
          <a:effectLst>
            <a:outerShdw blurRad="76200" dist="25400" dir="8100000" algn="bl" rotWithShape="0">
              <a:srgbClr val="000000">
                <a:alpha val="6000"/>
              </a:srgbClr>
            </a:outerShdw>
          </a:effectLst>
        </p:spPr>
        <p:txBody>
          <a:bodyPr/>
          <a:lstStyle/>
          <a:p>
            <a:endParaRPr lang="LID4096"/>
          </a:p>
        </p:txBody>
      </p:sp>
      <p:pic>
        <p:nvPicPr>
          <p:cNvPr id="23" name="Image 0" descr="preencoded.png"/>
          <p:cNvPicPr>
            <a:picLocks noChangeAspect="1"/>
          </p:cNvPicPr>
          <p:nvPr/>
        </p:nvPicPr>
        <p:blipFill>
          <a:blip r:embed="rId3"/>
          <a:stretch>
            <a:fillRect/>
          </a:stretch>
        </p:blipFill>
        <p:spPr>
          <a:xfrm>
            <a:off x="731520" y="3291840"/>
            <a:ext cx="320040" cy="320040"/>
          </a:xfrm>
          <a:prstGeom prst="rect">
            <a:avLst/>
          </a:prstGeom>
        </p:spPr>
      </p:pic>
      <p:sp>
        <p:nvSpPr>
          <p:cNvPr id="24" name="Text 21"/>
          <p:cNvSpPr/>
          <p:nvPr/>
        </p:nvSpPr>
        <p:spPr>
          <a:xfrm>
            <a:off x="1188720" y="3273552"/>
            <a:ext cx="4572000" cy="256032"/>
          </a:xfrm>
          <a:prstGeom prst="rect">
            <a:avLst/>
          </a:prstGeom>
          <a:noFill/>
          <a:ln/>
        </p:spPr>
        <p:txBody>
          <a:bodyPr wrap="square" lIns="0" tIns="0" rIns="0" bIns="0" rtlCol="0" anchor="ctr"/>
          <a:lstStyle/>
          <a:p>
            <a:pPr marL="0" indent="0">
              <a:buNone/>
            </a:pPr>
            <a:r>
              <a:rPr lang="en-US" sz="1300" b="1" dirty="0">
                <a:solidFill>
                  <a:srgbClr val="0A595F"/>
                </a:solidFill>
                <a:latin typeface="Calibri" pitchFamily="34" charset="0"/>
                <a:ea typeface="Calibri" pitchFamily="34" charset="-122"/>
                <a:cs typeface="Calibri" pitchFamily="34" charset="-120"/>
              </a:rPr>
              <a:t>ostram.readthedocs.io</a:t>
            </a:r>
            <a:endParaRPr lang="en-US" sz="1300" dirty="0"/>
          </a:p>
        </p:txBody>
      </p:sp>
      <p:sp>
        <p:nvSpPr>
          <p:cNvPr id="25" name="Text 22"/>
          <p:cNvSpPr/>
          <p:nvPr/>
        </p:nvSpPr>
        <p:spPr>
          <a:xfrm>
            <a:off x="1188720" y="3566160"/>
            <a:ext cx="7223760" cy="658368"/>
          </a:xfrm>
          <a:prstGeom prst="rect">
            <a:avLst/>
          </a:prstGeom>
          <a:noFill/>
          <a:ln/>
        </p:spPr>
        <p:txBody>
          <a:bodyPr wrap="square" lIns="0" tIns="0" rIns="0" bIns="0" rtlCol="0" anchor="ctr"/>
          <a:lstStyle/>
          <a:p>
            <a:r>
              <a:rPr lang="en-US" sz="1000" dirty="0">
                <a:solidFill>
                  <a:srgbClr val="334155"/>
                </a:solidFill>
                <a:latin typeface="Calibri" pitchFamily="34" charset="0"/>
                <a:ea typeface="Calibri" pitchFamily="34" charset="-122"/>
                <a:cs typeface="Calibri" pitchFamily="34" charset="-120"/>
              </a:rPr>
              <a:t>Full documentation site with installation guide, pipeline walkthrough, parameter reference, and contribution guidelines. Updated continuously as the model evolves.</a:t>
            </a:r>
            <a:br>
              <a:rPr lang="en-US" sz="1000" dirty="0">
                <a:solidFill>
                  <a:srgbClr val="334155"/>
                </a:solidFill>
                <a:latin typeface="Calibri" pitchFamily="34" charset="0"/>
                <a:ea typeface="Calibri" pitchFamily="34" charset="-122"/>
                <a:cs typeface="Calibri" pitchFamily="34" charset="-120"/>
              </a:rPr>
            </a:br>
            <a:br>
              <a:rPr lang="en-US" sz="1000" dirty="0">
                <a:solidFill>
                  <a:srgbClr val="334155"/>
                </a:solidFill>
                <a:latin typeface="Calibri" pitchFamily="34" charset="0"/>
                <a:ea typeface="Calibri" pitchFamily="34" charset="-122"/>
                <a:cs typeface="Calibri" pitchFamily="34" charset="-120"/>
              </a:rPr>
            </a:br>
            <a:r>
              <a:rPr lang="en-US" sz="1000" dirty="0">
                <a:solidFill>
                  <a:srgbClr val="334155"/>
                </a:solidFill>
                <a:latin typeface="Calibri" pitchFamily="34" charset="0"/>
                <a:ea typeface="Calibri" pitchFamily="34" charset="-122"/>
                <a:cs typeface="Calibri" pitchFamily="34" charset="-120"/>
              </a:rPr>
              <a:t>Link: </a:t>
            </a:r>
            <a:r>
              <a:rPr lang="en-US" sz="1000" dirty="0">
                <a:solidFill>
                  <a:srgbClr val="334155"/>
                </a:solidFill>
                <a:latin typeface="Calibri" pitchFamily="34" charset="0"/>
                <a:ea typeface="Calibri" pitchFamily="34" charset="-122"/>
                <a:cs typeface="Calibri" pitchFamily="34" charset="-120"/>
                <a:hlinkClick r:id="rId4"/>
              </a:rPr>
              <a:t>https://ostram.readthedocs.io/en/latest/index.html</a:t>
            </a:r>
            <a:r>
              <a:rPr lang="en-US" sz="1000" dirty="0">
                <a:solidFill>
                  <a:srgbClr val="334155"/>
                </a:solidFill>
                <a:latin typeface="Calibri" pitchFamily="34" charset="0"/>
                <a:ea typeface="Calibri" pitchFamily="34" charset="-122"/>
                <a:cs typeface="Calibri" pitchFamily="34" charset="-120"/>
              </a:rPr>
              <a:t> </a:t>
            </a:r>
            <a:endParaRPr lang="en-US" sz="1000" dirty="0"/>
          </a:p>
        </p:txBody>
      </p:sp>
      <p:sp>
        <p:nvSpPr>
          <p:cNvPr id="26" name="Shape 23"/>
          <p:cNvSpPr/>
          <p:nvPr/>
        </p:nvSpPr>
        <p:spPr>
          <a:xfrm>
            <a:off x="0" y="4709160"/>
            <a:ext cx="9144000" cy="434340"/>
          </a:xfrm>
          <a:prstGeom prst="rect">
            <a:avLst/>
          </a:prstGeom>
          <a:solidFill>
            <a:srgbClr val="00414D"/>
          </a:solidFill>
          <a:ln/>
        </p:spPr>
        <p:txBody>
          <a:bodyPr/>
          <a:lstStyle/>
          <a:p>
            <a:endParaRPr lang="LID4096"/>
          </a:p>
        </p:txBody>
      </p:sp>
      <p:sp>
        <p:nvSpPr>
          <p:cNvPr id="27" name="Text 24"/>
          <p:cNvSpPr/>
          <p:nvPr/>
        </p:nvSpPr>
        <p:spPr>
          <a:xfrm>
            <a:off x="457200" y="4727448"/>
            <a:ext cx="8229600" cy="393192"/>
          </a:xfrm>
          <a:prstGeom prst="rect">
            <a:avLst/>
          </a:prstGeom>
          <a:noFill/>
          <a:ln/>
        </p:spPr>
        <p:txBody>
          <a:bodyPr wrap="square" rtlCol="0" anchor="ctr"/>
          <a:lstStyle/>
          <a:p>
            <a:pPr marL="0" indent="0">
              <a:buNone/>
            </a:pPr>
            <a:r>
              <a:rPr lang="en-US" sz="800" dirty="0">
                <a:solidFill>
                  <a:srgbClr val="64748B"/>
                </a:solidFill>
                <a:latin typeface="Calibri" pitchFamily="34" charset="0"/>
                <a:ea typeface="Calibri" pitchFamily="34" charset="-122"/>
                <a:cs typeface="Calibri" pitchFamily="34" charset="-120"/>
              </a:rPr>
              <a:t>OSTRAM — Data Package v1.0  |  UN ESCAP Energy Division  |  March 2026</a:t>
            </a:r>
            <a:endParaRPr lang="en-US" sz="8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3444" cy="5143500"/>
          </a:xfrm>
          <a:prstGeom prst="rect">
            <a:avLst/>
          </a:prstGeom>
          <a:solidFill>
            <a:srgbClr val="23978E"/>
          </a:solidFill>
          <a:ln/>
        </p:spPr>
        <p:txBody>
          <a:bodyPr/>
          <a:lstStyle/>
          <a:p>
            <a:endParaRPr lang="LID4096" sz="1350"/>
          </a:p>
        </p:txBody>
      </p:sp>
      <p:sp>
        <p:nvSpPr>
          <p:cNvPr id="3" name="Text 1"/>
          <p:cNvSpPr/>
          <p:nvPr/>
        </p:nvSpPr>
        <p:spPr>
          <a:xfrm>
            <a:off x="411480" y="240030"/>
            <a:ext cx="6858000" cy="480060"/>
          </a:xfrm>
          <a:prstGeom prst="rect">
            <a:avLst/>
          </a:prstGeom>
          <a:noFill/>
          <a:ln/>
        </p:spPr>
        <p:txBody>
          <a:bodyPr wrap="square" lIns="0" tIns="0" rIns="0" bIns="0" rtlCol="0" anchor="ctr"/>
          <a:lstStyle/>
          <a:p>
            <a:r>
              <a:rPr lang="en-US" sz="2400" b="1" dirty="0">
                <a:solidFill>
                  <a:srgbClr val="00414D"/>
                </a:solidFill>
                <a:latin typeface="Georgia" pitchFamily="34" charset="0"/>
                <a:ea typeface="Georgia" pitchFamily="34" charset="-122"/>
                <a:cs typeface="Georgia" pitchFamily="34" charset="-120"/>
              </a:rPr>
              <a:t>Software Requirements</a:t>
            </a:r>
            <a:endParaRPr lang="en-US" sz="2400" dirty="0"/>
          </a:p>
        </p:txBody>
      </p:sp>
      <p:sp>
        <p:nvSpPr>
          <p:cNvPr id="4" name="Text 2"/>
          <p:cNvSpPr/>
          <p:nvPr/>
        </p:nvSpPr>
        <p:spPr>
          <a:xfrm>
            <a:off x="411480" y="720090"/>
            <a:ext cx="7543800" cy="308610"/>
          </a:xfrm>
          <a:prstGeom prst="rect">
            <a:avLst/>
          </a:prstGeom>
          <a:noFill/>
          <a:ln/>
        </p:spPr>
        <p:txBody>
          <a:bodyPr wrap="square" lIns="0" tIns="0" rIns="0" bIns="0" rtlCol="0" anchor="ctr"/>
          <a:lstStyle/>
          <a:p>
            <a:r>
              <a:rPr lang="en-US" sz="975" i="1" dirty="0">
                <a:solidFill>
                  <a:srgbClr val="23978E"/>
                </a:solidFill>
                <a:latin typeface="Calibri" pitchFamily="34" charset="0"/>
                <a:ea typeface="Calibri" pitchFamily="34" charset="-122"/>
                <a:cs typeface="Calibri" pitchFamily="34" charset="-120"/>
              </a:rPr>
              <a:t>Tools required by ESCAP and country focal points to run and review the OSTRAM model</a:t>
            </a:r>
            <a:endParaRPr lang="en-US" sz="975" dirty="0"/>
          </a:p>
        </p:txBody>
      </p:sp>
      <p:sp>
        <p:nvSpPr>
          <p:cNvPr id="5" name="Shape 3"/>
          <p:cNvSpPr/>
          <p:nvPr/>
        </p:nvSpPr>
        <p:spPr>
          <a:xfrm>
            <a:off x="411480" y="1062990"/>
            <a:ext cx="8298180" cy="0"/>
          </a:xfrm>
          <a:prstGeom prst="line">
            <a:avLst/>
          </a:prstGeom>
          <a:noFill/>
          <a:ln w="12700">
            <a:solidFill>
              <a:srgbClr val="C5D8D8"/>
            </a:solidFill>
            <a:prstDash val="solid"/>
          </a:ln>
        </p:spPr>
        <p:txBody>
          <a:bodyPr/>
          <a:lstStyle/>
          <a:p>
            <a:endParaRPr lang="LID4096" sz="1350"/>
          </a:p>
        </p:txBody>
      </p:sp>
      <p:sp>
        <p:nvSpPr>
          <p:cNvPr id="6" name="Shape 4"/>
          <p:cNvSpPr/>
          <p:nvPr/>
        </p:nvSpPr>
        <p:spPr>
          <a:xfrm>
            <a:off x="411480" y="1268730"/>
            <a:ext cx="3909060" cy="3154680"/>
          </a:xfrm>
          <a:prstGeom prst="rect">
            <a:avLst/>
          </a:prstGeom>
          <a:solidFill>
            <a:srgbClr val="FFFFFF"/>
          </a:solidFill>
          <a:ln/>
          <a:effectLst>
            <a:outerShdw blurRad="50800" dist="19050" dir="8100000" algn="bl" rotWithShape="0">
              <a:srgbClr val="000000">
                <a:alpha val="8000"/>
              </a:srgbClr>
            </a:outerShdw>
          </a:effectLst>
        </p:spPr>
        <p:txBody>
          <a:bodyPr/>
          <a:lstStyle/>
          <a:p>
            <a:endParaRPr lang="LID4096" sz="1350"/>
          </a:p>
        </p:txBody>
      </p:sp>
      <p:sp>
        <p:nvSpPr>
          <p:cNvPr id="7" name="Shape 5"/>
          <p:cNvSpPr/>
          <p:nvPr/>
        </p:nvSpPr>
        <p:spPr>
          <a:xfrm>
            <a:off x="4766310" y="1268730"/>
            <a:ext cx="3909060" cy="3154680"/>
          </a:xfrm>
          <a:prstGeom prst="rect">
            <a:avLst/>
          </a:prstGeom>
          <a:solidFill>
            <a:srgbClr val="FFFFFF"/>
          </a:solidFill>
          <a:ln/>
          <a:effectLst>
            <a:outerShdw blurRad="50800" dist="19050" dir="8100000" algn="bl" rotWithShape="0">
              <a:srgbClr val="000000">
                <a:alpha val="8000"/>
              </a:srgbClr>
            </a:outerShdw>
          </a:effectLst>
        </p:spPr>
        <p:txBody>
          <a:bodyPr/>
          <a:lstStyle/>
          <a:p>
            <a:endParaRPr lang="LID4096" sz="1350"/>
          </a:p>
        </p:txBody>
      </p:sp>
      <p:sp>
        <p:nvSpPr>
          <p:cNvPr id="8" name="Shape 6"/>
          <p:cNvSpPr/>
          <p:nvPr/>
        </p:nvSpPr>
        <p:spPr>
          <a:xfrm>
            <a:off x="411480" y="1268730"/>
            <a:ext cx="3909060" cy="48006"/>
          </a:xfrm>
          <a:prstGeom prst="rect">
            <a:avLst/>
          </a:prstGeom>
          <a:solidFill>
            <a:srgbClr val="00414D"/>
          </a:solidFill>
          <a:ln/>
        </p:spPr>
        <p:txBody>
          <a:bodyPr/>
          <a:lstStyle/>
          <a:p>
            <a:endParaRPr lang="LID4096" sz="1350"/>
          </a:p>
        </p:txBody>
      </p:sp>
      <p:sp>
        <p:nvSpPr>
          <p:cNvPr id="9" name="Shape 7"/>
          <p:cNvSpPr/>
          <p:nvPr/>
        </p:nvSpPr>
        <p:spPr>
          <a:xfrm>
            <a:off x="4766310" y="1268730"/>
            <a:ext cx="3909060" cy="48006"/>
          </a:xfrm>
          <a:prstGeom prst="rect">
            <a:avLst/>
          </a:prstGeom>
          <a:solidFill>
            <a:srgbClr val="23978E"/>
          </a:solidFill>
          <a:ln/>
        </p:spPr>
        <p:txBody>
          <a:bodyPr/>
          <a:lstStyle/>
          <a:p>
            <a:endParaRPr lang="LID4096" sz="1350"/>
          </a:p>
        </p:txBody>
      </p:sp>
      <p:sp>
        <p:nvSpPr>
          <p:cNvPr id="10" name="Text 8"/>
          <p:cNvSpPr/>
          <p:nvPr/>
        </p:nvSpPr>
        <p:spPr>
          <a:xfrm>
            <a:off x="651510" y="1474470"/>
            <a:ext cx="3497580" cy="274320"/>
          </a:xfrm>
          <a:prstGeom prst="rect">
            <a:avLst/>
          </a:prstGeom>
          <a:noFill/>
          <a:ln/>
        </p:spPr>
        <p:txBody>
          <a:bodyPr wrap="square" lIns="0" tIns="0" rIns="0" bIns="0" rtlCol="0" anchor="ctr"/>
          <a:lstStyle/>
          <a:p>
            <a:r>
              <a:rPr lang="en-US" sz="1350" b="1" dirty="0">
                <a:solidFill>
                  <a:srgbClr val="00414D"/>
                </a:solidFill>
                <a:latin typeface="Georgia" pitchFamily="34" charset="0"/>
                <a:ea typeface="Georgia" pitchFamily="34" charset="-122"/>
                <a:cs typeface="Georgia" pitchFamily="34" charset="-120"/>
              </a:rPr>
              <a:t>Optimization Solver</a:t>
            </a:r>
            <a:endParaRPr lang="en-US" sz="1350" dirty="0"/>
          </a:p>
        </p:txBody>
      </p:sp>
      <p:sp>
        <p:nvSpPr>
          <p:cNvPr id="11" name="Text 9"/>
          <p:cNvSpPr/>
          <p:nvPr/>
        </p:nvSpPr>
        <p:spPr>
          <a:xfrm>
            <a:off x="651510" y="1748790"/>
            <a:ext cx="3497580" cy="205740"/>
          </a:xfrm>
          <a:prstGeom prst="rect">
            <a:avLst/>
          </a:prstGeom>
          <a:noFill/>
          <a:ln/>
        </p:spPr>
        <p:txBody>
          <a:bodyPr wrap="square" lIns="0" tIns="0" rIns="0" bIns="0" rtlCol="0" anchor="ctr"/>
          <a:lstStyle/>
          <a:p>
            <a:r>
              <a:rPr lang="en-US" sz="825" i="1" dirty="0">
                <a:solidFill>
                  <a:srgbClr val="475569"/>
                </a:solidFill>
                <a:latin typeface="Calibri" pitchFamily="34" charset="0"/>
                <a:ea typeface="Calibri" pitchFamily="34" charset="-122"/>
                <a:cs typeface="Calibri" pitchFamily="34" charset="-120"/>
              </a:rPr>
              <a:t>CPLEX (recommended) or GLPK / CBC</a:t>
            </a:r>
            <a:endParaRPr lang="en-US" sz="825" dirty="0"/>
          </a:p>
        </p:txBody>
      </p:sp>
      <p:sp>
        <p:nvSpPr>
          <p:cNvPr id="12" name="Text 10"/>
          <p:cNvSpPr/>
          <p:nvPr/>
        </p:nvSpPr>
        <p:spPr>
          <a:xfrm>
            <a:off x="651510" y="2057400"/>
            <a:ext cx="3429000" cy="2331720"/>
          </a:xfrm>
          <a:prstGeom prst="rect">
            <a:avLst/>
          </a:prstGeom>
          <a:noFill/>
          <a:ln/>
        </p:spPr>
        <p:txBody>
          <a:bodyPr wrap="square" rtlCol="0" anchor="t"/>
          <a:lstStyle/>
          <a:p>
            <a:pPr>
              <a:lnSpc>
                <a:spcPct val="110000"/>
              </a:lnSpc>
              <a:spcAft>
                <a:spcPts val="300"/>
              </a:spcAft>
            </a:pPr>
            <a:r>
              <a:rPr lang="en-US" sz="900" b="1" dirty="0">
                <a:solidFill>
                  <a:srgbClr val="00414D"/>
                </a:solidFill>
                <a:latin typeface="Calibri" pitchFamily="34" charset="0"/>
                <a:ea typeface="Calibri" pitchFamily="34" charset="-122"/>
                <a:cs typeface="Calibri" pitchFamily="34" charset="-120"/>
              </a:rPr>
              <a:t>What it does</a:t>
            </a:r>
            <a:endParaRPr lang="en-US" sz="900" dirty="0"/>
          </a:p>
          <a:p>
            <a:pPr>
              <a:lnSpc>
                <a:spcPct val="110000"/>
              </a:lnSpc>
              <a:spcAft>
                <a:spcPts val="300"/>
              </a:spcAft>
            </a:pPr>
            <a:r>
              <a:rPr lang="en-US" sz="825" dirty="0">
                <a:solidFill>
                  <a:srgbClr val="475569"/>
                </a:solidFill>
                <a:latin typeface="Calibri" pitchFamily="34" charset="0"/>
                <a:ea typeface="Calibri" pitchFamily="34" charset="-122"/>
                <a:cs typeface="Calibri" pitchFamily="34" charset="-120"/>
              </a:rPr>
              <a:t>Solves the OSeMOSYS linear program — finds the least-cost generation and transmission expansion plan across all 10 nodes over 2023–2050.</a:t>
            </a:r>
            <a:endParaRPr lang="en-US" sz="900" dirty="0"/>
          </a:p>
          <a:p>
            <a:pPr>
              <a:lnSpc>
                <a:spcPct val="110000"/>
              </a:lnSpc>
              <a:spcAft>
                <a:spcPts val="300"/>
              </a:spcAft>
            </a:pPr>
            <a:endParaRPr lang="en-US" sz="900" dirty="0"/>
          </a:p>
          <a:p>
            <a:pPr>
              <a:lnSpc>
                <a:spcPct val="110000"/>
              </a:lnSpc>
              <a:spcAft>
                <a:spcPts val="300"/>
              </a:spcAft>
            </a:pPr>
            <a:r>
              <a:rPr lang="en-US" sz="900" b="1" dirty="0">
                <a:solidFill>
                  <a:srgbClr val="00414D"/>
                </a:solidFill>
                <a:latin typeface="Calibri" pitchFamily="34" charset="0"/>
                <a:ea typeface="Calibri" pitchFamily="34" charset="-122"/>
                <a:cs typeface="Calibri" pitchFamily="34" charset="-120"/>
              </a:rPr>
              <a:t>Why CPLEX?</a:t>
            </a:r>
            <a:endParaRPr lang="en-US" sz="900" dirty="0"/>
          </a:p>
          <a:p>
            <a:pPr>
              <a:lnSpc>
                <a:spcPct val="110000"/>
              </a:lnSpc>
              <a:spcAft>
                <a:spcPts val="300"/>
              </a:spcAft>
            </a:pPr>
            <a:r>
              <a:rPr lang="en-US" sz="825" dirty="0">
                <a:solidFill>
                  <a:srgbClr val="475569"/>
                </a:solidFill>
                <a:latin typeface="Calibri" pitchFamily="34" charset="0"/>
                <a:ea typeface="Calibri" pitchFamily="34" charset="-122"/>
                <a:cs typeface="Calibri" pitchFamily="34" charset="-120"/>
              </a:rPr>
              <a:t>GLPK/CBC are open-source alternatives but solve 5–20× slower on regional models of this size. CPLEX academic licenses are free.</a:t>
            </a:r>
            <a:endParaRPr lang="en-US" sz="900" dirty="0"/>
          </a:p>
          <a:p>
            <a:pPr>
              <a:lnSpc>
                <a:spcPct val="110000"/>
              </a:lnSpc>
              <a:spcAft>
                <a:spcPts val="300"/>
              </a:spcAft>
            </a:pPr>
            <a:endParaRPr lang="en-US" sz="900" dirty="0"/>
          </a:p>
          <a:p>
            <a:pPr>
              <a:lnSpc>
                <a:spcPct val="110000"/>
              </a:lnSpc>
              <a:spcAft>
                <a:spcPts val="300"/>
              </a:spcAft>
            </a:pPr>
            <a:r>
              <a:rPr lang="en-US" sz="900" b="1" dirty="0">
                <a:solidFill>
                  <a:srgbClr val="00414D"/>
                </a:solidFill>
                <a:latin typeface="Calibri" pitchFamily="34" charset="0"/>
                <a:ea typeface="Calibri" pitchFamily="34" charset="-122"/>
                <a:cs typeface="Calibri" pitchFamily="34" charset="-120"/>
              </a:rPr>
              <a:t>Who needs it?</a:t>
            </a:r>
            <a:endParaRPr lang="en-US" sz="900" dirty="0"/>
          </a:p>
          <a:p>
            <a:pPr>
              <a:lnSpc>
                <a:spcPct val="110000"/>
              </a:lnSpc>
              <a:spcAft>
                <a:spcPts val="300"/>
              </a:spcAft>
            </a:pPr>
            <a:r>
              <a:rPr lang="en-US" sz="825" dirty="0">
                <a:solidFill>
                  <a:srgbClr val="475569"/>
                </a:solidFill>
                <a:latin typeface="Calibri" pitchFamily="34" charset="0"/>
                <a:ea typeface="Calibri" pitchFamily="34" charset="-122"/>
                <a:cs typeface="Calibri" pitchFamily="34" charset="-120"/>
              </a:rPr>
              <a:t>Anyone running the model (CLG modelers, ESCAP staff during training sessions). Country focal points reviewing results do not need it.</a:t>
            </a:r>
            <a:endParaRPr lang="en-US" sz="900" dirty="0"/>
          </a:p>
          <a:p>
            <a:pPr>
              <a:lnSpc>
                <a:spcPct val="110000"/>
              </a:lnSpc>
              <a:spcAft>
                <a:spcPts val="300"/>
              </a:spcAft>
            </a:pPr>
            <a:endParaRPr lang="en-US" sz="900" dirty="0"/>
          </a:p>
          <a:p>
            <a:pPr>
              <a:lnSpc>
                <a:spcPct val="110000"/>
              </a:lnSpc>
              <a:spcAft>
                <a:spcPts val="300"/>
              </a:spcAft>
            </a:pPr>
            <a:r>
              <a:rPr lang="en-US" sz="900" b="1" dirty="0">
                <a:solidFill>
                  <a:srgbClr val="00414D"/>
                </a:solidFill>
                <a:latin typeface="Calibri" pitchFamily="34" charset="0"/>
                <a:ea typeface="Calibri" pitchFamily="34" charset="-122"/>
                <a:cs typeface="Calibri" pitchFamily="34" charset="-120"/>
              </a:rPr>
              <a:t>Action required</a:t>
            </a:r>
            <a:endParaRPr lang="en-US" sz="900" dirty="0"/>
          </a:p>
          <a:p>
            <a:pPr>
              <a:lnSpc>
                <a:spcPct val="110000"/>
              </a:lnSpc>
              <a:spcAft>
                <a:spcPts val="300"/>
              </a:spcAft>
            </a:pPr>
            <a:r>
              <a:rPr lang="en-US" sz="825" dirty="0">
                <a:solidFill>
                  <a:srgbClr val="475569"/>
                </a:solidFill>
                <a:latin typeface="Calibri" pitchFamily="34" charset="0"/>
                <a:ea typeface="Calibri" pitchFamily="34" charset="-122"/>
                <a:cs typeface="Calibri" pitchFamily="34" charset="-120"/>
              </a:rPr>
              <a:t>Request IBM CPLEX academic license or confirm existing ESCAP access. Alternatively, CBC can be used during training with a performance trade-off.</a:t>
            </a:r>
            <a:endParaRPr lang="en-US" sz="900" dirty="0"/>
          </a:p>
        </p:txBody>
      </p:sp>
      <p:sp>
        <p:nvSpPr>
          <p:cNvPr id="13" name="Text 11"/>
          <p:cNvSpPr/>
          <p:nvPr/>
        </p:nvSpPr>
        <p:spPr>
          <a:xfrm>
            <a:off x="5006340" y="1474470"/>
            <a:ext cx="3497580" cy="274320"/>
          </a:xfrm>
          <a:prstGeom prst="rect">
            <a:avLst/>
          </a:prstGeom>
          <a:noFill/>
          <a:ln/>
        </p:spPr>
        <p:txBody>
          <a:bodyPr wrap="square" lIns="0" tIns="0" rIns="0" bIns="0" rtlCol="0" anchor="ctr"/>
          <a:lstStyle/>
          <a:p>
            <a:r>
              <a:rPr lang="en-US" sz="1350" b="1" dirty="0">
                <a:solidFill>
                  <a:srgbClr val="00414D"/>
                </a:solidFill>
                <a:latin typeface="Georgia" pitchFamily="34" charset="0"/>
                <a:ea typeface="Georgia" pitchFamily="34" charset="-122"/>
                <a:cs typeface="Georgia" pitchFamily="34" charset="-120"/>
              </a:rPr>
              <a:t>Results Dashboard</a:t>
            </a:r>
            <a:endParaRPr lang="en-US" sz="1350" dirty="0"/>
          </a:p>
        </p:txBody>
      </p:sp>
      <p:sp>
        <p:nvSpPr>
          <p:cNvPr id="14" name="Text 12"/>
          <p:cNvSpPr/>
          <p:nvPr/>
        </p:nvSpPr>
        <p:spPr>
          <a:xfrm>
            <a:off x="5006340" y="1748790"/>
            <a:ext cx="3497580" cy="205740"/>
          </a:xfrm>
          <a:prstGeom prst="rect">
            <a:avLst/>
          </a:prstGeom>
          <a:noFill/>
          <a:ln/>
        </p:spPr>
        <p:txBody>
          <a:bodyPr wrap="square" lIns="0" tIns="0" rIns="0" bIns="0" rtlCol="0" anchor="ctr"/>
          <a:lstStyle/>
          <a:p>
            <a:r>
              <a:rPr lang="en-US" sz="825" i="1" dirty="0">
                <a:solidFill>
                  <a:srgbClr val="475569"/>
                </a:solidFill>
                <a:latin typeface="Calibri" pitchFamily="34" charset="0"/>
                <a:ea typeface="Calibri" pitchFamily="34" charset="-122"/>
                <a:cs typeface="Calibri" pitchFamily="34" charset="-120"/>
              </a:rPr>
              <a:t>Tableau Desktop or Tableau Public</a:t>
            </a:r>
            <a:endParaRPr lang="en-US" sz="825" dirty="0"/>
          </a:p>
        </p:txBody>
      </p:sp>
      <p:sp>
        <p:nvSpPr>
          <p:cNvPr id="15" name="Text 13"/>
          <p:cNvSpPr/>
          <p:nvPr/>
        </p:nvSpPr>
        <p:spPr>
          <a:xfrm>
            <a:off x="5006340" y="2057400"/>
            <a:ext cx="3429000" cy="2331720"/>
          </a:xfrm>
          <a:prstGeom prst="rect">
            <a:avLst/>
          </a:prstGeom>
          <a:noFill/>
          <a:ln/>
        </p:spPr>
        <p:txBody>
          <a:bodyPr wrap="square" rtlCol="0" anchor="t"/>
          <a:lstStyle/>
          <a:p>
            <a:pPr>
              <a:lnSpc>
                <a:spcPct val="110000"/>
              </a:lnSpc>
              <a:spcAft>
                <a:spcPts val="300"/>
              </a:spcAft>
            </a:pPr>
            <a:r>
              <a:rPr lang="en-US" sz="900" b="1" dirty="0">
                <a:solidFill>
                  <a:srgbClr val="00414D"/>
                </a:solidFill>
                <a:latin typeface="Calibri" pitchFamily="34" charset="0"/>
                <a:ea typeface="Calibri" pitchFamily="34" charset="-122"/>
                <a:cs typeface="Calibri" pitchFamily="34" charset="-120"/>
              </a:rPr>
              <a:t>What it does</a:t>
            </a:r>
            <a:endParaRPr lang="en-US" sz="900" dirty="0"/>
          </a:p>
          <a:p>
            <a:pPr>
              <a:lnSpc>
                <a:spcPct val="110000"/>
              </a:lnSpc>
              <a:spcAft>
                <a:spcPts val="300"/>
              </a:spcAft>
            </a:pPr>
            <a:r>
              <a:rPr lang="en-US" sz="825" dirty="0">
                <a:solidFill>
                  <a:srgbClr val="475569"/>
                </a:solidFill>
                <a:latin typeface="Calibri" pitchFamily="34" charset="0"/>
                <a:ea typeface="Calibri" pitchFamily="34" charset="-122"/>
                <a:cs typeface="Calibri" pitchFamily="34" charset="-120"/>
              </a:rPr>
              <a:t>Interactive visualization of model outputs — capacity mix, generation dispatch, investment profiles, emissions, and cross-border flows by scenario.</a:t>
            </a:r>
            <a:endParaRPr lang="en-US" sz="900" dirty="0"/>
          </a:p>
          <a:p>
            <a:pPr>
              <a:lnSpc>
                <a:spcPct val="110000"/>
              </a:lnSpc>
              <a:spcAft>
                <a:spcPts val="300"/>
              </a:spcAft>
            </a:pPr>
            <a:endParaRPr lang="en-US" sz="900" dirty="0"/>
          </a:p>
          <a:p>
            <a:pPr>
              <a:lnSpc>
                <a:spcPct val="110000"/>
              </a:lnSpc>
              <a:spcAft>
                <a:spcPts val="300"/>
              </a:spcAft>
            </a:pPr>
            <a:r>
              <a:rPr lang="en-US" sz="900" b="1" dirty="0">
                <a:solidFill>
                  <a:srgbClr val="00414D"/>
                </a:solidFill>
                <a:latin typeface="Calibri" pitchFamily="34" charset="0"/>
                <a:ea typeface="Calibri" pitchFamily="34" charset="-122"/>
                <a:cs typeface="Calibri" pitchFamily="34" charset="-120"/>
              </a:rPr>
              <a:t>Why Tableau?</a:t>
            </a:r>
            <a:endParaRPr lang="en-US" sz="900" dirty="0"/>
          </a:p>
          <a:p>
            <a:pPr>
              <a:lnSpc>
                <a:spcPct val="110000"/>
              </a:lnSpc>
              <a:spcAft>
                <a:spcPts val="300"/>
              </a:spcAft>
            </a:pPr>
            <a:r>
              <a:rPr lang="en-US" sz="825" dirty="0">
                <a:solidFill>
                  <a:srgbClr val="475569"/>
                </a:solidFill>
                <a:latin typeface="Calibri" pitchFamily="34" charset="0"/>
                <a:ea typeface="Calibri" pitchFamily="34" charset="-122"/>
                <a:cs typeface="Calibri" pitchFamily="34" charset="-120"/>
              </a:rPr>
              <a:t>The OSTRAM results dashboard is built as a Tableau workbook. Country focal points can filter by node, technology, and year without touching any code.</a:t>
            </a:r>
            <a:endParaRPr lang="en-US" sz="900" dirty="0"/>
          </a:p>
          <a:p>
            <a:pPr>
              <a:lnSpc>
                <a:spcPct val="110000"/>
              </a:lnSpc>
              <a:spcAft>
                <a:spcPts val="300"/>
              </a:spcAft>
            </a:pPr>
            <a:endParaRPr lang="en-US" sz="900" dirty="0"/>
          </a:p>
          <a:p>
            <a:pPr>
              <a:lnSpc>
                <a:spcPct val="110000"/>
              </a:lnSpc>
              <a:spcAft>
                <a:spcPts val="300"/>
              </a:spcAft>
            </a:pPr>
            <a:r>
              <a:rPr lang="en-US" sz="900" b="1" dirty="0">
                <a:solidFill>
                  <a:srgbClr val="00414D"/>
                </a:solidFill>
                <a:latin typeface="Calibri" pitchFamily="34" charset="0"/>
                <a:ea typeface="Calibri" pitchFamily="34" charset="-122"/>
                <a:cs typeface="Calibri" pitchFamily="34" charset="-120"/>
              </a:rPr>
              <a:t>Who needs it?</a:t>
            </a:r>
            <a:endParaRPr lang="en-US" sz="900" dirty="0"/>
          </a:p>
          <a:p>
            <a:pPr>
              <a:lnSpc>
                <a:spcPct val="110000"/>
              </a:lnSpc>
              <a:spcAft>
                <a:spcPts val="300"/>
              </a:spcAft>
            </a:pPr>
            <a:r>
              <a:rPr lang="en-US" sz="825" dirty="0">
                <a:solidFill>
                  <a:srgbClr val="475569"/>
                </a:solidFill>
                <a:latin typeface="Calibri" pitchFamily="34" charset="0"/>
                <a:ea typeface="Calibri" pitchFamily="34" charset="-122"/>
                <a:cs typeface="Calibri" pitchFamily="34" charset="-120"/>
              </a:rPr>
              <a:t>Everyone reviewing results — ESCAP staff, country focal points, and policy counterparts. Tableau Public (free) works for viewing; Desktop needed for editing.</a:t>
            </a:r>
            <a:endParaRPr lang="en-US" sz="900" dirty="0"/>
          </a:p>
          <a:p>
            <a:pPr>
              <a:lnSpc>
                <a:spcPct val="110000"/>
              </a:lnSpc>
              <a:spcAft>
                <a:spcPts val="300"/>
              </a:spcAft>
            </a:pPr>
            <a:endParaRPr lang="en-US" sz="900" dirty="0"/>
          </a:p>
          <a:p>
            <a:pPr>
              <a:lnSpc>
                <a:spcPct val="110000"/>
              </a:lnSpc>
              <a:spcAft>
                <a:spcPts val="300"/>
              </a:spcAft>
            </a:pPr>
            <a:r>
              <a:rPr lang="en-US" sz="900" b="1" dirty="0">
                <a:solidFill>
                  <a:srgbClr val="00414D"/>
                </a:solidFill>
                <a:latin typeface="Calibri" pitchFamily="34" charset="0"/>
                <a:ea typeface="Calibri" pitchFamily="34" charset="-122"/>
                <a:cs typeface="Calibri" pitchFamily="34" charset="-120"/>
              </a:rPr>
              <a:t>Action required</a:t>
            </a:r>
            <a:endParaRPr lang="en-US" sz="900" dirty="0"/>
          </a:p>
          <a:p>
            <a:pPr>
              <a:lnSpc>
                <a:spcPct val="110000"/>
              </a:lnSpc>
              <a:spcAft>
                <a:spcPts val="300"/>
              </a:spcAft>
            </a:pPr>
            <a:r>
              <a:rPr lang="en-US" sz="825" dirty="0">
                <a:solidFill>
                  <a:srgbClr val="475569"/>
                </a:solidFill>
                <a:latin typeface="Calibri" pitchFamily="34" charset="0"/>
                <a:ea typeface="Calibri" pitchFamily="34" charset="-122"/>
                <a:cs typeface="Calibri" pitchFamily="34" charset="-120"/>
              </a:rPr>
              <a:t>Confirm Tableau Desktop license availability at ESCAP. If unavailable, Tableau Public or a static export (PDF/PNG) can serve as a fallback.</a:t>
            </a:r>
            <a:endParaRPr lang="en-US" sz="900" dirty="0"/>
          </a:p>
        </p:txBody>
      </p:sp>
      <p:sp>
        <p:nvSpPr>
          <p:cNvPr id="16" name="Shape 14"/>
          <p:cNvSpPr/>
          <p:nvPr/>
        </p:nvSpPr>
        <p:spPr>
          <a:xfrm>
            <a:off x="0" y="4800600"/>
            <a:ext cx="9121140" cy="342900"/>
          </a:xfrm>
          <a:prstGeom prst="rect">
            <a:avLst/>
          </a:prstGeom>
          <a:solidFill>
            <a:srgbClr val="00414D"/>
          </a:solidFill>
          <a:ln/>
        </p:spPr>
        <p:txBody>
          <a:bodyPr/>
          <a:lstStyle/>
          <a:p>
            <a:endParaRPr lang="LID4096" sz="1350"/>
          </a:p>
        </p:txBody>
      </p:sp>
      <p:sp>
        <p:nvSpPr>
          <p:cNvPr id="17" name="Text 15"/>
          <p:cNvSpPr/>
          <p:nvPr/>
        </p:nvSpPr>
        <p:spPr>
          <a:xfrm>
            <a:off x="411480" y="4834890"/>
            <a:ext cx="8229600" cy="274320"/>
          </a:xfrm>
          <a:prstGeom prst="rect">
            <a:avLst/>
          </a:prstGeom>
          <a:noFill/>
          <a:ln/>
        </p:spPr>
        <p:txBody>
          <a:bodyPr wrap="square" lIns="0" tIns="0" rIns="0" bIns="0" rtlCol="0" anchor="ctr"/>
          <a:lstStyle/>
          <a:p>
            <a:r>
              <a:rPr lang="en-US" sz="675" dirty="0">
                <a:solidFill>
                  <a:srgbClr val="D0EDEB"/>
                </a:solidFill>
                <a:latin typeface="Calibri" pitchFamily="34" charset="0"/>
                <a:ea typeface="Calibri" pitchFamily="34" charset="-122"/>
                <a:cs typeface="Calibri" pitchFamily="34" charset="-120"/>
              </a:rPr>
              <a:t>OSTRAM — Data Package v1.0  |  UN ESCAP Energy Division  |  March 2026</a:t>
            </a:r>
            <a:endParaRPr lang="en-US" sz="675"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28">
    <p:bg>
      <p:bgPr>
        <a:solidFill>
          <a:srgbClr val="F0F5F5"/>
        </a:solidFill>
        <a:effectLst/>
      </p:bgPr>
    </p:bg>
    <p:spTree>
      <p:nvGrpSpPr>
        <p:cNvPr id="1" name=""/>
        <p:cNvGrpSpPr/>
        <p:nvPr/>
      </p:nvGrpSpPr>
      <p:grpSpPr>
        <a:xfrm>
          <a:off x="0" y="0"/>
          <a:ext cx="0" cy="0"/>
          <a:chOff x="0" y="0"/>
          <a:chExt cx="0" cy="0"/>
        </a:xfrm>
      </p:grpSpPr>
      <p:sp>
        <p:nvSpPr>
          <p:cNvPr id="2" name="Text 0"/>
          <p:cNvSpPr/>
          <p:nvPr/>
        </p:nvSpPr>
        <p:spPr>
          <a:xfrm>
            <a:off x="457200" y="274320"/>
            <a:ext cx="7315200" cy="457200"/>
          </a:xfrm>
          <a:prstGeom prst="rect">
            <a:avLst/>
          </a:prstGeom>
          <a:noFill/>
          <a:ln/>
        </p:spPr>
        <p:txBody>
          <a:bodyPr wrap="square" lIns="0" tIns="0" rIns="0" bIns="0" rtlCol="0" anchor="ctr"/>
          <a:lstStyle/>
          <a:p>
            <a:pPr marL="0" indent="0">
              <a:buNone/>
            </a:pPr>
            <a:r>
              <a:rPr lang="en-US" sz="2400" b="1" dirty="0">
                <a:solidFill>
                  <a:srgbClr val="00414D"/>
                </a:solidFill>
                <a:latin typeface="Georgia" pitchFamily="34" charset="0"/>
                <a:ea typeface="Georgia" pitchFamily="34" charset="-122"/>
                <a:cs typeface="Georgia" pitchFamily="34" charset="-120"/>
              </a:rPr>
              <a:t>Next Steps &amp; Timeline</a:t>
            </a:r>
            <a:endParaRPr lang="en-US" sz="240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457200" y="868680"/>
          <a:ext cx="8229600" cy="2125980"/>
        </p:xfrm>
        <a:graphic>
          <a:graphicData uri="http://schemas.openxmlformats.org/drawingml/2006/table">
            <a:tbl>
              <a:tblPr/>
              <a:tblGrid>
                <a:gridCol w="1097280">
                  <a:extLst>
                    <a:ext uri="{9D8B030D-6E8A-4147-A177-3AD203B41FA5}">
                      <a16:colId xmlns:a16="http://schemas.microsoft.com/office/drawing/2014/main" val="20000"/>
                    </a:ext>
                  </a:extLst>
                </a:gridCol>
                <a:gridCol w="2011680">
                  <a:extLst>
                    <a:ext uri="{9D8B030D-6E8A-4147-A177-3AD203B41FA5}">
                      <a16:colId xmlns:a16="http://schemas.microsoft.com/office/drawing/2014/main" val="20001"/>
                    </a:ext>
                  </a:extLst>
                </a:gridCol>
                <a:gridCol w="548640">
                  <a:extLst>
                    <a:ext uri="{9D8B030D-6E8A-4147-A177-3AD203B41FA5}">
                      <a16:colId xmlns:a16="http://schemas.microsoft.com/office/drawing/2014/main" val="20002"/>
                    </a:ext>
                  </a:extLst>
                </a:gridCol>
                <a:gridCol w="4572000">
                  <a:extLst>
                    <a:ext uri="{9D8B030D-6E8A-4147-A177-3AD203B41FA5}">
                      <a16:colId xmlns:a16="http://schemas.microsoft.com/office/drawing/2014/main" val="20003"/>
                    </a:ext>
                  </a:extLst>
                </a:gridCol>
              </a:tblGrid>
              <a:tr h="0">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Date</a:t>
                      </a:r>
                      <a:endParaRPr lang="en-US" sz="950" dirty="0">
                        <a:latin typeface="Calibri" charset="0"/>
                        <a:ea typeface="Calibri" charset="0"/>
                        <a:cs typeface="Calibri" charset="0"/>
                      </a:endParaRPr>
                    </a:p>
                  </a:txBody>
                  <a:tcPr anchor="ctr">
                    <a:lnL w="6350" cap="flat" cmpd="sng" algn="ctr">
                      <a:solidFill>
                        <a:srgbClr val="C5D8D8"/>
                      </a:solidFill>
                      <a:prstDash val="solid"/>
                      <a:round/>
                      <a:headEnd type="none" w="med" len="med"/>
                      <a:tailEnd type="none" w="med" len="med"/>
                    </a:lnL>
                    <a:lnR w="6350" cap="flat" cmpd="sng" algn="ctr">
                      <a:solidFill>
                        <a:srgbClr val="C5D8D8"/>
                      </a:solidFill>
                      <a:prstDash val="solid"/>
                      <a:round/>
                      <a:headEnd type="none" w="med" len="med"/>
                      <a:tailEnd type="none" w="med" len="med"/>
                    </a:lnR>
                    <a:lnT w="6350" cap="flat" cmpd="sng" algn="ctr">
                      <a:solidFill>
                        <a:srgbClr val="C5D8D8"/>
                      </a:solidFill>
                      <a:prstDash val="solid"/>
                      <a:round/>
                      <a:headEnd type="none" w="med" len="med"/>
                      <a:tailEnd type="none" w="med" len="med"/>
                    </a:lnT>
                    <a:lnB w="6350" cap="flat" cmpd="sng" algn="ctr">
                      <a:solidFill>
                        <a:srgbClr val="C5D8D8"/>
                      </a:solidFill>
                      <a:prstDash val="solid"/>
                      <a:round/>
                      <a:headEnd type="none" w="med" len="med"/>
                      <a:tailEnd type="none" w="med" len="med"/>
                    </a:lnB>
                    <a:solidFill>
                      <a:srgbClr val="0A595F"/>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Milestone</a:t>
                      </a:r>
                      <a:endParaRPr lang="en-US" sz="950" dirty="0">
                        <a:latin typeface="Calibri" charset="0"/>
                        <a:ea typeface="Calibri" charset="0"/>
                        <a:cs typeface="Calibri" charset="0"/>
                      </a:endParaRPr>
                    </a:p>
                  </a:txBody>
                  <a:tcPr anchor="ctr">
                    <a:lnL w="6350" cap="flat" cmpd="sng" algn="ctr">
                      <a:solidFill>
                        <a:srgbClr val="C5D8D8"/>
                      </a:solidFill>
                      <a:prstDash val="solid"/>
                      <a:round/>
                      <a:headEnd type="none" w="med" len="med"/>
                      <a:tailEnd type="none" w="med" len="med"/>
                    </a:lnL>
                    <a:lnR w="6350" cap="flat" cmpd="sng" algn="ctr">
                      <a:solidFill>
                        <a:srgbClr val="C5D8D8"/>
                      </a:solidFill>
                      <a:prstDash val="solid"/>
                      <a:round/>
                      <a:headEnd type="none" w="med" len="med"/>
                      <a:tailEnd type="none" w="med" len="med"/>
                    </a:lnR>
                    <a:lnT w="6350" cap="flat" cmpd="sng" algn="ctr">
                      <a:solidFill>
                        <a:srgbClr val="C5D8D8"/>
                      </a:solidFill>
                      <a:prstDash val="solid"/>
                      <a:round/>
                      <a:headEnd type="none" w="med" len="med"/>
                      <a:tailEnd type="none" w="med" len="med"/>
                    </a:lnT>
                    <a:lnB w="6350" cap="flat" cmpd="sng" algn="ctr">
                      <a:solidFill>
                        <a:srgbClr val="C5D8D8"/>
                      </a:solidFill>
                      <a:prstDash val="solid"/>
                      <a:round/>
                      <a:headEnd type="none" w="med" len="med"/>
                      <a:tailEnd type="none" w="med" len="med"/>
                    </a:lnB>
                    <a:solidFill>
                      <a:srgbClr val="0A595F"/>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Comp.</a:t>
                      </a:r>
                      <a:endParaRPr lang="en-US" sz="950" dirty="0">
                        <a:latin typeface="Calibri" charset="0"/>
                        <a:ea typeface="Calibri" charset="0"/>
                        <a:cs typeface="Calibri" charset="0"/>
                      </a:endParaRPr>
                    </a:p>
                  </a:txBody>
                  <a:tcPr anchor="ctr">
                    <a:lnL w="6350" cap="flat" cmpd="sng" algn="ctr">
                      <a:solidFill>
                        <a:srgbClr val="C5D8D8"/>
                      </a:solidFill>
                      <a:prstDash val="solid"/>
                      <a:round/>
                      <a:headEnd type="none" w="med" len="med"/>
                      <a:tailEnd type="none" w="med" len="med"/>
                    </a:lnL>
                    <a:lnR w="6350" cap="flat" cmpd="sng" algn="ctr">
                      <a:solidFill>
                        <a:srgbClr val="C5D8D8"/>
                      </a:solidFill>
                      <a:prstDash val="solid"/>
                      <a:round/>
                      <a:headEnd type="none" w="med" len="med"/>
                      <a:tailEnd type="none" w="med" len="med"/>
                    </a:lnR>
                    <a:lnT w="6350" cap="flat" cmpd="sng" algn="ctr">
                      <a:solidFill>
                        <a:srgbClr val="C5D8D8"/>
                      </a:solidFill>
                      <a:prstDash val="solid"/>
                      <a:round/>
                      <a:headEnd type="none" w="med" len="med"/>
                      <a:tailEnd type="none" w="med" len="med"/>
                    </a:lnT>
                    <a:lnB w="6350" cap="flat" cmpd="sng" algn="ctr">
                      <a:solidFill>
                        <a:srgbClr val="C5D8D8"/>
                      </a:solidFill>
                      <a:prstDash val="solid"/>
                      <a:round/>
                      <a:headEnd type="none" w="med" len="med"/>
                      <a:tailEnd type="none" w="med" len="med"/>
                    </a:lnB>
                    <a:solidFill>
                      <a:srgbClr val="0A595F"/>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Note</a:t>
                      </a:r>
                      <a:endParaRPr lang="en-US" sz="950" dirty="0">
                        <a:latin typeface="Calibri" charset="0"/>
                        <a:ea typeface="Calibri" charset="0"/>
                        <a:cs typeface="Calibri" charset="0"/>
                      </a:endParaRPr>
                    </a:p>
                  </a:txBody>
                  <a:tcPr anchor="ctr">
                    <a:lnL w="6350" cap="flat" cmpd="sng" algn="ctr">
                      <a:solidFill>
                        <a:srgbClr val="C5D8D8"/>
                      </a:solidFill>
                      <a:prstDash val="solid"/>
                      <a:round/>
                      <a:headEnd type="none" w="med" len="med"/>
                      <a:tailEnd type="none" w="med" len="med"/>
                    </a:lnL>
                    <a:lnR w="6350" cap="flat" cmpd="sng" algn="ctr">
                      <a:solidFill>
                        <a:srgbClr val="C5D8D8"/>
                      </a:solidFill>
                      <a:prstDash val="solid"/>
                      <a:round/>
                      <a:headEnd type="none" w="med" len="med"/>
                      <a:tailEnd type="none" w="med" len="med"/>
                    </a:lnR>
                    <a:lnT w="6350" cap="flat" cmpd="sng" algn="ctr">
                      <a:solidFill>
                        <a:srgbClr val="C5D8D8"/>
                      </a:solidFill>
                      <a:prstDash val="solid"/>
                      <a:round/>
                      <a:headEnd type="none" w="med" len="med"/>
                      <a:tailEnd type="none" w="med" len="med"/>
                    </a:lnT>
                    <a:lnB w="6350" cap="flat" cmpd="sng" algn="ctr">
                      <a:solidFill>
                        <a:srgbClr val="C5D8D8"/>
                      </a:solidFill>
                      <a:prstDash val="solid"/>
                      <a:round/>
                      <a:headEnd type="none" w="med" len="med"/>
                      <a:tailEnd type="none" w="med" len="med"/>
                    </a:lnB>
                    <a:solidFill>
                      <a:srgbClr val="0A595F"/>
                    </a:solidFill>
                  </a:tcPr>
                </a:tc>
                <a:extLst>
                  <a:ext uri="{0D108BD9-81ED-4DB2-BD59-A6C34878D82A}">
                    <a16:rowId xmlns:a16="http://schemas.microsoft.com/office/drawing/2014/main" val="10000"/>
                  </a:ext>
                </a:extLst>
              </a:tr>
              <a:tr h="0">
                <a:tc>
                  <a:txBody>
                    <a:bodyPr/>
                    <a:lstStyle/>
                    <a:p>
                      <a:pPr marL="0" indent="0">
                        <a:buNone/>
                      </a:pPr>
                      <a:r>
                        <a:rPr lang="en-US" sz="900" b="1" dirty="0">
                          <a:solidFill>
                            <a:srgbClr val="23978E"/>
                          </a:solidFill>
                          <a:latin typeface="Calibri" pitchFamily="34" charset="0"/>
                          <a:ea typeface="Calibri" pitchFamily="34" charset="-122"/>
                          <a:cs typeface="Calibri" pitchFamily="34" charset="-120"/>
                        </a:rPr>
                        <a:t>15 Mar 2026</a:t>
                      </a:r>
                      <a:endParaRPr lang="en-US" sz="900" dirty="0">
                        <a:latin typeface="Calibri" charset="0"/>
                        <a:ea typeface="Calibri" charset="0"/>
                        <a:cs typeface="Calibri" charset="0"/>
                      </a:endParaRPr>
                    </a:p>
                  </a:txBody>
                  <a:tcPr anchor="ctr">
                    <a:lnL w="6350" cap="flat" cmpd="sng" algn="ctr">
                      <a:solidFill>
                        <a:srgbClr val="C5D8D8"/>
                      </a:solidFill>
                      <a:prstDash val="solid"/>
                      <a:round/>
                      <a:headEnd type="none" w="med" len="med"/>
                      <a:tailEnd type="none" w="med" len="med"/>
                    </a:lnL>
                    <a:lnR w="6350" cap="flat" cmpd="sng" algn="ctr">
                      <a:solidFill>
                        <a:srgbClr val="C5D8D8"/>
                      </a:solidFill>
                      <a:prstDash val="solid"/>
                      <a:round/>
                      <a:headEnd type="none" w="med" len="med"/>
                      <a:tailEnd type="none" w="med" len="med"/>
                    </a:lnR>
                    <a:lnT w="6350" cap="flat" cmpd="sng" algn="ctr">
                      <a:solidFill>
                        <a:srgbClr val="C5D8D8"/>
                      </a:solidFill>
                      <a:prstDash val="solid"/>
                      <a:round/>
                      <a:headEnd type="none" w="med" len="med"/>
                      <a:tailEnd type="none" w="med" len="med"/>
                    </a:lnT>
                    <a:lnB w="6350" cap="flat" cmpd="sng" algn="ctr">
                      <a:solidFill>
                        <a:srgbClr val="C5D8D8"/>
                      </a:solidFill>
                      <a:prstDash val="solid"/>
                      <a:round/>
                      <a:headEnd type="none" w="med" len="med"/>
                      <a:tailEnd type="none" w="med" len="med"/>
                    </a:lnB>
                  </a:tcPr>
                </a:tc>
                <a:tc>
                  <a:txBody>
                    <a:bodyPr/>
                    <a:lstStyle/>
                    <a:p>
                      <a:pPr marL="0" indent="0">
                        <a:buNone/>
                      </a:pPr>
                      <a:r>
                        <a:rPr lang="en-US" sz="950" b="1" dirty="0">
                          <a:solidFill>
                            <a:srgbClr val="00414D"/>
                          </a:solidFill>
                          <a:latin typeface="Calibri" pitchFamily="34" charset="0"/>
                          <a:ea typeface="Calibri" pitchFamily="34" charset="-122"/>
                          <a:cs typeface="Calibri" pitchFamily="34" charset="-120"/>
                        </a:rPr>
                        <a:t>Data Package v1.0 Freeze</a:t>
                      </a:r>
                      <a:endParaRPr lang="en-US" sz="950" dirty="0">
                        <a:latin typeface="Calibri" charset="0"/>
                        <a:ea typeface="Calibri" charset="0"/>
                        <a:cs typeface="Calibri" charset="0"/>
                      </a:endParaRPr>
                    </a:p>
                  </a:txBody>
                  <a:tcPr anchor="ctr">
                    <a:lnL w="6350" cap="flat" cmpd="sng" algn="ctr">
                      <a:solidFill>
                        <a:srgbClr val="C5D8D8"/>
                      </a:solidFill>
                      <a:prstDash val="solid"/>
                      <a:round/>
                      <a:headEnd type="none" w="med" len="med"/>
                      <a:tailEnd type="none" w="med" len="med"/>
                    </a:lnL>
                    <a:lnR w="6350" cap="flat" cmpd="sng" algn="ctr">
                      <a:solidFill>
                        <a:srgbClr val="C5D8D8"/>
                      </a:solidFill>
                      <a:prstDash val="solid"/>
                      <a:round/>
                      <a:headEnd type="none" w="med" len="med"/>
                      <a:tailEnd type="none" w="med" len="med"/>
                    </a:lnR>
                    <a:lnT w="6350" cap="flat" cmpd="sng" algn="ctr">
                      <a:solidFill>
                        <a:srgbClr val="C5D8D8"/>
                      </a:solidFill>
                      <a:prstDash val="solid"/>
                      <a:round/>
                      <a:headEnd type="none" w="med" len="med"/>
                      <a:tailEnd type="none" w="med" len="med"/>
                    </a:lnT>
                    <a:lnB w="6350" cap="flat" cmpd="sng" algn="ctr">
                      <a:solidFill>
                        <a:srgbClr val="C5D8D8"/>
                      </a:solidFill>
                      <a:prstDash val="solid"/>
                      <a:round/>
                      <a:headEnd type="none" w="med" len="med"/>
                      <a:tailEnd type="none" w="med" len="med"/>
                    </a:lnB>
                  </a:tcPr>
                </a:tc>
                <a:tc>
                  <a:txBody>
                    <a:bodyPr/>
                    <a:lstStyle/>
                    <a:p>
                      <a:pPr marL="0" indent="0" algn="ctr">
                        <a:buNone/>
                      </a:pPr>
                      <a:r>
                        <a:rPr lang="en-US" sz="900" b="1" dirty="0">
                          <a:solidFill>
                            <a:srgbClr val="0A595F"/>
                          </a:solidFill>
                          <a:latin typeface="Calibri" pitchFamily="34" charset="0"/>
                          <a:ea typeface="Calibri" pitchFamily="34" charset="-122"/>
                          <a:cs typeface="Calibri" pitchFamily="34" charset="-120"/>
                        </a:rPr>
                        <a:t>A</a:t>
                      </a:r>
                      <a:endParaRPr lang="en-US" sz="900" dirty="0">
                        <a:latin typeface="Calibri" charset="0"/>
                        <a:ea typeface="Calibri" charset="0"/>
                        <a:cs typeface="Calibri" charset="0"/>
                      </a:endParaRPr>
                    </a:p>
                  </a:txBody>
                  <a:tcPr anchor="ctr">
                    <a:lnL w="6350" cap="flat" cmpd="sng" algn="ctr">
                      <a:solidFill>
                        <a:srgbClr val="C5D8D8"/>
                      </a:solidFill>
                      <a:prstDash val="solid"/>
                      <a:round/>
                      <a:headEnd type="none" w="med" len="med"/>
                      <a:tailEnd type="none" w="med" len="med"/>
                    </a:lnL>
                    <a:lnR w="6350" cap="flat" cmpd="sng" algn="ctr">
                      <a:solidFill>
                        <a:srgbClr val="C5D8D8"/>
                      </a:solidFill>
                      <a:prstDash val="solid"/>
                      <a:round/>
                      <a:headEnd type="none" w="med" len="med"/>
                      <a:tailEnd type="none" w="med" len="med"/>
                    </a:lnR>
                    <a:lnT w="6350" cap="flat" cmpd="sng" algn="ctr">
                      <a:solidFill>
                        <a:srgbClr val="C5D8D8"/>
                      </a:solidFill>
                      <a:prstDash val="solid"/>
                      <a:round/>
                      <a:headEnd type="none" w="med" len="med"/>
                      <a:tailEnd type="none" w="med" len="med"/>
                    </a:lnT>
                    <a:lnB w="6350" cap="flat" cmpd="sng" algn="ctr">
                      <a:solidFill>
                        <a:srgbClr val="C5D8D8"/>
                      </a:solidFill>
                      <a:prstDash val="solid"/>
                      <a:round/>
                      <a:headEnd type="none" w="med" len="med"/>
                      <a:tailEnd type="none" w="med" len="med"/>
                    </a:lnB>
                  </a:tcPr>
                </a:tc>
                <a:tc>
                  <a:txBody>
                    <a:bodyPr/>
                    <a:lstStyle/>
                    <a:p>
                      <a:pPr marL="0" indent="0">
                        <a:buNone/>
                      </a:pPr>
                      <a:r>
                        <a:rPr lang="en-US" sz="850" dirty="0">
                          <a:solidFill>
                            <a:srgbClr val="64748B"/>
                          </a:solidFill>
                          <a:latin typeface="Calibri" pitchFamily="34" charset="0"/>
                          <a:ea typeface="Calibri" pitchFamily="34" charset="-122"/>
                          <a:cs typeface="Calibri" pitchFamily="34" charset="-120"/>
                        </a:rPr>
                        <a:t>This delivery — documented gaps to improve in future iterations</a:t>
                      </a:r>
                      <a:endParaRPr lang="en-US" sz="850" dirty="0">
                        <a:latin typeface="Calibri" charset="0"/>
                        <a:ea typeface="Calibri" charset="0"/>
                        <a:cs typeface="Calibri" charset="0"/>
                      </a:endParaRPr>
                    </a:p>
                  </a:txBody>
                  <a:tcPr anchor="ctr">
                    <a:lnL w="6350" cap="flat" cmpd="sng" algn="ctr">
                      <a:solidFill>
                        <a:srgbClr val="C5D8D8"/>
                      </a:solidFill>
                      <a:prstDash val="solid"/>
                      <a:round/>
                      <a:headEnd type="none" w="med" len="med"/>
                      <a:tailEnd type="none" w="med" len="med"/>
                    </a:lnL>
                    <a:lnR w="6350" cap="flat" cmpd="sng" algn="ctr">
                      <a:solidFill>
                        <a:srgbClr val="C5D8D8"/>
                      </a:solidFill>
                      <a:prstDash val="solid"/>
                      <a:round/>
                      <a:headEnd type="none" w="med" len="med"/>
                      <a:tailEnd type="none" w="med" len="med"/>
                    </a:lnR>
                    <a:lnT w="6350" cap="flat" cmpd="sng" algn="ctr">
                      <a:solidFill>
                        <a:srgbClr val="C5D8D8"/>
                      </a:solidFill>
                      <a:prstDash val="solid"/>
                      <a:round/>
                      <a:headEnd type="none" w="med" len="med"/>
                      <a:tailEnd type="none" w="med" len="med"/>
                    </a:lnT>
                    <a:lnB w="6350" cap="flat" cmpd="sng" algn="ctr">
                      <a:solidFill>
                        <a:srgbClr val="C5D8D8"/>
                      </a:solidFill>
                      <a:prstDash val="solid"/>
                      <a:round/>
                      <a:headEnd type="none" w="med" len="med"/>
                      <a:tailEnd type="none" w="med" len="med"/>
                    </a:lnB>
                  </a:tcPr>
                </a:tc>
                <a:extLst>
                  <a:ext uri="{0D108BD9-81ED-4DB2-BD59-A6C34878D82A}">
                    <a16:rowId xmlns:a16="http://schemas.microsoft.com/office/drawing/2014/main" val="10001"/>
                  </a:ext>
                </a:extLst>
              </a:tr>
              <a:tr h="0">
                <a:tc>
                  <a:txBody>
                    <a:bodyPr/>
                    <a:lstStyle/>
                    <a:p>
                      <a:pPr marL="0" indent="0">
                        <a:buNone/>
                      </a:pPr>
                      <a:r>
                        <a:rPr lang="en-US" sz="900" dirty="0">
                          <a:solidFill>
                            <a:srgbClr val="334155"/>
                          </a:solidFill>
                          <a:latin typeface="Calibri" pitchFamily="34" charset="0"/>
                          <a:ea typeface="Calibri" pitchFamily="34" charset="-122"/>
                          <a:cs typeface="Calibri" pitchFamily="34" charset="-120"/>
                        </a:rPr>
                        <a:t>Mid-Apr 2026</a:t>
                      </a:r>
                      <a:endParaRPr lang="en-US" sz="900" dirty="0">
                        <a:latin typeface="Calibri" charset="0"/>
                        <a:ea typeface="Calibri" charset="0"/>
                        <a:cs typeface="Calibri" charset="0"/>
                      </a:endParaRPr>
                    </a:p>
                  </a:txBody>
                  <a:tcPr anchor="ctr">
                    <a:lnL w="6350" cap="flat" cmpd="sng" algn="ctr">
                      <a:solidFill>
                        <a:srgbClr val="C5D8D8"/>
                      </a:solidFill>
                      <a:prstDash val="solid"/>
                      <a:round/>
                      <a:headEnd type="none" w="med" len="med"/>
                      <a:tailEnd type="none" w="med" len="med"/>
                    </a:lnL>
                    <a:lnR w="6350" cap="flat" cmpd="sng" algn="ctr">
                      <a:solidFill>
                        <a:srgbClr val="C5D8D8"/>
                      </a:solidFill>
                      <a:prstDash val="solid"/>
                      <a:round/>
                      <a:headEnd type="none" w="med" len="med"/>
                      <a:tailEnd type="none" w="med" len="med"/>
                    </a:lnR>
                    <a:lnT w="6350" cap="flat" cmpd="sng" algn="ctr">
                      <a:solidFill>
                        <a:srgbClr val="C5D8D8"/>
                      </a:solidFill>
                      <a:prstDash val="solid"/>
                      <a:round/>
                      <a:headEnd type="none" w="med" len="med"/>
                      <a:tailEnd type="none" w="med" len="med"/>
                    </a:lnT>
                    <a:lnB w="6350" cap="flat" cmpd="sng" algn="ctr">
                      <a:solidFill>
                        <a:srgbClr val="C5D8D8"/>
                      </a:solidFill>
                      <a:prstDash val="solid"/>
                      <a:round/>
                      <a:headEnd type="none" w="med" len="med"/>
                      <a:tailEnd type="none" w="med" len="med"/>
                    </a:lnB>
                  </a:tcPr>
                </a:tc>
                <a:tc>
                  <a:txBody>
                    <a:bodyPr/>
                    <a:lstStyle/>
                    <a:p>
                      <a:pPr marL="0" indent="0">
                        <a:buNone/>
                      </a:pPr>
                      <a:r>
                        <a:rPr lang="en-US" sz="950" b="1" dirty="0">
                          <a:solidFill>
                            <a:srgbClr val="00414D"/>
                          </a:solidFill>
                          <a:latin typeface="Calibri" pitchFamily="34" charset="0"/>
                          <a:ea typeface="Calibri" pitchFamily="34" charset="-122"/>
                          <a:cs typeface="Calibri" pitchFamily="34" charset="-120"/>
                        </a:rPr>
                        <a:t>Training Session 1</a:t>
                      </a:r>
                      <a:endParaRPr lang="en-US" sz="950" dirty="0">
                        <a:latin typeface="Calibri" charset="0"/>
                        <a:ea typeface="Calibri" charset="0"/>
                        <a:cs typeface="Calibri" charset="0"/>
                      </a:endParaRPr>
                    </a:p>
                  </a:txBody>
                  <a:tcPr anchor="ctr">
                    <a:lnL w="6350" cap="flat" cmpd="sng" algn="ctr">
                      <a:solidFill>
                        <a:srgbClr val="C5D8D8"/>
                      </a:solidFill>
                      <a:prstDash val="solid"/>
                      <a:round/>
                      <a:headEnd type="none" w="med" len="med"/>
                      <a:tailEnd type="none" w="med" len="med"/>
                    </a:lnL>
                    <a:lnR w="6350" cap="flat" cmpd="sng" algn="ctr">
                      <a:solidFill>
                        <a:srgbClr val="C5D8D8"/>
                      </a:solidFill>
                      <a:prstDash val="solid"/>
                      <a:round/>
                      <a:headEnd type="none" w="med" len="med"/>
                      <a:tailEnd type="none" w="med" len="med"/>
                    </a:lnR>
                    <a:lnT w="6350" cap="flat" cmpd="sng" algn="ctr">
                      <a:solidFill>
                        <a:srgbClr val="C5D8D8"/>
                      </a:solidFill>
                      <a:prstDash val="solid"/>
                      <a:round/>
                      <a:headEnd type="none" w="med" len="med"/>
                      <a:tailEnd type="none" w="med" len="med"/>
                    </a:lnT>
                    <a:lnB w="6350" cap="flat" cmpd="sng" algn="ctr">
                      <a:solidFill>
                        <a:srgbClr val="C5D8D8"/>
                      </a:solidFill>
                      <a:prstDash val="solid"/>
                      <a:round/>
                      <a:headEnd type="none" w="med" len="med"/>
                      <a:tailEnd type="none" w="med" len="med"/>
                    </a:lnB>
                  </a:tcPr>
                </a:tc>
                <a:tc>
                  <a:txBody>
                    <a:bodyPr/>
                    <a:lstStyle/>
                    <a:p>
                      <a:pPr marL="0" indent="0" algn="ctr">
                        <a:buNone/>
                      </a:pPr>
                      <a:r>
                        <a:rPr lang="en-US" sz="900" b="1" dirty="0">
                          <a:solidFill>
                            <a:srgbClr val="F4A940"/>
                          </a:solidFill>
                          <a:latin typeface="Calibri" pitchFamily="34" charset="0"/>
                          <a:ea typeface="Calibri" pitchFamily="34" charset="-122"/>
                          <a:cs typeface="Calibri" pitchFamily="34" charset="-120"/>
                        </a:rPr>
                        <a:t>B</a:t>
                      </a:r>
                      <a:endParaRPr lang="en-US" sz="900" dirty="0">
                        <a:latin typeface="Calibri" charset="0"/>
                        <a:ea typeface="Calibri" charset="0"/>
                        <a:cs typeface="Calibri" charset="0"/>
                      </a:endParaRPr>
                    </a:p>
                  </a:txBody>
                  <a:tcPr anchor="ctr">
                    <a:lnL w="6350" cap="flat" cmpd="sng" algn="ctr">
                      <a:solidFill>
                        <a:srgbClr val="C5D8D8"/>
                      </a:solidFill>
                      <a:prstDash val="solid"/>
                      <a:round/>
                      <a:headEnd type="none" w="med" len="med"/>
                      <a:tailEnd type="none" w="med" len="med"/>
                    </a:lnL>
                    <a:lnR w="6350" cap="flat" cmpd="sng" algn="ctr">
                      <a:solidFill>
                        <a:srgbClr val="C5D8D8"/>
                      </a:solidFill>
                      <a:prstDash val="solid"/>
                      <a:round/>
                      <a:headEnd type="none" w="med" len="med"/>
                      <a:tailEnd type="none" w="med" len="med"/>
                    </a:lnR>
                    <a:lnT w="6350" cap="flat" cmpd="sng" algn="ctr">
                      <a:solidFill>
                        <a:srgbClr val="C5D8D8"/>
                      </a:solidFill>
                      <a:prstDash val="solid"/>
                      <a:round/>
                      <a:headEnd type="none" w="med" len="med"/>
                      <a:tailEnd type="none" w="med" len="med"/>
                    </a:lnT>
                    <a:lnB w="6350" cap="flat" cmpd="sng" algn="ctr">
                      <a:solidFill>
                        <a:srgbClr val="C5D8D8"/>
                      </a:solidFill>
                      <a:prstDash val="solid"/>
                      <a:round/>
                      <a:headEnd type="none" w="med" len="med"/>
                      <a:tailEnd type="none" w="med" len="med"/>
                    </a:lnB>
                  </a:tcPr>
                </a:tc>
                <a:tc>
                  <a:txBody>
                    <a:bodyPr/>
                    <a:lstStyle/>
                    <a:p>
                      <a:pPr marL="0" indent="0">
                        <a:buNone/>
                      </a:pPr>
                      <a:r>
                        <a:rPr lang="en-US" sz="850" dirty="0">
                          <a:solidFill>
                            <a:srgbClr val="64748B"/>
                          </a:solidFill>
                          <a:latin typeface="Calibri" pitchFamily="34" charset="0"/>
                          <a:ea typeface="Calibri" pitchFamily="34" charset="-122"/>
                          <a:cs typeface="Calibri" pitchFamily="34" charset="-120"/>
                        </a:rPr>
                        <a:t>Data &amp; scenario setup — uses preliminary data</a:t>
                      </a:r>
                      <a:endParaRPr lang="en-US" sz="850" dirty="0">
                        <a:latin typeface="Calibri" charset="0"/>
                        <a:ea typeface="Calibri" charset="0"/>
                        <a:cs typeface="Calibri" charset="0"/>
                      </a:endParaRPr>
                    </a:p>
                  </a:txBody>
                  <a:tcPr anchor="ctr">
                    <a:lnL w="6350" cap="flat" cmpd="sng" algn="ctr">
                      <a:solidFill>
                        <a:srgbClr val="C5D8D8"/>
                      </a:solidFill>
                      <a:prstDash val="solid"/>
                      <a:round/>
                      <a:headEnd type="none" w="med" len="med"/>
                      <a:tailEnd type="none" w="med" len="med"/>
                    </a:lnL>
                    <a:lnR w="6350" cap="flat" cmpd="sng" algn="ctr">
                      <a:solidFill>
                        <a:srgbClr val="C5D8D8"/>
                      </a:solidFill>
                      <a:prstDash val="solid"/>
                      <a:round/>
                      <a:headEnd type="none" w="med" len="med"/>
                      <a:tailEnd type="none" w="med" len="med"/>
                    </a:lnR>
                    <a:lnT w="6350" cap="flat" cmpd="sng" algn="ctr">
                      <a:solidFill>
                        <a:srgbClr val="C5D8D8"/>
                      </a:solidFill>
                      <a:prstDash val="solid"/>
                      <a:round/>
                      <a:headEnd type="none" w="med" len="med"/>
                      <a:tailEnd type="none" w="med" len="med"/>
                    </a:lnT>
                    <a:lnB w="6350" cap="flat" cmpd="sng" algn="ctr">
                      <a:solidFill>
                        <a:srgbClr val="C5D8D8"/>
                      </a:solidFill>
                      <a:prstDash val="solid"/>
                      <a:round/>
                      <a:headEnd type="none" w="med" len="med"/>
                      <a:tailEnd type="none" w="med" len="med"/>
                    </a:lnB>
                  </a:tcPr>
                </a:tc>
                <a:extLst>
                  <a:ext uri="{0D108BD9-81ED-4DB2-BD59-A6C34878D82A}">
                    <a16:rowId xmlns:a16="http://schemas.microsoft.com/office/drawing/2014/main" val="10002"/>
                  </a:ext>
                </a:extLst>
              </a:tr>
              <a:tr h="0">
                <a:tc>
                  <a:txBody>
                    <a:bodyPr/>
                    <a:lstStyle/>
                    <a:p>
                      <a:pPr marL="0" indent="0">
                        <a:buNone/>
                      </a:pPr>
                      <a:r>
                        <a:rPr lang="en-US" sz="900" dirty="0">
                          <a:solidFill>
                            <a:srgbClr val="334155"/>
                          </a:solidFill>
                          <a:latin typeface="Calibri" pitchFamily="34" charset="0"/>
                          <a:ea typeface="Calibri" pitchFamily="34" charset="-122"/>
                          <a:cs typeface="Calibri" pitchFamily="34" charset="-120"/>
                        </a:rPr>
                        <a:t>30 Apr 2026</a:t>
                      </a:r>
                      <a:endParaRPr lang="en-US" sz="900" dirty="0">
                        <a:latin typeface="Calibri" charset="0"/>
                        <a:ea typeface="Calibri" charset="0"/>
                        <a:cs typeface="Calibri" charset="0"/>
                      </a:endParaRPr>
                    </a:p>
                  </a:txBody>
                  <a:tcPr anchor="ctr">
                    <a:lnL w="6350" cap="flat" cmpd="sng" algn="ctr">
                      <a:solidFill>
                        <a:srgbClr val="C5D8D8"/>
                      </a:solidFill>
                      <a:prstDash val="solid"/>
                      <a:round/>
                      <a:headEnd type="none" w="med" len="med"/>
                      <a:tailEnd type="none" w="med" len="med"/>
                    </a:lnL>
                    <a:lnR w="6350" cap="flat" cmpd="sng" algn="ctr">
                      <a:solidFill>
                        <a:srgbClr val="C5D8D8"/>
                      </a:solidFill>
                      <a:prstDash val="solid"/>
                      <a:round/>
                      <a:headEnd type="none" w="med" len="med"/>
                      <a:tailEnd type="none" w="med" len="med"/>
                    </a:lnR>
                    <a:lnT w="6350" cap="flat" cmpd="sng" algn="ctr">
                      <a:solidFill>
                        <a:srgbClr val="C5D8D8"/>
                      </a:solidFill>
                      <a:prstDash val="solid"/>
                      <a:round/>
                      <a:headEnd type="none" w="med" len="med"/>
                      <a:tailEnd type="none" w="med" len="med"/>
                    </a:lnT>
                    <a:lnB w="6350" cap="flat" cmpd="sng" algn="ctr">
                      <a:solidFill>
                        <a:srgbClr val="C5D8D8"/>
                      </a:solidFill>
                      <a:prstDash val="solid"/>
                      <a:round/>
                      <a:headEnd type="none" w="med" len="med"/>
                      <a:tailEnd type="none" w="med" len="med"/>
                    </a:lnB>
                  </a:tcPr>
                </a:tc>
                <a:tc>
                  <a:txBody>
                    <a:bodyPr/>
                    <a:lstStyle/>
                    <a:p>
                      <a:pPr marL="0" indent="0">
                        <a:buNone/>
                      </a:pPr>
                      <a:r>
                        <a:rPr lang="en-US" sz="950" b="1" dirty="0">
                          <a:solidFill>
                            <a:srgbClr val="00414D"/>
                          </a:solidFill>
                          <a:latin typeface="Calibri" pitchFamily="34" charset="0"/>
                          <a:ea typeface="Calibri" pitchFamily="34" charset="-122"/>
                          <a:cs typeface="Calibri" pitchFamily="34" charset="-120"/>
                        </a:rPr>
                        <a:t>BAU Results + Exchange Maps</a:t>
                      </a:r>
                      <a:endParaRPr lang="en-US" sz="950" dirty="0">
                        <a:latin typeface="Calibri" charset="0"/>
                        <a:ea typeface="Calibri" charset="0"/>
                        <a:cs typeface="Calibri" charset="0"/>
                      </a:endParaRPr>
                    </a:p>
                  </a:txBody>
                  <a:tcPr anchor="ctr">
                    <a:lnL w="6350" cap="flat" cmpd="sng" algn="ctr">
                      <a:solidFill>
                        <a:srgbClr val="C5D8D8"/>
                      </a:solidFill>
                      <a:prstDash val="solid"/>
                      <a:round/>
                      <a:headEnd type="none" w="med" len="med"/>
                      <a:tailEnd type="none" w="med" len="med"/>
                    </a:lnL>
                    <a:lnR w="6350" cap="flat" cmpd="sng" algn="ctr">
                      <a:solidFill>
                        <a:srgbClr val="C5D8D8"/>
                      </a:solidFill>
                      <a:prstDash val="solid"/>
                      <a:round/>
                      <a:headEnd type="none" w="med" len="med"/>
                      <a:tailEnd type="none" w="med" len="med"/>
                    </a:lnR>
                    <a:lnT w="6350" cap="flat" cmpd="sng" algn="ctr">
                      <a:solidFill>
                        <a:srgbClr val="C5D8D8"/>
                      </a:solidFill>
                      <a:prstDash val="solid"/>
                      <a:round/>
                      <a:headEnd type="none" w="med" len="med"/>
                      <a:tailEnd type="none" w="med" len="med"/>
                    </a:lnT>
                    <a:lnB w="6350" cap="flat" cmpd="sng" algn="ctr">
                      <a:solidFill>
                        <a:srgbClr val="C5D8D8"/>
                      </a:solidFill>
                      <a:prstDash val="solid"/>
                      <a:round/>
                      <a:headEnd type="none" w="med" len="med"/>
                      <a:tailEnd type="none" w="med" len="med"/>
                    </a:lnB>
                  </a:tcPr>
                </a:tc>
                <a:tc>
                  <a:txBody>
                    <a:bodyPr/>
                    <a:lstStyle/>
                    <a:p>
                      <a:pPr marL="0" indent="0" algn="ctr">
                        <a:buNone/>
                      </a:pPr>
                      <a:r>
                        <a:rPr lang="en-US" sz="900" b="1" dirty="0">
                          <a:solidFill>
                            <a:srgbClr val="0A595F"/>
                          </a:solidFill>
                          <a:latin typeface="Calibri" pitchFamily="34" charset="0"/>
                          <a:ea typeface="Calibri" pitchFamily="34" charset="-122"/>
                          <a:cs typeface="Calibri" pitchFamily="34" charset="-120"/>
                        </a:rPr>
                        <a:t>A</a:t>
                      </a:r>
                      <a:endParaRPr lang="en-US" sz="900" dirty="0">
                        <a:latin typeface="Calibri" charset="0"/>
                        <a:ea typeface="Calibri" charset="0"/>
                        <a:cs typeface="Calibri" charset="0"/>
                      </a:endParaRPr>
                    </a:p>
                  </a:txBody>
                  <a:tcPr anchor="ctr">
                    <a:lnL w="6350" cap="flat" cmpd="sng" algn="ctr">
                      <a:solidFill>
                        <a:srgbClr val="C5D8D8"/>
                      </a:solidFill>
                      <a:prstDash val="solid"/>
                      <a:round/>
                      <a:headEnd type="none" w="med" len="med"/>
                      <a:tailEnd type="none" w="med" len="med"/>
                    </a:lnL>
                    <a:lnR w="6350" cap="flat" cmpd="sng" algn="ctr">
                      <a:solidFill>
                        <a:srgbClr val="C5D8D8"/>
                      </a:solidFill>
                      <a:prstDash val="solid"/>
                      <a:round/>
                      <a:headEnd type="none" w="med" len="med"/>
                      <a:tailEnd type="none" w="med" len="med"/>
                    </a:lnR>
                    <a:lnT w="6350" cap="flat" cmpd="sng" algn="ctr">
                      <a:solidFill>
                        <a:srgbClr val="C5D8D8"/>
                      </a:solidFill>
                      <a:prstDash val="solid"/>
                      <a:round/>
                      <a:headEnd type="none" w="med" len="med"/>
                      <a:tailEnd type="none" w="med" len="med"/>
                    </a:lnT>
                    <a:lnB w="6350" cap="flat" cmpd="sng" algn="ctr">
                      <a:solidFill>
                        <a:srgbClr val="C5D8D8"/>
                      </a:solidFill>
                      <a:prstDash val="solid"/>
                      <a:round/>
                      <a:headEnd type="none" w="med" len="med"/>
                      <a:tailEnd type="none" w="med" len="med"/>
                    </a:lnB>
                  </a:tcPr>
                </a:tc>
                <a:tc>
                  <a:txBody>
                    <a:bodyPr/>
                    <a:lstStyle/>
                    <a:p>
                      <a:pPr marL="0" indent="0">
                        <a:buNone/>
                      </a:pPr>
                      <a:r>
                        <a:rPr lang="en-US" sz="850" dirty="0">
                          <a:solidFill>
                            <a:srgbClr val="64748B"/>
                          </a:solidFill>
                          <a:latin typeface="Calibri" pitchFamily="34" charset="0"/>
                          <a:ea typeface="Calibri" pitchFamily="34" charset="-122"/>
                          <a:cs typeface="Calibri" pitchFamily="34" charset="-120"/>
                        </a:rPr>
                        <a:t>Use ATB costs if tech cost data still missing</a:t>
                      </a:r>
                      <a:endParaRPr lang="en-US" sz="850" dirty="0">
                        <a:latin typeface="Calibri" charset="0"/>
                        <a:ea typeface="Calibri" charset="0"/>
                        <a:cs typeface="Calibri" charset="0"/>
                      </a:endParaRPr>
                    </a:p>
                  </a:txBody>
                  <a:tcPr anchor="ctr">
                    <a:lnL w="6350" cap="flat" cmpd="sng" algn="ctr">
                      <a:solidFill>
                        <a:srgbClr val="C5D8D8"/>
                      </a:solidFill>
                      <a:prstDash val="solid"/>
                      <a:round/>
                      <a:headEnd type="none" w="med" len="med"/>
                      <a:tailEnd type="none" w="med" len="med"/>
                    </a:lnL>
                    <a:lnR w="6350" cap="flat" cmpd="sng" algn="ctr">
                      <a:solidFill>
                        <a:srgbClr val="C5D8D8"/>
                      </a:solidFill>
                      <a:prstDash val="solid"/>
                      <a:round/>
                      <a:headEnd type="none" w="med" len="med"/>
                      <a:tailEnd type="none" w="med" len="med"/>
                    </a:lnR>
                    <a:lnT w="6350" cap="flat" cmpd="sng" algn="ctr">
                      <a:solidFill>
                        <a:srgbClr val="C5D8D8"/>
                      </a:solidFill>
                      <a:prstDash val="solid"/>
                      <a:round/>
                      <a:headEnd type="none" w="med" len="med"/>
                      <a:tailEnd type="none" w="med" len="med"/>
                    </a:lnT>
                    <a:lnB w="6350" cap="flat" cmpd="sng" algn="ctr">
                      <a:solidFill>
                        <a:srgbClr val="C5D8D8"/>
                      </a:solidFill>
                      <a:prstDash val="solid"/>
                      <a:round/>
                      <a:headEnd type="none" w="med" len="med"/>
                      <a:tailEnd type="none" w="med" len="med"/>
                    </a:lnB>
                  </a:tcPr>
                </a:tc>
                <a:extLst>
                  <a:ext uri="{0D108BD9-81ED-4DB2-BD59-A6C34878D82A}">
                    <a16:rowId xmlns:a16="http://schemas.microsoft.com/office/drawing/2014/main" val="10003"/>
                  </a:ext>
                </a:extLst>
              </a:tr>
              <a:tr h="0">
                <a:tc>
                  <a:txBody>
                    <a:bodyPr/>
                    <a:lstStyle/>
                    <a:p>
                      <a:pPr marL="0" indent="0">
                        <a:buNone/>
                      </a:pPr>
                      <a:r>
                        <a:rPr lang="en-US" sz="900" dirty="0">
                          <a:solidFill>
                            <a:srgbClr val="334155"/>
                          </a:solidFill>
                          <a:latin typeface="Calibri" pitchFamily="34" charset="0"/>
                          <a:ea typeface="Calibri" pitchFamily="34" charset="-122"/>
                          <a:cs typeface="Calibri" pitchFamily="34" charset="-120"/>
                        </a:rPr>
                        <a:t>29 May 2026</a:t>
                      </a:r>
                      <a:endParaRPr lang="en-US" sz="900" dirty="0">
                        <a:latin typeface="Calibri" charset="0"/>
                        <a:ea typeface="Calibri" charset="0"/>
                        <a:cs typeface="Calibri" charset="0"/>
                      </a:endParaRPr>
                    </a:p>
                  </a:txBody>
                  <a:tcPr anchor="ctr">
                    <a:lnL w="6350" cap="flat" cmpd="sng" algn="ctr">
                      <a:solidFill>
                        <a:srgbClr val="C5D8D8"/>
                      </a:solidFill>
                      <a:prstDash val="solid"/>
                      <a:round/>
                      <a:headEnd type="none" w="med" len="med"/>
                      <a:tailEnd type="none" w="med" len="med"/>
                    </a:lnL>
                    <a:lnR w="6350" cap="flat" cmpd="sng" algn="ctr">
                      <a:solidFill>
                        <a:srgbClr val="C5D8D8"/>
                      </a:solidFill>
                      <a:prstDash val="solid"/>
                      <a:round/>
                      <a:headEnd type="none" w="med" len="med"/>
                      <a:tailEnd type="none" w="med" len="med"/>
                    </a:lnR>
                    <a:lnT w="6350" cap="flat" cmpd="sng" algn="ctr">
                      <a:solidFill>
                        <a:srgbClr val="C5D8D8"/>
                      </a:solidFill>
                      <a:prstDash val="solid"/>
                      <a:round/>
                      <a:headEnd type="none" w="med" len="med"/>
                      <a:tailEnd type="none" w="med" len="med"/>
                    </a:lnT>
                    <a:lnB w="6350" cap="flat" cmpd="sng" algn="ctr">
                      <a:solidFill>
                        <a:srgbClr val="C5D8D8"/>
                      </a:solidFill>
                      <a:prstDash val="solid"/>
                      <a:round/>
                      <a:headEnd type="none" w="med" len="med"/>
                      <a:tailEnd type="none" w="med" len="med"/>
                    </a:lnB>
                  </a:tcPr>
                </a:tc>
                <a:tc>
                  <a:txBody>
                    <a:bodyPr/>
                    <a:lstStyle/>
                    <a:p>
                      <a:pPr marL="0" indent="0">
                        <a:buNone/>
                      </a:pPr>
                      <a:r>
                        <a:rPr lang="en-US" sz="950" b="1" dirty="0">
                          <a:solidFill>
                            <a:srgbClr val="00414D"/>
                          </a:solidFill>
                          <a:latin typeface="Calibri" pitchFamily="34" charset="0"/>
                          <a:ea typeface="Calibri" pitchFamily="34" charset="-122"/>
                          <a:cs typeface="Calibri" pitchFamily="34" charset="-120"/>
                        </a:rPr>
                        <a:t>Optimize VRE Results</a:t>
                      </a:r>
                      <a:endParaRPr lang="en-US" sz="950" dirty="0">
                        <a:latin typeface="Calibri" charset="0"/>
                        <a:ea typeface="Calibri" charset="0"/>
                        <a:cs typeface="Calibri" charset="0"/>
                      </a:endParaRPr>
                    </a:p>
                  </a:txBody>
                  <a:tcPr anchor="ctr">
                    <a:lnL w="6350" cap="flat" cmpd="sng" algn="ctr">
                      <a:solidFill>
                        <a:srgbClr val="C5D8D8"/>
                      </a:solidFill>
                      <a:prstDash val="solid"/>
                      <a:round/>
                      <a:headEnd type="none" w="med" len="med"/>
                      <a:tailEnd type="none" w="med" len="med"/>
                    </a:lnL>
                    <a:lnR w="6350" cap="flat" cmpd="sng" algn="ctr">
                      <a:solidFill>
                        <a:srgbClr val="C5D8D8"/>
                      </a:solidFill>
                      <a:prstDash val="solid"/>
                      <a:round/>
                      <a:headEnd type="none" w="med" len="med"/>
                      <a:tailEnd type="none" w="med" len="med"/>
                    </a:lnR>
                    <a:lnT w="6350" cap="flat" cmpd="sng" algn="ctr">
                      <a:solidFill>
                        <a:srgbClr val="C5D8D8"/>
                      </a:solidFill>
                      <a:prstDash val="solid"/>
                      <a:round/>
                      <a:headEnd type="none" w="med" len="med"/>
                      <a:tailEnd type="none" w="med" len="med"/>
                    </a:lnT>
                    <a:lnB w="6350" cap="flat" cmpd="sng" algn="ctr">
                      <a:solidFill>
                        <a:srgbClr val="C5D8D8"/>
                      </a:solidFill>
                      <a:prstDash val="solid"/>
                      <a:round/>
                      <a:headEnd type="none" w="med" len="med"/>
                      <a:tailEnd type="none" w="med" len="med"/>
                    </a:lnB>
                  </a:tcPr>
                </a:tc>
                <a:tc>
                  <a:txBody>
                    <a:bodyPr/>
                    <a:lstStyle/>
                    <a:p>
                      <a:pPr marL="0" indent="0" algn="ctr">
                        <a:buNone/>
                      </a:pPr>
                      <a:r>
                        <a:rPr lang="en-US" sz="900" b="1" dirty="0">
                          <a:solidFill>
                            <a:srgbClr val="0A595F"/>
                          </a:solidFill>
                          <a:latin typeface="Calibri" pitchFamily="34" charset="0"/>
                          <a:ea typeface="Calibri" pitchFamily="34" charset="-122"/>
                          <a:cs typeface="Calibri" pitchFamily="34" charset="-120"/>
                        </a:rPr>
                        <a:t>A</a:t>
                      </a:r>
                      <a:endParaRPr lang="en-US" sz="900" dirty="0">
                        <a:latin typeface="Calibri" charset="0"/>
                        <a:ea typeface="Calibri" charset="0"/>
                        <a:cs typeface="Calibri" charset="0"/>
                      </a:endParaRPr>
                    </a:p>
                  </a:txBody>
                  <a:tcPr anchor="ctr">
                    <a:lnL w="6350" cap="flat" cmpd="sng" algn="ctr">
                      <a:solidFill>
                        <a:srgbClr val="C5D8D8"/>
                      </a:solidFill>
                      <a:prstDash val="solid"/>
                      <a:round/>
                      <a:headEnd type="none" w="med" len="med"/>
                      <a:tailEnd type="none" w="med" len="med"/>
                    </a:lnL>
                    <a:lnR w="6350" cap="flat" cmpd="sng" algn="ctr">
                      <a:solidFill>
                        <a:srgbClr val="C5D8D8"/>
                      </a:solidFill>
                      <a:prstDash val="solid"/>
                      <a:round/>
                      <a:headEnd type="none" w="med" len="med"/>
                      <a:tailEnd type="none" w="med" len="med"/>
                    </a:lnR>
                    <a:lnT w="6350" cap="flat" cmpd="sng" algn="ctr">
                      <a:solidFill>
                        <a:srgbClr val="C5D8D8"/>
                      </a:solidFill>
                      <a:prstDash val="solid"/>
                      <a:round/>
                      <a:headEnd type="none" w="med" len="med"/>
                      <a:tailEnd type="none" w="med" len="med"/>
                    </a:lnT>
                    <a:lnB w="6350" cap="flat" cmpd="sng" algn="ctr">
                      <a:solidFill>
                        <a:srgbClr val="C5D8D8"/>
                      </a:solidFill>
                      <a:prstDash val="solid"/>
                      <a:round/>
                      <a:headEnd type="none" w="med" len="med"/>
                      <a:tailEnd type="none" w="med" len="med"/>
                    </a:lnB>
                  </a:tcPr>
                </a:tc>
                <a:tc>
                  <a:txBody>
                    <a:bodyPr/>
                    <a:lstStyle/>
                    <a:p>
                      <a:pPr marL="0" indent="0">
                        <a:buNone/>
                      </a:pPr>
                      <a:r>
                        <a:rPr lang="en-US" sz="850" dirty="0">
                          <a:solidFill>
                            <a:srgbClr val="64748B"/>
                          </a:solidFill>
                          <a:latin typeface="Calibri" pitchFamily="34" charset="0"/>
                          <a:ea typeface="Calibri" pitchFamily="34" charset="-122"/>
                          <a:cs typeface="Calibri" pitchFamily="34" charset="-120"/>
                        </a:rPr>
                        <a:t>VRE profile sensitivities if uncertainty is high</a:t>
                      </a:r>
                      <a:endParaRPr lang="en-US" sz="850" dirty="0">
                        <a:latin typeface="Calibri" charset="0"/>
                        <a:ea typeface="Calibri" charset="0"/>
                        <a:cs typeface="Calibri" charset="0"/>
                      </a:endParaRPr>
                    </a:p>
                  </a:txBody>
                  <a:tcPr anchor="ctr">
                    <a:lnL w="6350" cap="flat" cmpd="sng" algn="ctr">
                      <a:solidFill>
                        <a:srgbClr val="C5D8D8"/>
                      </a:solidFill>
                      <a:prstDash val="solid"/>
                      <a:round/>
                      <a:headEnd type="none" w="med" len="med"/>
                      <a:tailEnd type="none" w="med" len="med"/>
                    </a:lnL>
                    <a:lnR w="6350" cap="flat" cmpd="sng" algn="ctr">
                      <a:solidFill>
                        <a:srgbClr val="C5D8D8"/>
                      </a:solidFill>
                      <a:prstDash val="solid"/>
                      <a:round/>
                      <a:headEnd type="none" w="med" len="med"/>
                      <a:tailEnd type="none" w="med" len="med"/>
                    </a:lnR>
                    <a:lnT w="6350" cap="flat" cmpd="sng" algn="ctr">
                      <a:solidFill>
                        <a:srgbClr val="C5D8D8"/>
                      </a:solidFill>
                      <a:prstDash val="solid"/>
                      <a:round/>
                      <a:headEnd type="none" w="med" len="med"/>
                      <a:tailEnd type="none" w="med" len="med"/>
                    </a:lnT>
                    <a:lnB w="6350" cap="flat" cmpd="sng" algn="ctr">
                      <a:solidFill>
                        <a:srgbClr val="C5D8D8"/>
                      </a:solidFill>
                      <a:prstDash val="solid"/>
                      <a:round/>
                      <a:headEnd type="none" w="med" len="med"/>
                      <a:tailEnd type="none" w="med" len="med"/>
                    </a:lnB>
                  </a:tcPr>
                </a:tc>
                <a:extLst>
                  <a:ext uri="{0D108BD9-81ED-4DB2-BD59-A6C34878D82A}">
                    <a16:rowId xmlns:a16="http://schemas.microsoft.com/office/drawing/2014/main" val="10004"/>
                  </a:ext>
                </a:extLst>
              </a:tr>
              <a:tr h="0">
                <a:tc>
                  <a:txBody>
                    <a:bodyPr/>
                    <a:lstStyle/>
                    <a:p>
                      <a:pPr marL="0" indent="0">
                        <a:buNone/>
                      </a:pPr>
                      <a:r>
                        <a:rPr lang="en-US" sz="900" dirty="0">
                          <a:solidFill>
                            <a:srgbClr val="334155"/>
                          </a:solidFill>
                          <a:latin typeface="Calibri" pitchFamily="34" charset="0"/>
                          <a:ea typeface="Calibri" pitchFamily="34" charset="-122"/>
                          <a:cs typeface="Calibri" pitchFamily="34" charset="-120"/>
                        </a:rPr>
                        <a:t>Mid-Jun 2026</a:t>
                      </a:r>
                      <a:endParaRPr lang="en-US" sz="900" dirty="0">
                        <a:latin typeface="Calibri" charset="0"/>
                        <a:ea typeface="Calibri" charset="0"/>
                        <a:cs typeface="Calibri" charset="0"/>
                      </a:endParaRPr>
                    </a:p>
                  </a:txBody>
                  <a:tcPr anchor="ctr">
                    <a:lnL w="6350" cap="flat" cmpd="sng" algn="ctr">
                      <a:solidFill>
                        <a:srgbClr val="C5D8D8"/>
                      </a:solidFill>
                      <a:prstDash val="solid"/>
                      <a:round/>
                      <a:headEnd type="none" w="med" len="med"/>
                      <a:tailEnd type="none" w="med" len="med"/>
                    </a:lnL>
                    <a:lnR w="6350" cap="flat" cmpd="sng" algn="ctr">
                      <a:solidFill>
                        <a:srgbClr val="C5D8D8"/>
                      </a:solidFill>
                      <a:prstDash val="solid"/>
                      <a:round/>
                      <a:headEnd type="none" w="med" len="med"/>
                      <a:tailEnd type="none" w="med" len="med"/>
                    </a:lnR>
                    <a:lnT w="6350" cap="flat" cmpd="sng" algn="ctr">
                      <a:solidFill>
                        <a:srgbClr val="C5D8D8"/>
                      </a:solidFill>
                      <a:prstDash val="solid"/>
                      <a:round/>
                      <a:headEnd type="none" w="med" len="med"/>
                      <a:tailEnd type="none" w="med" len="med"/>
                    </a:lnT>
                    <a:lnB w="6350" cap="flat" cmpd="sng" algn="ctr">
                      <a:solidFill>
                        <a:srgbClr val="C5D8D8"/>
                      </a:solidFill>
                      <a:prstDash val="solid"/>
                      <a:round/>
                      <a:headEnd type="none" w="med" len="med"/>
                      <a:tailEnd type="none" w="med" len="med"/>
                    </a:lnB>
                  </a:tcPr>
                </a:tc>
                <a:tc>
                  <a:txBody>
                    <a:bodyPr/>
                    <a:lstStyle/>
                    <a:p>
                      <a:pPr marL="0" indent="0">
                        <a:buNone/>
                      </a:pPr>
                      <a:r>
                        <a:rPr lang="en-US" sz="950" b="1" dirty="0">
                          <a:solidFill>
                            <a:srgbClr val="00414D"/>
                          </a:solidFill>
                          <a:latin typeface="Calibri" pitchFamily="34" charset="0"/>
                          <a:ea typeface="Calibri" pitchFamily="34" charset="-122"/>
                          <a:cs typeface="Calibri" pitchFamily="34" charset="-120"/>
                        </a:rPr>
                        <a:t>Training Session 2</a:t>
                      </a:r>
                      <a:endParaRPr lang="en-US" sz="950" dirty="0">
                        <a:latin typeface="Calibri" charset="0"/>
                        <a:ea typeface="Calibri" charset="0"/>
                        <a:cs typeface="Calibri" charset="0"/>
                      </a:endParaRPr>
                    </a:p>
                  </a:txBody>
                  <a:tcPr anchor="ctr">
                    <a:lnL w="6350" cap="flat" cmpd="sng" algn="ctr">
                      <a:solidFill>
                        <a:srgbClr val="C5D8D8"/>
                      </a:solidFill>
                      <a:prstDash val="solid"/>
                      <a:round/>
                      <a:headEnd type="none" w="med" len="med"/>
                      <a:tailEnd type="none" w="med" len="med"/>
                    </a:lnL>
                    <a:lnR w="6350" cap="flat" cmpd="sng" algn="ctr">
                      <a:solidFill>
                        <a:srgbClr val="C5D8D8"/>
                      </a:solidFill>
                      <a:prstDash val="solid"/>
                      <a:round/>
                      <a:headEnd type="none" w="med" len="med"/>
                      <a:tailEnd type="none" w="med" len="med"/>
                    </a:lnR>
                    <a:lnT w="6350" cap="flat" cmpd="sng" algn="ctr">
                      <a:solidFill>
                        <a:srgbClr val="C5D8D8"/>
                      </a:solidFill>
                      <a:prstDash val="solid"/>
                      <a:round/>
                      <a:headEnd type="none" w="med" len="med"/>
                      <a:tailEnd type="none" w="med" len="med"/>
                    </a:lnT>
                    <a:lnB w="6350" cap="flat" cmpd="sng" algn="ctr">
                      <a:solidFill>
                        <a:srgbClr val="C5D8D8"/>
                      </a:solidFill>
                      <a:prstDash val="solid"/>
                      <a:round/>
                      <a:headEnd type="none" w="med" len="med"/>
                      <a:tailEnd type="none" w="med" len="med"/>
                    </a:lnB>
                  </a:tcPr>
                </a:tc>
                <a:tc>
                  <a:txBody>
                    <a:bodyPr/>
                    <a:lstStyle/>
                    <a:p>
                      <a:pPr marL="0" indent="0" algn="ctr">
                        <a:buNone/>
                      </a:pPr>
                      <a:r>
                        <a:rPr lang="en-US" sz="900" b="1" dirty="0">
                          <a:solidFill>
                            <a:srgbClr val="F4A940"/>
                          </a:solidFill>
                          <a:latin typeface="Calibri" pitchFamily="34" charset="0"/>
                          <a:ea typeface="Calibri" pitchFamily="34" charset="-122"/>
                          <a:cs typeface="Calibri" pitchFamily="34" charset="-120"/>
                        </a:rPr>
                        <a:t>B</a:t>
                      </a:r>
                      <a:endParaRPr lang="en-US" sz="900" dirty="0">
                        <a:latin typeface="Calibri" charset="0"/>
                        <a:ea typeface="Calibri" charset="0"/>
                        <a:cs typeface="Calibri" charset="0"/>
                      </a:endParaRPr>
                    </a:p>
                  </a:txBody>
                  <a:tcPr anchor="ctr">
                    <a:lnL w="6350" cap="flat" cmpd="sng" algn="ctr">
                      <a:solidFill>
                        <a:srgbClr val="C5D8D8"/>
                      </a:solidFill>
                      <a:prstDash val="solid"/>
                      <a:round/>
                      <a:headEnd type="none" w="med" len="med"/>
                      <a:tailEnd type="none" w="med" len="med"/>
                    </a:lnL>
                    <a:lnR w="6350" cap="flat" cmpd="sng" algn="ctr">
                      <a:solidFill>
                        <a:srgbClr val="C5D8D8"/>
                      </a:solidFill>
                      <a:prstDash val="solid"/>
                      <a:round/>
                      <a:headEnd type="none" w="med" len="med"/>
                      <a:tailEnd type="none" w="med" len="med"/>
                    </a:lnR>
                    <a:lnT w="6350" cap="flat" cmpd="sng" algn="ctr">
                      <a:solidFill>
                        <a:srgbClr val="C5D8D8"/>
                      </a:solidFill>
                      <a:prstDash val="solid"/>
                      <a:round/>
                      <a:headEnd type="none" w="med" len="med"/>
                      <a:tailEnd type="none" w="med" len="med"/>
                    </a:lnT>
                    <a:lnB w="6350" cap="flat" cmpd="sng" algn="ctr">
                      <a:solidFill>
                        <a:srgbClr val="C5D8D8"/>
                      </a:solidFill>
                      <a:prstDash val="solid"/>
                      <a:round/>
                      <a:headEnd type="none" w="med" len="med"/>
                      <a:tailEnd type="none" w="med" len="med"/>
                    </a:lnB>
                  </a:tcPr>
                </a:tc>
                <a:tc>
                  <a:txBody>
                    <a:bodyPr/>
                    <a:lstStyle/>
                    <a:p>
                      <a:pPr marL="0" indent="0">
                        <a:buNone/>
                      </a:pPr>
                      <a:r>
                        <a:rPr lang="en-US" sz="850" dirty="0">
                          <a:solidFill>
                            <a:srgbClr val="64748B"/>
                          </a:solidFill>
                          <a:latin typeface="Calibri" pitchFamily="34" charset="0"/>
                          <a:ea typeface="Calibri" pitchFamily="34" charset="-122"/>
                          <a:cs typeface="Calibri" pitchFamily="34" charset="-120"/>
                        </a:rPr>
                        <a:t>Results &amp; illustrative scenarios</a:t>
                      </a:r>
                      <a:endParaRPr lang="en-US" sz="850" dirty="0">
                        <a:latin typeface="Calibri" charset="0"/>
                        <a:ea typeface="Calibri" charset="0"/>
                        <a:cs typeface="Calibri" charset="0"/>
                      </a:endParaRPr>
                    </a:p>
                  </a:txBody>
                  <a:tcPr anchor="ctr">
                    <a:lnL w="6350" cap="flat" cmpd="sng" algn="ctr">
                      <a:solidFill>
                        <a:srgbClr val="C5D8D8"/>
                      </a:solidFill>
                      <a:prstDash val="solid"/>
                      <a:round/>
                      <a:headEnd type="none" w="med" len="med"/>
                      <a:tailEnd type="none" w="med" len="med"/>
                    </a:lnL>
                    <a:lnR w="6350" cap="flat" cmpd="sng" algn="ctr">
                      <a:solidFill>
                        <a:srgbClr val="C5D8D8"/>
                      </a:solidFill>
                      <a:prstDash val="solid"/>
                      <a:round/>
                      <a:headEnd type="none" w="med" len="med"/>
                      <a:tailEnd type="none" w="med" len="med"/>
                    </a:lnR>
                    <a:lnT w="6350" cap="flat" cmpd="sng" algn="ctr">
                      <a:solidFill>
                        <a:srgbClr val="C5D8D8"/>
                      </a:solidFill>
                      <a:prstDash val="solid"/>
                      <a:round/>
                      <a:headEnd type="none" w="med" len="med"/>
                      <a:tailEnd type="none" w="med" len="med"/>
                    </a:lnT>
                    <a:lnB w="6350" cap="flat" cmpd="sng" algn="ctr">
                      <a:solidFill>
                        <a:srgbClr val="C5D8D8"/>
                      </a:solidFill>
                      <a:prstDash val="solid"/>
                      <a:round/>
                      <a:headEnd type="none" w="med" len="med"/>
                      <a:tailEnd type="none" w="med" len="med"/>
                    </a:lnB>
                  </a:tcPr>
                </a:tc>
                <a:extLst>
                  <a:ext uri="{0D108BD9-81ED-4DB2-BD59-A6C34878D82A}">
                    <a16:rowId xmlns:a16="http://schemas.microsoft.com/office/drawing/2014/main" val="10005"/>
                  </a:ext>
                </a:extLst>
              </a:tr>
              <a:tr h="0">
                <a:tc>
                  <a:txBody>
                    <a:bodyPr/>
                    <a:lstStyle/>
                    <a:p>
                      <a:pPr marL="0" indent="0">
                        <a:buNone/>
                      </a:pPr>
                      <a:r>
                        <a:rPr lang="en-US" sz="900" dirty="0">
                          <a:solidFill>
                            <a:srgbClr val="334155"/>
                          </a:solidFill>
                          <a:latin typeface="Calibri" pitchFamily="34" charset="0"/>
                          <a:ea typeface="Calibri" pitchFamily="34" charset="-122"/>
                          <a:cs typeface="Calibri" pitchFamily="34" charset="-120"/>
                        </a:rPr>
                        <a:t>30 Jun 2026</a:t>
                      </a:r>
                      <a:endParaRPr lang="en-US" sz="900" dirty="0">
                        <a:latin typeface="Calibri" charset="0"/>
                        <a:ea typeface="Calibri" charset="0"/>
                        <a:cs typeface="Calibri" charset="0"/>
                      </a:endParaRPr>
                    </a:p>
                  </a:txBody>
                  <a:tcPr anchor="ctr">
                    <a:lnL w="6350" cap="flat" cmpd="sng" algn="ctr">
                      <a:solidFill>
                        <a:srgbClr val="C5D8D8"/>
                      </a:solidFill>
                      <a:prstDash val="solid"/>
                      <a:round/>
                      <a:headEnd type="none" w="med" len="med"/>
                      <a:tailEnd type="none" w="med" len="med"/>
                    </a:lnL>
                    <a:lnR w="6350" cap="flat" cmpd="sng" algn="ctr">
                      <a:solidFill>
                        <a:srgbClr val="C5D8D8"/>
                      </a:solidFill>
                      <a:prstDash val="solid"/>
                      <a:round/>
                      <a:headEnd type="none" w="med" len="med"/>
                      <a:tailEnd type="none" w="med" len="med"/>
                    </a:lnR>
                    <a:lnT w="6350" cap="flat" cmpd="sng" algn="ctr">
                      <a:solidFill>
                        <a:srgbClr val="C5D8D8"/>
                      </a:solidFill>
                      <a:prstDash val="solid"/>
                      <a:round/>
                      <a:headEnd type="none" w="med" len="med"/>
                      <a:tailEnd type="none" w="med" len="med"/>
                    </a:lnT>
                    <a:lnB w="6350" cap="flat" cmpd="sng" algn="ctr">
                      <a:solidFill>
                        <a:srgbClr val="C5D8D8"/>
                      </a:solidFill>
                      <a:prstDash val="solid"/>
                      <a:round/>
                      <a:headEnd type="none" w="med" len="med"/>
                      <a:tailEnd type="none" w="med" len="med"/>
                    </a:lnB>
                  </a:tcPr>
                </a:tc>
                <a:tc>
                  <a:txBody>
                    <a:bodyPr/>
                    <a:lstStyle/>
                    <a:p>
                      <a:pPr marL="0" indent="0">
                        <a:buNone/>
                      </a:pPr>
                      <a:r>
                        <a:rPr lang="en-US" sz="950" b="1" dirty="0">
                          <a:solidFill>
                            <a:srgbClr val="00414D"/>
                          </a:solidFill>
                          <a:latin typeface="Calibri" pitchFamily="34" charset="0"/>
                          <a:ea typeface="Calibri" pitchFamily="34" charset="-122"/>
                          <a:cs typeface="Calibri" pitchFamily="34" charset="-120"/>
                        </a:rPr>
                        <a:t>VRE Target Results</a:t>
                      </a:r>
                      <a:endParaRPr lang="en-US" sz="950" dirty="0">
                        <a:latin typeface="Calibri" charset="0"/>
                        <a:ea typeface="Calibri" charset="0"/>
                        <a:cs typeface="Calibri" charset="0"/>
                      </a:endParaRPr>
                    </a:p>
                  </a:txBody>
                  <a:tcPr anchor="ctr">
                    <a:lnL w="6350" cap="flat" cmpd="sng" algn="ctr">
                      <a:solidFill>
                        <a:srgbClr val="C5D8D8"/>
                      </a:solidFill>
                      <a:prstDash val="solid"/>
                      <a:round/>
                      <a:headEnd type="none" w="med" len="med"/>
                      <a:tailEnd type="none" w="med" len="med"/>
                    </a:lnL>
                    <a:lnR w="6350" cap="flat" cmpd="sng" algn="ctr">
                      <a:solidFill>
                        <a:srgbClr val="C5D8D8"/>
                      </a:solidFill>
                      <a:prstDash val="solid"/>
                      <a:round/>
                      <a:headEnd type="none" w="med" len="med"/>
                      <a:tailEnd type="none" w="med" len="med"/>
                    </a:lnR>
                    <a:lnT w="6350" cap="flat" cmpd="sng" algn="ctr">
                      <a:solidFill>
                        <a:srgbClr val="C5D8D8"/>
                      </a:solidFill>
                      <a:prstDash val="solid"/>
                      <a:round/>
                      <a:headEnd type="none" w="med" len="med"/>
                      <a:tailEnd type="none" w="med" len="med"/>
                    </a:lnT>
                    <a:lnB w="6350" cap="flat" cmpd="sng" algn="ctr">
                      <a:solidFill>
                        <a:srgbClr val="C5D8D8"/>
                      </a:solidFill>
                      <a:prstDash val="solid"/>
                      <a:round/>
                      <a:headEnd type="none" w="med" len="med"/>
                      <a:tailEnd type="none" w="med" len="med"/>
                    </a:lnB>
                  </a:tcPr>
                </a:tc>
                <a:tc>
                  <a:txBody>
                    <a:bodyPr/>
                    <a:lstStyle/>
                    <a:p>
                      <a:pPr marL="0" indent="0" algn="ctr">
                        <a:buNone/>
                      </a:pPr>
                      <a:r>
                        <a:rPr lang="en-US" sz="900" b="1" dirty="0">
                          <a:solidFill>
                            <a:srgbClr val="0A595F"/>
                          </a:solidFill>
                          <a:latin typeface="Calibri" pitchFamily="34" charset="0"/>
                          <a:ea typeface="Calibri" pitchFamily="34" charset="-122"/>
                          <a:cs typeface="Calibri" pitchFamily="34" charset="-120"/>
                        </a:rPr>
                        <a:t>A</a:t>
                      </a:r>
                      <a:endParaRPr lang="en-US" sz="900" dirty="0">
                        <a:latin typeface="Calibri" charset="0"/>
                        <a:ea typeface="Calibri" charset="0"/>
                        <a:cs typeface="Calibri" charset="0"/>
                      </a:endParaRPr>
                    </a:p>
                  </a:txBody>
                  <a:tcPr anchor="ctr">
                    <a:lnL w="6350" cap="flat" cmpd="sng" algn="ctr">
                      <a:solidFill>
                        <a:srgbClr val="C5D8D8"/>
                      </a:solidFill>
                      <a:prstDash val="solid"/>
                      <a:round/>
                      <a:headEnd type="none" w="med" len="med"/>
                      <a:tailEnd type="none" w="med" len="med"/>
                    </a:lnL>
                    <a:lnR w="6350" cap="flat" cmpd="sng" algn="ctr">
                      <a:solidFill>
                        <a:srgbClr val="C5D8D8"/>
                      </a:solidFill>
                      <a:prstDash val="solid"/>
                      <a:round/>
                      <a:headEnd type="none" w="med" len="med"/>
                      <a:tailEnd type="none" w="med" len="med"/>
                    </a:lnR>
                    <a:lnT w="6350" cap="flat" cmpd="sng" algn="ctr">
                      <a:solidFill>
                        <a:srgbClr val="C5D8D8"/>
                      </a:solidFill>
                      <a:prstDash val="solid"/>
                      <a:round/>
                      <a:headEnd type="none" w="med" len="med"/>
                      <a:tailEnd type="none" w="med" len="med"/>
                    </a:lnT>
                    <a:lnB w="6350" cap="flat" cmpd="sng" algn="ctr">
                      <a:solidFill>
                        <a:srgbClr val="C5D8D8"/>
                      </a:solidFill>
                      <a:prstDash val="solid"/>
                      <a:round/>
                      <a:headEnd type="none" w="med" len="med"/>
                      <a:tailEnd type="none" w="med" len="med"/>
                    </a:lnB>
                  </a:tcPr>
                </a:tc>
                <a:tc>
                  <a:txBody>
                    <a:bodyPr/>
                    <a:lstStyle/>
                    <a:p>
                      <a:pPr marL="0" indent="0">
                        <a:buNone/>
                      </a:pPr>
                      <a:r>
                        <a:rPr lang="en-US" sz="850" dirty="0">
                          <a:solidFill>
                            <a:srgbClr val="64748B"/>
                          </a:solidFill>
                          <a:latin typeface="Calibri" pitchFamily="34" charset="0"/>
                          <a:ea typeface="Calibri" pitchFamily="34" charset="-122"/>
                          <a:cs typeface="Calibri" pitchFamily="34" charset="-120"/>
                        </a:rPr>
                        <a:t>Policy documents review in detail</a:t>
                      </a:r>
                      <a:endParaRPr lang="en-US" sz="850" dirty="0">
                        <a:latin typeface="Calibri" charset="0"/>
                        <a:ea typeface="Calibri" charset="0"/>
                        <a:cs typeface="Calibri" charset="0"/>
                      </a:endParaRPr>
                    </a:p>
                  </a:txBody>
                  <a:tcPr anchor="ctr">
                    <a:lnL w="6350" cap="flat" cmpd="sng" algn="ctr">
                      <a:solidFill>
                        <a:srgbClr val="C5D8D8"/>
                      </a:solidFill>
                      <a:prstDash val="solid"/>
                      <a:round/>
                      <a:headEnd type="none" w="med" len="med"/>
                      <a:tailEnd type="none" w="med" len="med"/>
                    </a:lnL>
                    <a:lnR w="6350" cap="flat" cmpd="sng" algn="ctr">
                      <a:solidFill>
                        <a:srgbClr val="C5D8D8"/>
                      </a:solidFill>
                      <a:prstDash val="solid"/>
                      <a:round/>
                      <a:headEnd type="none" w="med" len="med"/>
                      <a:tailEnd type="none" w="med" len="med"/>
                    </a:lnR>
                    <a:lnT w="6350" cap="flat" cmpd="sng" algn="ctr">
                      <a:solidFill>
                        <a:srgbClr val="C5D8D8"/>
                      </a:solidFill>
                      <a:prstDash val="solid"/>
                      <a:round/>
                      <a:headEnd type="none" w="med" len="med"/>
                      <a:tailEnd type="none" w="med" len="med"/>
                    </a:lnT>
                    <a:lnB w="6350" cap="flat" cmpd="sng" algn="ctr">
                      <a:solidFill>
                        <a:srgbClr val="C5D8D8"/>
                      </a:solidFill>
                      <a:prstDash val="solid"/>
                      <a:round/>
                      <a:headEnd type="none" w="med" len="med"/>
                      <a:tailEnd type="none" w="med" len="med"/>
                    </a:lnB>
                  </a:tcPr>
                </a:tc>
                <a:extLst>
                  <a:ext uri="{0D108BD9-81ED-4DB2-BD59-A6C34878D82A}">
                    <a16:rowId xmlns:a16="http://schemas.microsoft.com/office/drawing/2014/main" val="10006"/>
                  </a:ext>
                </a:extLst>
              </a:tr>
              <a:tr h="0">
                <a:tc>
                  <a:txBody>
                    <a:bodyPr/>
                    <a:lstStyle/>
                    <a:p>
                      <a:pPr marL="0" indent="0">
                        <a:buNone/>
                      </a:pPr>
                      <a:r>
                        <a:rPr lang="en-US" sz="900" dirty="0">
                          <a:solidFill>
                            <a:srgbClr val="334155"/>
                          </a:solidFill>
                          <a:latin typeface="Calibri" pitchFamily="34" charset="0"/>
                          <a:ea typeface="Calibri" pitchFamily="34" charset="-122"/>
                          <a:cs typeface="Calibri" pitchFamily="34" charset="-120"/>
                        </a:rPr>
                        <a:t>Aug 2026</a:t>
                      </a:r>
                      <a:endParaRPr lang="en-US" sz="900" dirty="0">
                        <a:latin typeface="Calibri" charset="0"/>
                        <a:ea typeface="Calibri" charset="0"/>
                        <a:cs typeface="Calibri" charset="0"/>
                      </a:endParaRPr>
                    </a:p>
                  </a:txBody>
                  <a:tcPr anchor="ctr">
                    <a:lnL w="6350" cap="flat" cmpd="sng" algn="ctr">
                      <a:solidFill>
                        <a:srgbClr val="C5D8D8"/>
                      </a:solidFill>
                      <a:prstDash val="solid"/>
                      <a:round/>
                      <a:headEnd type="none" w="med" len="med"/>
                      <a:tailEnd type="none" w="med" len="med"/>
                    </a:lnL>
                    <a:lnR w="6350" cap="flat" cmpd="sng" algn="ctr">
                      <a:solidFill>
                        <a:srgbClr val="C5D8D8"/>
                      </a:solidFill>
                      <a:prstDash val="solid"/>
                      <a:round/>
                      <a:headEnd type="none" w="med" len="med"/>
                      <a:tailEnd type="none" w="med" len="med"/>
                    </a:lnR>
                    <a:lnT w="6350" cap="flat" cmpd="sng" algn="ctr">
                      <a:solidFill>
                        <a:srgbClr val="C5D8D8"/>
                      </a:solidFill>
                      <a:prstDash val="solid"/>
                      <a:round/>
                      <a:headEnd type="none" w="med" len="med"/>
                      <a:tailEnd type="none" w="med" len="med"/>
                    </a:lnT>
                    <a:lnB w="6350" cap="flat" cmpd="sng" algn="ctr">
                      <a:solidFill>
                        <a:srgbClr val="C5D8D8"/>
                      </a:solidFill>
                      <a:prstDash val="solid"/>
                      <a:round/>
                      <a:headEnd type="none" w="med" len="med"/>
                      <a:tailEnd type="none" w="med" len="med"/>
                    </a:lnB>
                  </a:tcPr>
                </a:tc>
                <a:tc>
                  <a:txBody>
                    <a:bodyPr/>
                    <a:lstStyle/>
                    <a:p>
                      <a:pPr marL="0" indent="0">
                        <a:buNone/>
                      </a:pPr>
                      <a:r>
                        <a:rPr lang="en-US" sz="950" b="1" dirty="0">
                          <a:solidFill>
                            <a:srgbClr val="00414D"/>
                          </a:solidFill>
                          <a:latin typeface="Calibri" pitchFamily="34" charset="0"/>
                          <a:ea typeface="Calibri" pitchFamily="34" charset="-122"/>
                          <a:cs typeface="Calibri" pitchFamily="34" charset="-120"/>
                        </a:rPr>
                        <a:t>Final Package + Handover</a:t>
                      </a:r>
                      <a:endParaRPr lang="en-US" sz="950" dirty="0">
                        <a:latin typeface="Calibri" charset="0"/>
                        <a:ea typeface="Calibri" charset="0"/>
                        <a:cs typeface="Calibri" charset="0"/>
                      </a:endParaRPr>
                    </a:p>
                  </a:txBody>
                  <a:tcPr anchor="ctr">
                    <a:lnL w="6350" cap="flat" cmpd="sng" algn="ctr">
                      <a:solidFill>
                        <a:srgbClr val="C5D8D8"/>
                      </a:solidFill>
                      <a:prstDash val="solid"/>
                      <a:round/>
                      <a:headEnd type="none" w="med" len="med"/>
                      <a:tailEnd type="none" w="med" len="med"/>
                    </a:lnL>
                    <a:lnR w="6350" cap="flat" cmpd="sng" algn="ctr">
                      <a:solidFill>
                        <a:srgbClr val="C5D8D8"/>
                      </a:solidFill>
                      <a:prstDash val="solid"/>
                      <a:round/>
                      <a:headEnd type="none" w="med" len="med"/>
                      <a:tailEnd type="none" w="med" len="med"/>
                    </a:lnR>
                    <a:lnT w="6350" cap="flat" cmpd="sng" algn="ctr">
                      <a:solidFill>
                        <a:srgbClr val="C5D8D8"/>
                      </a:solidFill>
                      <a:prstDash val="solid"/>
                      <a:round/>
                      <a:headEnd type="none" w="med" len="med"/>
                      <a:tailEnd type="none" w="med" len="med"/>
                    </a:lnT>
                    <a:lnB w="6350" cap="flat" cmpd="sng" algn="ctr">
                      <a:solidFill>
                        <a:srgbClr val="C5D8D8"/>
                      </a:solidFill>
                      <a:prstDash val="solid"/>
                      <a:round/>
                      <a:headEnd type="none" w="med" len="med"/>
                      <a:tailEnd type="none" w="med" len="med"/>
                    </a:lnB>
                  </a:tcPr>
                </a:tc>
                <a:tc>
                  <a:txBody>
                    <a:bodyPr/>
                    <a:lstStyle/>
                    <a:p>
                      <a:pPr marL="0" indent="0" algn="ctr">
                        <a:buNone/>
                      </a:pPr>
                      <a:r>
                        <a:rPr lang="en-US" sz="900" b="1" dirty="0">
                          <a:solidFill>
                            <a:srgbClr val="0A595F"/>
                          </a:solidFill>
                          <a:latin typeface="Calibri" pitchFamily="34" charset="0"/>
                          <a:ea typeface="Calibri" pitchFamily="34" charset="-122"/>
                          <a:cs typeface="Calibri" pitchFamily="34" charset="-120"/>
                        </a:rPr>
                        <a:t>A</a:t>
                      </a:r>
                      <a:endParaRPr lang="en-US" sz="900" dirty="0">
                        <a:latin typeface="Calibri" charset="0"/>
                        <a:ea typeface="Calibri" charset="0"/>
                        <a:cs typeface="Calibri" charset="0"/>
                      </a:endParaRPr>
                    </a:p>
                  </a:txBody>
                  <a:tcPr anchor="ctr">
                    <a:lnL w="6350" cap="flat" cmpd="sng" algn="ctr">
                      <a:solidFill>
                        <a:srgbClr val="C5D8D8"/>
                      </a:solidFill>
                      <a:prstDash val="solid"/>
                      <a:round/>
                      <a:headEnd type="none" w="med" len="med"/>
                      <a:tailEnd type="none" w="med" len="med"/>
                    </a:lnL>
                    <a:lnR w="6350" cap="flat" cmpd="sng" algn="ctr">
                      <a:solidFill>
                        <a:srgbClr val="C5D8D8"/>
                      </a:solidFill>
                      <a:prstDash val="solid"/>
                      <a:round/>
                      <a:headEnd type="none" w="med" len="med"/>
                      <a:tailEnd type="none" w="med" len="med"/>
                    </a:lnR>
                    <a:lnT w="6350" cap="flat" cmpd="sng" algn="ctr">
                      <a:solidFill>
                        <a:srgbClr val="C5D8D8"/>
                      </a:solidFill>
                      <a:prstDash val="solid"/>
                      <a:round/>
                      <a:headEnd type="none" w="med" len="med"/>
                      <a:tailEnd type="none" w="med" len="med"/>
                    </a:lnT>
                    <a:lnB w="6350" cap="flat" cmpd="sng" algn="ctr">
                      <a:solidFill>
                        <a:srgbClr val="C5D8D8"/>
                      </a:solidFill>
                      <a:prstDash val="solid"/>
                      <a:round/>
                      <a:headEnd type="none" w="med" len="med"/>
                      <a:tailEnd type="none" w="med" len="med"/>
                    </a:lnB>
                  </a:tcPr>
                </a:tc>
                <a:tc>
                  <a:txBody>
                    <a:bodyPr/>
                    <a:lstStyle/>
                    <a:p>
                      <a:pPr marL="0" indent="0">
                        <a:buNone/>
                      </a:pPr>
                      <a:r>
                        <a:rPr lang="en-US" sz="850" dirty="0">
                          <a:solidFill>
                            <a:srgbClr val="64748B"/>
                          </a:solidFill>
                          <a:latin typeface="Calibri" pitchFamily="34" charset="0"/>
                          <a:ea typeface="Calibri" pitchFamily="34" charset="-122"/>
                          <a:cs typeface="Calibri" pitchFamily="34" charset="-120"/>
                        </a:rPr>
                        <a:t>Complete reproducible run packages</a:t>
                      </a:r>
                      <a:endParaRPr lang="en-US" sz="850" dirty="0">
                        <a:latin typeface="Calibri" charset="0"/>
                        <a:ea typeface="Calibri" charset="0"/>
                        <a:cs typeface="Calibri" charset="0"/>
                      </a:endParaRPr>
                    </a:p>
                  </a:txBody>
                  <a:tcPr anchor="ctr">
                    <a:lnL w="6350" cap="flat" cmpd="sng" algn="ctr">
                      <a:solidFill>
                        <a:srgbClr val="C5D8D8"/>
                      </a:solidFill>
                      <a:prstDash val="solid"/>
                      <a:round/>
                      <a:headEnd type="none" w="med" len="med"/>
                      <a:tailEnd type="none" w="med" len="med"/>
                    </a:lnL>
                    <a:lnR w="6350" cap="flat" cmpd="sng" algn="ctr">
                      <a:solidFill>
                        <a:srgbClr val="C5D8D8"/>
                      </a:solidFill>
                      <a:prstDash val="solid"/>
                      <a:round/>
                      <a:headEnd type="none" w="med" len="med"/>
                      <a:tailEnd type="none" w="med" len="med"/>
                    </a:lnR>
                    <a:lnT w="6350" cap="flat" cmpd="sng" algn="ctr">
                      <a:solidFill>
                        <a:srgbClr val="C5D8D8"/>
                      </a:solidFill>
                      <a:prstDash val="solid"/>
                      <a:round/>
                      <a:headEnd type="none" w="med" len="med"/>
                      <a:tailEnd type="none" w="med" len="med"/>
                    </a:lnT>
                    <a:lnB w="6350" cap="flat" cmpd="sng" algn="ctr">
                      <a:solidFill>
                        <a:srgbClr val="C5D8D8"/>
                      </a:solidFill>
                      <a:prstDash val="solid"/>
                      <a:round/>
                      <a:headEnd type="none" w="med" len="med"/>
                      <a:tailEnd type="none" w="med" len="med"/>
                    </a:lnB>
                  </a:tcPr>
                </a:tc>
                <a:extLst>
                  <a:ext uri="{0D108BD9-81ED-4DB2-BD59-A6C34878D82A}">
                    <a16:rowId xmlns:a16="http://schemas.microsoft.com/office/drawing/2014/main" val="10007"/>
                  </a:ext>
                </a:extLst>
              </a:tr>
              <a:tr h="0">
                <a:tc>
                  <a:txBody>
                    <a:bodyPr/>
                    <a:lstStyle/>
                    <a:p>
                      <a:pPr marL="0" indent="0">
                        <a:buNone/>
                      </a:pPr>
                      <a:r>
                        <a:rPr lang="en-US" sz="900" dirty="0">
                          <a:solidFill>
                            <a:srgbClr val="334155"/>
                          </a:solidFill>
                          <a:latin typeface="Calibri" pitchFamily="34" charset="0"/>
                          <a:ea typeface="Calibri" pitchFamily="34" charset="-122"/>
                          <a:cs typeface="Calibri" pitchFamily="34" charset="-120"/>
                        </a:rPr>
                        <a:t>Sep 2026</a:t>
                      </a:r>
                      <a:endParaRPr lang="en-US" sz="900" dirty="0">
                        <a:latin typeface="Calibri" charset="0"/>
                        <a:ea typeface="Calibri" charset="0"/>
                        <a:cs typeface="Calibri" charset="0"/>
                      </a:endParaRPr>
                    </a:p>
                  </a:txBody>
                  <a:tcPr anchor="ctr">
                    <a:lnL w="6350" cap="flat" cmpd="sng" algn="ctr">
                      <a:solidFill>
                        <a:srgbClr val="C5D8D8"/>
                      </a:solidFill>
                      <a:prstDash val="solid"/>
                      <a:round/>
                      <a:headEnd type="none" w="med" len="med"/>
                      <a:tailEnd type="none" w="med" len="med"/>
                    </a:lnL>
                    <a:lnR w="6350" cap="flat" cmpd="sng" algn="ctr">
                      <a:solidFill>
                        <a:srgbClr val="C5D8D8"/>
                      </a:solidFill>
                      <a:prstDash val="solid"/>
                      <a:round/>
                      <a:headEnd type="none" w="med" len="med"/>
                      <a:tailEnd type="none" w="med" len="med"/>
                    </a:lnR>
                    <a:lnT w="6350" cap="flat" cmpd="sng" algn="ctr">
                      <a:solidFill>
                        <a:srgbClr val="C5D8D8"/>
                      </a:solidFill>
                      <a:prstDash val="solid"/>
                      <a:round/>
                      <a:headEnd type="none" w="med" len="med"/>
                      <a:tailEnd type="none" w="med" len="med"/>
                    </a:lnT>
                    <a:lnB w="6350" cap="flat" cmpd="sng" algn="ctr">
                      <a:solidFill>
                        <a:srgbClr val="C5D8D8"/>
                      </a:solidFill>
                      <a:prstDash val="solid"/>
                      <a:round/>
                      <a:headEnd type="none" w="med" len="med"/>
                      <a:tailEnd type="none" w="med" len="med"/>
                    </a:lnB>
                  </a:tcPr>
                </a:tc>
                <a:tc>
                  <a:txBody>
                    <a:bodyPr/>
                    <a:lstStyle/>
                    <a:p>
                      <a:pPr marL="0" indent="0">
                        <a:buNone/>
                      </a:pPr>
                      <a:r>
                        <a:rPr lang="en-US" sz="950" b="1" dirty="0">
                          <a:solidFill>
                            <a:srgbClr val="00414D"/>
                          </a:solidFill>
                          <a:latin typeface="Calibri" pitchFamily="34" charset="0"/>
                          <a:ea typeface="Calibri" pitchFamily="34" charset="-122"/>
                          <a:cs typeface="Calibri" pitchFamily="34" charset="-120"/>
                        </a:rPr>
                        <a:t>Policy Compatibility Report</a:t>
                      </a:r>
                      <a:endParaRPr lang="en-US" sz="950" dirty="0">
                        <a:latin typeface="Calibri" charset="0"/>
                        <a:ea typeface="Calibri" charset="0"/>
                        <a:cs typeface="Calibri" charset="0"/>
                      </a:endParaRPr>
                    </a:p>
                  </a:txBody>
                  <a:tcPr anchor="ctr">
                    <a:lnL w="6350" cap="flat" cmpd="sng" algn="ctr">
                      <a:solidFill>
                        <a:srgbClr val="C5D8D8"/>
                      </a:solidFill>
                      <a:prstDash val="solid"/>
                      <a:round/>
                      <a:headEnd type="none" w="med" len="med"/>
                      <a:tailEnd type="none" w="med" len="med"/>
                    </a:lnL>
                    <a:lnR w="6350" cap="flat" cmpd="sng" algn="ctr">
                      <a:solidFill>
                        <a:srgbClr val="C5D8D8"/>
                      </a:solidFill>
                      <a:prstDash val="solid"/>
                      <a:round/>
                      <a:headEnd type="none" w="med" len="med"/>
                      <a:tailEnd type="none" w="med" len="med"/>
                    </a:lnR>
                    <a:lnT w="6350" cap="flat" cmpd="sng" algn="ctr">
                      <a:solidFill>
                        <a:srgbClr val="C5D8D8"/>
                      </a:solidFill>
                      <a:prstDash val="solid"/>
                      <a:round/>
                      <a:headEnd type="none" w="med" len="med"/>
                      <a:tailEnd type="none" w="med" len="med"/>
                    </a:lnT>
                    <a:lnB w="6350" cap="flat" cmpd="sng" algn="ctr">
                      <a:solidFill>
                        <a:srgbClr val="C5D8D8"/>
                      </a:solidFill>
                      <a:prstDash val="solid"/>
                      <a:round/>
                      <a:headEnd type="none" w="med" len="med"/>
                      <a:tailEnd type="none" w="med" len="med"/>
                    </a:lnB>
                  </a:tcPr>
                </a:tc>
                <a:tc>
                  <a:txBody>
                    <a:bodyPr/>
                    <a:lstStyle/>
                    <a:p>
                      <a:pPr marL="0" indent="0" algn="ctr">
                        <a:buNone/>
                      </a:pPr>
                      <a:r>
                        <a:rPr lang="en-US" sz="900" b="1" dirty="0">
                          <a:solidFill>
                            <a:srgbClr val="F4A940"/>
                          </a:solidFill>
                          <a:latin typeface="Calibri" pitchFamily="34" charset="0"/>
                          <a:ea typeface="Calibri" pitchFamily="34" charset="-122"/>
                          <a:cs typeface="Calibri" pitchFamily="34" charset="-120"/>
                        </a:rPr>
                        <a:t>B</a:t>
                      </a:r>
                      <a:endParaRPr lang="en-US" sz="900" dirty="0">
                        <a:latin typeface="Calibri" charset="0"/>
                        <a:ea typeface="Calibri" charset="0"/>
                        <a:cs typeface="Calibri" charset="0"/>
                      </a:endParaRPr>
                    </a:p>
                  </a:txBody>
                  <a:tcPr anchor="ctr">
                    <a:lnL w="6350" cap="flat" cmpd="sng" algn="ctr">
                      <a:solidFill>
                        <a:srgbClr val="C5D8D8"/>
                      </a:solidFill>
                      <a:prstDash val="solid"/>
                      <a:round/>
                      <a:headEnd type="none" w="med" len="med"/>
                      <a:tailEnd type="none" w="med" len="med"/>
                    </a:lnL>
                    <a:lnR w="6350" cap="flat" cmpd="sng" algn="ctr">
                      <a:solidFill>
                        <a:srgbClr val="C5D8D8"/>
                      </a:solidFill>
                      <a:prstDash val="solid"/>
                      <a:round/>
                      <a:headEnd type="none" w="med" len="med"/>
                      <a:tailEnd type="none" w="med" len="med"/>
                    </a:lnR>
                    <a:lnT w="6350" cap="flat" cmpd="sng" algn="ctr">
                      <a:solidFill>
                        <a:srgbClr val="C5D8D8"/>
                      </a:solidFill>
                      <a:prstDash val="solid"/>
                      <a:round/>
                      <a:headEnd type="none" w="med" len="med"/>
                      <a:tailEnd type="none" w="med" len="med"/>
                    </a:lnT>
                    <a:lnB w="6350" cap="flat" cmpd="sng" algn="ctr">
                      <a:solidFill>
                        <a:srgbClr val="C5D8D8"/>
                      </a:solidFill>
                      <a:prstDash val="solid"/>
                      <a:round/>
                      <a:headEnd type="none" w="med" len="med"/>
                      <a:tailEnd type="none" w="med" len="med"/>
                    </a:lnB>
                  </a:tcPr>
                </a:tc>
                <a:tc>
                  <a:txBody>
                    <a:bodyPr/>
                    <a:lstStyle/>
                    <a:p>
                      <a:pPr marL="0" indent="0">
                        <a:buNone/>
                      </a:pPr>
                      <a:r>
                        <a:rPr lang="en-US" sz="850" dirty="0">
                          <a:solidFill>
                            <a:srgbClr val="64748B"/>
                          </a:solidFill>
                          <a:latin typeface="Calibri" pitchFamily="34" charset="0"/>
                          <a:ea typeface="Calibri" pitchFamily="34" charset="-122"/>
                          <a:cs typeface="Calibri" pitchFamily="34" charset="-120"/>
                        </a:rPr>
                        <a:t>Subregional modeling compatibility synthesis</a:t>
                      </a:r>
                      <a:endParaRPr lang="en-US" sz="850" dirty="0">
                        <a:latin typeface="Calibri" charset="0"/>
                        <a:ea typeface="Calibri" charset="0"/>
                        <a:cs typeface="Calibri" charset="0"/>
                      </a:endParaRPr>
                    </a:p>
                  </a:txBody>
                  <a:tcPr anchor="ctr">
                    <a:lnL w="6350" cap="flat" cmpd="sng" algn="ctr">
                      <a:solidFill>
                        <a:srgbClr val="C5D8D8"/>
                      </a:solidFill>
                      <a:prstDash val="solid"/>
                      <a:round/>
                      <a:headEnd type="none" w="med" len="med"/>
                      <a:tailEnd type="none" w="med" len="med"/>
                    </a:lnL>
                    <a:lnR w="6350" cap="flat" cmpd="sng" algn="ctr">
                      <a:solidFill>
                        <a:srgbClr val="C5D8D8"/>
                      </a:solidFill>
                      <a:prstDash val="solid"/>
                      <a:round/>
                      <a:headEnd type="none" w="med" len="med"/>
                      <a:tailEnd type="none" w="med" len="med"/>
                    </a:lnR>
                    <a:lnT w="6350" cap="flat" cmpd="sng" algn="ctr">
                      <a:solidFill>
                        <a:srgbClr val="C5D8D8"/>
                      </a:solidFill>
                      <a:prstDash val="solid"/>
                      <a:round/>
                      <a:headEnd type="none" w="med" len="med"/>
                      <a:tailEnd type="none" w="med" len="med"/>
                    </a:lnT>
                    <a:lnB w="6350" cap="flat" cmpd="sng" algn="ctr">
                      <a:solidFill>
                        <a:srgbClr val="C5D8D8"/>
                      </a:solidFill>
                      <a:prstDash val="solid"/>
                      <a:round/>
                      <a:headEnd type="none" w="med" len="med"/>
                      <a:tailEnd type="none" w="med" len="med"/>
                    </a:lnB>
                  </a:tcPr>
                </a:tc>
                <a:extLst>
                  <a:ext uri="{0D108BD9-81ED-4DB2-BD59-A6C34878D82A}">
                    <a16:rowId xmlns:a16="http://schemas.microsoft.com/office/drawing/2014/main" val="10008"/>
                  </a:ext>
                </a:extLst>
              </a:tr>
            </a:tbl>
          </a:graphicData>
        </a:graphic>
      </p:graphicFrame>
      <p:sp>
        <p:nvSpPr>
          <p:cNvPr id="4" name="Text 1"/>
          <p:cNvSpPr/>
          <p:nvPr/>
        </p:nvSpPr>
        <p:spPr>
          <a:xfrm>
            <a:off x="457200" y="4206240"/>
            <a:ext cx="8229600" cy="228600"/>
          </a:xfrm>
          <a:prstGeom prst="rect">
            <a:avLst/>
          </a:prstGeom>
          <a:noFill/>
          <a:ln/>
        </p:spPr>
        <p:txBody>
          <a:bodyPr wrap="square" lIns="0" tIns="0" rIns="0" bIns="0" rtlCol="0" anchor="ctr"/>
          <a:lstStyle/>
          <a:p>
            <a:pPr marL="0" indent="0">
              <a:buNone/>
            </a:pPr>
            <a:r>
              <a:rPr lang="en-US" sz="1000" i="1" dirty="0">
                <a:solidFill>
                  <a:srgbClr val="64748B"/>
                </a:solidFill>
                <a:latin typeface="Calibri" pitchFamily="34" charset="0"/>
                <a:ea typeface="Calibri" pitchFamily="34" charset="-122"/>
                <a:cs typeface="Calibri" pitchFamily="34" charset="-120"/>
              </a:rPr>
              <a:t>Original milestone dates preserved — contingency planning preferred over slippage.</a:t>
            </a:r>
            <a:endParaRPr lang="en-US" sz="1000" dirty="0"/>
          </a:p>
        </p:txBody>
      </p:sp>
      <p:sp>
        <p:nvSpPr>
          <p:cNvPr id="5" name="Shape 2"/>
          <p:cNvSpPr/>
          <p:nvPr/>
        </p:nvSpPr>
        <p:spPr>
          <a:xfrm>
            <a:off x="0" y="4709160"/>
            <a:ext cx="9144000" cy="434340"/>
          </a:xfrm>
          <a:prstGeom prst="rect">
            <a:avLst/>
          </a:prstGeom>
          <a:solidFill>
            <a:srgbClr val="00414D"/>
          </a:solidFill>
          <a:ln/>
        </p:spPr>
        <p:txBody>
          <a:bodyPr/>
          <a:lstStyle/>
          <a:p>
            <a:endParaRPr lang="LID4096"/>
          </a:p>
        </p:txBody>
      </p:sp>
      <p:sp>
        <p:nvSpPr>
          <p:cNvPr id="6" name="Text 3"/>
          <p:cNvSpPr/>
          <p:nvPr/>
        </p:nvSpPr>
        <p:spPr>
          <a:xfrm>
            <a:off x="457200" y="4727448"/>
            <a:ext cx="8229600" cy="393192"/>
          </a:xfrm>
          <a:prstGeom prst="rect">
            <a:avLst/>
          </a:prstGeom>
          <a:noFill/>
          <a:ln/>
        </p:spPr>
        <p:txBody>
          <a:bodyPr wrap="square" rtlCol="0" anchor="ctr"/>
          <a:lstStyle/>
          <a:p>
            <a:pPr marL="0" indent="0">
              <a:buNone/>
            </a:pPr>
            <a:r>
              <a:rPr lang="en-US" sz="800" dirty="0">
                <a:solidFill>
                  <a:srgbClr val="64748B"/>
                </a:solidFill>
                <a:latin typeface="Calibri" pitchFamily="34" charset="0"/>
                <a:ea typeface="Calibri" pitchFamily="34" charset="-122"/>
                <a:cs typeface="Calibri" pitchFamily="34" charset="-120"/>
              </a:rPr>
              <a:t>OSTRAM — Data Package v1.0  |  UN ESCAP Energy Division  |  March 2026</a:t>
            </a:r>
            <a:endParaRPr lang="en-US" sz="8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00414D"/>
        </a:solidFill>
        <a:effectLst/>
      </p:bgPr>
    </p:bg>
    <p:spTree>
      <p:nvGrpSpPr>
        <p:cNvPr id="1" name="">
          <a:extLst>
            <a:ext uri="{FF2B5EF4-FFF2-40B4-BE49-F238E27FC236}">
              <a16:creationId xmlns:a16="http://schemas.microsoft.com/office/drawing/2014/main" id="{2962A38D-0D8A-18B8-9165-A4A9137A7FDB}"/>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8A4581CD-DC9D-EDDC-19DA-D3C91D914B2B}"/>
              </a:ext>
            </a:extLst>
          </p:cNvPr>
          <p:cNvSpPr/>
          <p:nvPr/>
        </p:nvSpPr>
        <p:spPr>
          <a:xfrm>
            <a:off x="0" y="0"/>
            <a:ext cx="109728" cy="5143500"/>
          </a:xfrm>
          <a:prstGeom prst="rect">
            <a:avLst/>
          </a:prstGeom>
          <a:solidFill>
            <a:srgbClr val="23978E"/>
          </a:solidFill>
          <a:ln/>
        </p:spPr>
        <p:txBody>
          <a:bodyPr/>
          <a:lstStyle/>
          <a:p>
            <a:endParaRPr lang="LID4096"/>
          </a:p>
        </p:txBody>
      </p:sp>
      <p:sp>
        <p:nvSpPr>
          <p:cNvPr id="3" name="Shape 1">
            <a:extLst>
              <a:ext uri="{FF2B5EF4-FFF2-40B4-BE49-F238E27FC236}">
                <a16:creationId xmlns:a16="http://schemas.microsoft.com/office/drawing/2014/main" id="{F09F4F86-AEFA-9675-50B2-19835B184F6E}"/>
              </a:ext>
            </a:extLst>
          </p:cNvPr>
          <p:cNvSpPr/>
          <p:nvPr/>
        </p:nvSpPr>
        <p:spPr>
          <a:xfrm>
            <a:off x="640080" y="914400"/>
            <a:ext cx="2286000" cy="36576"/>
          </a:xfrm>
          <a:prstGeom prst="rect">
            <a:avLst/>
          </a:prstGeom>
          <a:solidFill>
            <a:srgbClr val="23978E"/>
          </a:solidFill>
          <a:ln/>
        </p:spPr>
        <p:txBody>
          <a:bodyPr/>
          <a:lstStyle/>
          <a:p>
            <a:endParaRPr lang="LID4096"/>
          </a:p>
        </p:txBody>
      </p:sp>
      <p:sp>
        <p:nvSpPr>
          <p:cNvPr id="4" name="Text 2">
            <a:extLst>
              <a:ext uri="{FF2B5EF4-FFF2-40B4-BE49-F238E27FC236}">
                <a16:creationId xmlns:a16="http://schemas.microsoft.com/office/drawing/2014/main" id="{48114A0C-E64E-3641-DC0E-40AAAB2DAF86}"/>
              </a:ext>
            </a:extLst>
          </p:cNvPr>
          <p:cNvSpPr/>
          <p:nvPr/>
        </p:nvSpPr>
        <p:spPr>
          <a:xfrm>
            <a:off x="640079" y="1051560"/>
            <a:ext cx="8130077" cy="640080"/>
          </a:xfrm>
          <a:prstGeom prst="rect">
            <a:avLst/>
          </a:prstGeom>
          <a:noFill/>
          <a:ln/>
        </p:spPr>
        <p:txBody>
          <a:bodyPr wrap="square" lIns="0" tIns="0" rIns="0" bIns="0" rtlCol="0" anchor="ctr"/>
          <a:lstStyle/>
          <a:p>
            <a:r>
              <a:rPr lang="en-US" sz="3600" b="1" dirty="0" err="1">
                <a:solidFill>
                  <a:srgbClr val="FFFFFF"/>
                </a:solidFill>
                <a:latin typeface="Georgia" pitchFamily="34" charset="0"/>
                <a:ea typeface="Georgia" pitchFamily="34" charset="-122"/>
                <a:cs typeface="Georgia" pitchFamily="34" charset="-120"/>
              </a:rPr>
              <a:t>OSeMOSYS</a:t>
            </a:r>
            <a:r>
              <a:rPr lang="en-US" sz="3600" b="1" dirty="0">
                <a:solidFill>
                  <a:srgbClr val="FFFFFF"/>
                </a:solidFill>
                <a:latin typeface="Georgia" pitchFamily="34" charset="0"/>
                <a:ea typeface="Georgia" pitchFamily="34" charset="-122"/>
                <a:cs typeface="Georgia" pitchFamily="34" charset="-120"/>
              </a:rPr>
              <a:t> for Transmission</a:t>
            </a:r>
            <a:endParaRPr lang="en-US" sz="3600" dirty="0"/>
          </a:p>
        </p:txBody>
      </p:sp>
      <p:sp>
        <p:nvSpPr>
          <p:cNvPr id="5" name="Text 3">
            <a:extLst>
              <a:ext uri="{FF2B5EF4-FFF2-40B4-BE49-F238E27FC236}">
                <a16:creationId xmlns:a16="http://schemas.microsoft.com/office/drawing/2014/main" id="{7F9891C3-795A-BC74-0B40-985A3768ED66}"/>
              </a:ext>
            </a:extLst>
          </p:cNvPr>
          <p:cNvSpPr/>
          <p:nvPr/>
        </p:nvSpPr>
        <p:spPr>
          <a:xfrm>
            <a:off x="640080" y="1691640"/>
            <a:ext cx="7315200" cy="502920"/>
          </a:xfrm>
          <a:prstGeom prst="rect">
            <a:avLst/>
          </a:prstGeom>
          <a:noFill/>
          <a:ln/>
        </p:spPr>
        <p:txBody>
          <a:bodyPr wrap="square" lIns="0" tIns="0" rIns="0" bIns="0" rtlCol="0" anchor="ctr"/>
          <a:lstStyle/>
          <a:p>
            <a:pPr marL="0" indent="0">
              <a:buNone/>
            </a:pPr>
            <a:r>
              <a:rPr lang="en-US" sz="2800" dirty="0">
                <a:solidFill>
                  <a:srgbClr val="23978E"/>
                </a:solidFill>
                <a:latin typeface="Georgia" pitchFamily="34" charset="0"/>
                <a:ea typeface="Georgia" pitchFamily="34" charset="-122"/>
                <a:cs typeface="Georgia" pitchFamily="34" charset="-120"/>
              </a:rPr>
              <a:t>OSTRAM - Data Package v1.0</a:t>
            </a:r>
            <a:endParaRPr lang="en-US" sz="2800" dirty="0"/>
          </a:p>
        </p:txBody>
      </p:sp>
      <p:sp>
        <p:nvSpPr>
          <p:cNvPr id="6" name="Text 4">
            <a:extLst>
              <a:ext uri="{FF2B5EF4-FFF2-40B4-BE49-F238E27FC236}">
                <a16:creationId xmlns:a16="http://schemas.microsoft.com/office/drawing/2014/main" id="{19CAC1BE-BFC1-EFF6-476C-79B0BA7E77C9}"/>
              </a:ext>
            </a:extLst>
          </p:cNvPr>
          <p:cNvSpPr/>
          <p:nvPr/>
        </p:nvSpPr>
        <p:spPr>
          <a:xfrm>
            <a:off x="640080" y="2331720"/>
            <a:ext cx="7315200" cy="731520"/>
          </a:xfrm>
          <a:prstGeom prst="rect">
            <a:avLst/>
          </a:prstGeom>
          <a:noFill/>
          <a:ln/>
        </p:spPr>
        <p:txBody>
          <a:bodyPr wrap="square" lIns="0" tIns="0" rIns="0" bIns="0" rtlCol="0" anchor="ctr"/>
          <a:lstStyle/>
          <a:p>
            <a:pPr marL="0" indent="0">
              <a:buNone/>
            </a:pPr>
            <a:r>
              <a:rPr lang="en-US" sz="1600" dirty="0">
                <a:solidFill>
                  <a:schemeClr val="bg1"/>
                </a:solidFill>
                <a:latin typeface="Calibri" pitchFamily="34" charset="0"/>
                <a:ea typeface="Calibri" pitchFamily="34" charset="-122"/>
                <a:cs typeface="Calibri" pitchFamily="34" charset="-120"/>
              </a:rPr>
              <a:t>South Asia Power System Connectivity Model</a:t>
            </a:r>
            <a:br>
              <a:rPr lang="en-US" sz="1600" dirty="0">
                <a:solidFill>
                  <a:schemeClr val="bg1"/>
                </a:solidFill>
                <a:latin typeface="Calibri" pitchFamily="34" charset="0"/>
                <a:ea typeface="Calibri" pitchFamily="34" charset="-122"/>
                <a:cs typeface="Calibri" pitchFamily="34" charset="-120"/>
              </a:rPr>
            </a:br>
            <a:br>
              <a:rPr lang="en-US" sz="1600" dirty="0">
                <a:solidFill>
                  <a:schemeClr val="bg1"/>
                </a:solidFill>
                <a:latin typeface="Calibri" pitchFamily="34" charset="0"/>
                <a:ea typeface="Calibri" pitchFamily="34" charset="-122"/>
                <a:cs typeface="Calibri" pitchFamily="34" charset="-120"/>
              </a:rPr>
            </a:br>
            <a:r>
              <a:rPr lang="en-US" sz="1600" dirty="0">
                <a:solidFill>
                  <a:schemeClr val="bg1"/>
                </a:solidFill>
                <a:latin typeface="Calibri" pitchFamily="34" charset="0"/>
                <a:ea typeface="Calibri" pitchFamily="34" charset="-122"/>
                <a:cs typeface="Calibri" pitchFamily="34" charset="-120"/>
              </a:rPr>
              <a:t>Progress update #3</a:t>
            </a:r>
            <a:endParaRPr lang="en-US" sz="1600" dirty="0">
              <a:solidFill>
                <a:schemeClr val="bg1"/>
              </a:solidFill>
            </a:endParaRPr>
          </a:p>
        </p:txBody>
      </p:sp>
      <p:sp>
        <p:nvSpPr>
          <p:cNvPr id="19" name="Text 17">
            <a:extLst>
              <a:ext uri="{FF2B5EF4-FFF2-40B4-BE49-F238E27FC236}">
                <a16:creationId xmlns:a16="http://schemas.microsoft.com/office/drawing/2014/main" id="{F337B8AB-F005-A0F7-E190-74BB5DFEB3BD}"/>
              </a:ext>
            </a:extLst>
          </p:cNvPr>
          <p:cNvSpPr/>
          <p:nvPr/>
        </p:nvSpPr>
        <p:spPr>
          <a:xfrm>
            <a:off x="640080" y="4251960"/>
            <a:ext cx="5486400" cy="320040"/>
          </a:xfrm>
          <a:prstGeom prst="rect">
            <a:avLst/>
          </a:prstGeom>
          <a:noFill/>
          <a:ln/>
        </p:spPr>
        <p:txBody>
          <a:bodyPr wrap="square" lIns="0" tIns="0" rIns="0" bIns="0" rtlCol="0" anchor="ctr"/>
          <a:lstStyle/>
          <a:p>
            <a:pPr marL="0" indent="0">
              <a:buNone/>
            </a:pPr>
            <a:r>
              <a:rPr lang="en-US" sz="1200" dirty="0">
                <a:solidFill>
                  <a:schemeClr val="bg1"/>
                </a:solidFill>
                <a:latin typeface="Calibri" pitchFamily="34" charset="0"/>
                <a:ea typeface="Calibri" pitchFamily="34" charset="-122"/>
                <a:cs typeface="Calibri" pitchFamily="34" charset="-120"/>
              </a:rPr>
              <a:t>UN ESCAP Energy Division</a:t>
            </a:r>
            <a:endParaRPr lang="en-US" sz="1200" dirty="0">
              <a:solidFill>
                <a:schemeClr val="bg1"/>
              </a:solidFill>
            </a:endParaRPr>
          </a:p>
        </p:txBody>
      </p:sp>
      <p:sp>
        <p:nvSpPr>
          <p:cNvPr id="20" name="Text 18">
            <a:extLst>
              <a:ext uri="{FF2B5EF4-FFF2-40B4-BE49-F238E27FC236}">
                <a16:creationId xmlns:a16="http://schemas.microsoft.com/office/drawing/2014/main" id="{CBE9B389-23E0-48AD-2A40-570125FCEFF5}"/>
              </a:ext>
            </a:extLst>
          </p:cNvPr>
          <p:cNvSpPr/>
          <p:nvPr/>
        </p:nvSpPr>
        <p:spPr>
          <a:xfrm>
            <a:off x="640080" y="4526280"/>
            <a:ext cx="2743200" cy="274320"/>
          </a:xfrm>
          <a:prstGeom prst="rect">
            <a:avLst/>
          </a:prstGeom>
          <a:noFill/>
          <a:ln/>
        </p:spPr>
        <p:txBody>
          <a:bodyPr wrap="square" lIns="0" tIns="0" rIns="0" bIns="0" rtlCol="0" anchor="ctr"/>
          <a:lstStyle/>
          <a:p>
            <a:pPr marL="0" indent="0">
              <a:buNone/>
            </a:pPr>
            <a:r>
              <a:rPr lang="en-US" sz="1100" dirty="0">
                <a:solidFill>
                  <a:schemeClr val="bg1"/>
                </a:solidFill>
                <a:latin typeface="Calibri" pitchFamily="34" charset="0"/>
                <a:ea typeface="Calibri" pitchFamily="34" charset="-122"/>
                <a:cs typeface="Calibri" pitchFamily="34" charset="-120"/>
              </a:rPr>
              <a:t>March 12</a:t>
            </a:r>
            <a:r>
              <a:rPr lang="en-US" sz="1100" baseline="30000" dirty="0">
                <a:solidFill>
                  <a:schemeClr val="bg1"/>
                </a:solidFill>
                <a:latin typeface="Calibri" pitchFamily="34" charset="0"/>
                <a:ea typeface="Calibri" pitchFamily="34" charset="-122"/>
                <a:cs typeface="Calibri" pitchFamily="34" charset="-120"/>
              </a:rPr>
              <a:t>th</a:t>
            </a:r>
            <a:r>
              <a:rPr lang="en-US" sz="1100" dirty="0">
                <a:solidFill>
                  <a:schemeClr val="bg1"/>
                </a:solidFill>
                <a:latin typeface="Calibri" pitchFamily="34" charset="0"/>
                <a:ea typeface="Calibri" pitchFamily="34" charset="-122"/>
                <a:cs typeface="Calibri" pitchFamily="34" charset="-120"/>
              </a:rPr>
              <a:t>, 2026</a:t>
            </a:r>
            <a:endParaRPr lang="en-US" sz="1100" dirty="0">
              <a:solidFill>
                <a:schemeClr val="bg1"/>
              </a:solidFill>
            </a:endParaRPr>
          </a:p>
        </p:txBody>
      </p:sp>
      <p:sp>
        <p:nvSpPr>
          <p:cNvPr id="21" name="Text 4">
            <a:extLst>
              <a:ext uri="{FF2B5EF4-FFF2-40B4-BE49-F238E27FC236}">
                <a16:creationId xmlns:a16="http://schemas.microsoft.com/office/drawing/2014/main" id="{75557E2C-9CE7-4B55-9B05-5719602DBC41}"/>
              </a:ext>
            </a:extLst>
          </p:cNvPr>
          <p:cNvSpPr/>
          <p:nvPr/>
        </p:nvSpPr>
        <p:spPr>
          <a:xfrm>
            <a:off x="640080" y="3200400"/>
            <a:ext cx="7315200" cy="822960"/>
          </a:xfrm>
          <a:prstGeom prst="rect">
            <a:avLst/>
          </a:prstGeom>
          <a:noFill/>
          <a:ln/>
        </p:spPr>
        <p:txBody>
          <a:bodyPr wrap="square" lIns="0" tIns="0" rIns="0" bIns="0" rtlCol="0" anchor="ctr"/>
          <a:lstStyle/>
          <a:p>
            <a:pPr marL="0" indent="0">
              <a:buNone/>
            </a:pPr>
            <a:r>
              <a:rPr lang="en-US" sz="1300" dirty="0">
                <a:solidFill>
                  <a:schemeClr val="bg1"/>
                </a:solidFill>
                <a:latin typeface="Calibri" pitchFamily="34" charset="0"/>
                <a:ea typeface="Calibri" pitchFamily="34" charset="-122"/>
                <a:cs typeface="Calibri" pitchFamily="34" charset="-120"/>
              </a:rPr>
              <a:t>Data collection substantially complete across all six countries.</a:t>
            </a:r>
            <a:endParaRPr lang="en-US" sz="1300" dirty="0">
              <a:solidFill>
                <a:schemeClr val="bg1"/>
              </a:solidFill>
            </a:endParaRPr>
          </a:p>
          <a:p>
            <a:pPr marL="0" indent="0">
              <a:buNone/>
            </a:pPr>
            <a:r>
              <a:rPr lang="en-US" sz="1300" dirty="0">
                <a:solidFill>
                  <a:schemeClr val="bg1"/>
                </a:solidFill>
                <a:latin typeface="Calibri" pitchFamily="34" charset="0"/>
                <a:ea typeface="Calibri" pitchFamily="34" charset="-122"/>
                <a:cs typeface="Calibri" pitchFamily="34" charset="-120"/>
              </a:rPr>
              <a:t>BAU scenario results available. </a:t>
            </a:r>
          </a:p>
          <a:p>
            <a:pPr marL="0" indent="0">
              <a:buNone/>
            </a:pPr>
            <a:r>
              <a:rPr lang="en-US" sz="1300" dirty="0">
                <a:solidFill>
                  <a:schemeClr val="bg1"/>
                </a:solidFill>
                <a:latin typeface="Calibri" pitchFamily="34" charset="0"/>
                <a:ea typeface="Calibri" pitchFamily="34" charset="-122"/>
                <a:cs typeface="Calibri" pitchFamily="34" charset="-120"/>
              </a:rPr>
              <a:t>Data package needs to update BAU results.</a:t>
            </a:r>
          </a:p>
          <a:p>
            <a:pPr marL="0" indent="0">
              <a:buNone/>
            </a:pPr>
            <a:r>
              <a:rPr lang="en-US" sz="1300" dirty="0">
                <a:solidFill>
                  <a:schemeClr val="bg1"/>
                </a:solidFill>
                <a:latin typeface="Calibri" pitchFamily="34" charset="0"/>
                <a:ea typeface="Calibri" pitchFamily="34" charset="-122"/>
                <a:cs typeface="Calibri" pitchFamily="34" charset="-120"/>
              </a:rPr>
              <a:t>Model ready for Optimize VRE and VRE Target runs.</a:t>
            </a:r>
            <a:endParaRPr lang="en-US" sz="1300" dirty="0">
              <a:solidFill>
                <a:schemeClr val="bg1"/>
              </a:solidFill>
            </a:endParaRPr>
          </a:p>
        </p:txBody>
      </p:sp>
    </p:spTree>
    <p:extLst>
      <p:ext uri="{BB962C8B-B14F-4D97-AF65-F5344CB8AC3E}">
        <p14:creationId xmlns:p14="http://schemas.microsoft.com/office/powerpoint/2010/main" val="106171108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ee5d6ee9-6b90-4973-875c-30ee5d95ff57">
      <Terms xmlns="http://schemas.microsoft.com/office/infopath/2007/PartnerControls"/>
    </lcf76f155ced4ddcb4097134ff3c332f>
    <TaxCatchAll xmlns="a2e62541-ed63-42e0-be49-5b4b52f4e389"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o" ma:contentTypeID="0x0101002FB8EB67883F9C4AA4534F5269849BBD" ma:contentTypeVersion="10" ma:contentTypeDescription="Crear nuevo documento." ma:contentTypeScope="" ma:versionID="2546235542583e8b2ff2cc2f7947903c">
  <xsd:schema xmlns:xsd="http://www.w3.org/2001/XMLSchema" xmlns:xs="http://www.w3.org/2001/XMLSchema" xmlns:p="http://schemas.microsoft.com/office/2006/metadata/properties" xmlns:ns2="ee5d6ee9-6b90-4973-875c-30ee5d95ff57" xmlns:ns3="a2e62541-ed63-42e0-be49-5b4b52f4e389" targetNamespace="http://schemas.microsoft.com/office/2006/metadata/properties" ma:root="true" ma:fieldsID="9a1af3dc47ff3566ad41f62fd65c9ee6" ns2:_="" ns3:_="">
    <xsd:import namespace="ee5d6ee9-6b90-4973-875c-30ee5d95ff57"/>
    <xsd:import namespace="a2e62541-ed63-42e0-be49-5b4b52f4e389"/>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e5d6ee9-6b90-4973-875c-30ee5d95ff5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Etiquetas de imagen" ma:readOnly="false" ma:fieldId="{5cf76f15-5ced-4ddc-b409-7134ff3c332f}" ma:taxonomyMulti="true" ma:sspId="71f7bd95-1200-4052-9a4e-dfdf006e181b"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a2e62541-ed63-42e0-be49-5b4b52f4e389"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5abaf6c7-7496-4516-911a-634272e88661}" ma:internalName="TaxCatchAll" ma:showField="CatchAllData" ma:web="a2e62541-ed63-42e0-be49-5b4b52f4e38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A1A40408-29B1-4522-80B9-B383C173AAC7}">
  <ds:schemaRefs>
    <ds:schemaRef ds:uri="http://schemas.microsoft.com/office/2006/metadata/properties"/>
    <ds:schemaRef ds:uri="http://schemas.microsoft.com/office/infopath/2007/PartnerControls"/>
    <ds:schemaRef ds:uri="ee5d6ee9-6b90-4973-875c-30ee5d95ff57"/>
    <ds:schemaRef ds:uri="a2e62541-ed63-42e0-be49-5b4b52f4e389"/>
  </ds:schemaRefs>
</ds:datastoreItem>
</file>

<file path=customXml/itemProps2.xml><?xml version="1.0" encoding="utf-8"?>
<ds:datastoreItem xmlns:ds="http://schemas.openxmlformats.org/officeDocument/2006/customXml" ds:itemID="{9E00A085-036F-4E76-A2D0-CA1A9372B82E}">
  <ds:schemaRefs>
    <ds:schemaRef ds:uri="http://schemas.microsoft.com/sharepoint/v3/contenttype/forms"/>
  </ds:schemaRefs>
</ds:datastoreItem>
</file>

<file path=customXml/itemProps3.xml><?xml version="1.0" encoding="utf-8"?>
<ds:datastoreItem xmlns:ds="http://schemas.openxmlformats.org/officeDocument/2006/customXml" ds:itemID="{45E18F26-6AB8-4C71-A268-28ADB360080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e5d6ee9-6b90-4973-875c-30ee5d95ff57"/>
    <ds:schemaRef ds:uri="a2e62541-ed63-42e0-be49-5b4b52f4e38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26</TotalTime>
  <Words>3451</Words>
  <Application>Microsoft Office PowerPoint</Application>
  <PresentationFormat>Presentación en pantalla (16:9)</PresentationFormat>
  <Paragraphs>616</Paragraphs>
  <Slides>31</Slides>
  <Notes>30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31</vt:i4>
      </vt:variant>
    </vt:vector>
  </HeadingPairs>
  <TitlesOfParts>
    <vt:vector size="35" baseType="lpstr">
      <vt:lpstr>Arial</vt:lpstr>
      <vt:lpstr>Calibri</vt:lpstr>
      <vt:lpstr>Georgia</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OSTRAM Data Package v1.0</dc:title>
  <dc:subject>PptxGenJS Presentation</dc:subject>
  <cp:lastModifiedBy>Natalia Victor-Gallardo</cp:lastModifiedBy>
  <cp:revision>22</cp:revision>
  <dcterms:created xsi:type="dcterms:W3CDTF">2026-03-12T21:47:39Z</dcterms:created>
  <dcterms:modified xsi:type="dcterms:W3CDTF">2026-03-12T23:49:04Z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0x0101002FB8EB67883F9C4AA4534F5269849BBD</vt:lpwstr>
  </property>
  <property fmtid="{D5CDD505-2E9C-101B-9397-08002B2CF9AE}" pid="3" name="MediaServiceImageTags">
    <vt:lpwstr/>
  </property>
</Properties>
</file>